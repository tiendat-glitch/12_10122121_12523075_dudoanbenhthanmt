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73" r:id="rId6"/>
    <p:sldId id="260" r:id="rId7"/>
    <p:sldId id="261" r:id="rId8"/>
    <p:sldId id="262" r:id="rId9"/>
    <p:sldId id="263" r:id="rId10"/>
    <p:sldId id="264" r:id="rId11"/>
    <p:sldId id="265" r:id="rId12"/>
    <p:sldId id="275" r:id="rId13"/>
    <p:sldId id="266" r:id="rId14"/>
    <p:sldId id="267" r:id="rId15"/>
    <p:sldId id="268" r:id="rId16"/>
    <p:sldId id="269" r:id="rId17"/>
    <p:sldId id="270" r:id="rId18"/>
    <p:sldId id="271" r:id="rId19"/>
    <p:sldId id="272" r:id="rId20"/>
    <p:sldId id="274"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D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5" autoAdjust="0"/>
    <p:restoredTop sz="94610"/>
  </p:normalViewPr>
  <p:slideViewPr>
    <p:cSldViewPr snapToGrid="0" snapToObjects="1">
      <p:cViewPr>
        <p:scale>
          <a:sx n="75" d="100"/>
          <a:sy n="75" d="100"/>
        </p:scale>
        <p:origin x="25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3932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221509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777035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LIGHT">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2457D6"/>
          </a:solidFill>
          <a:ln w="12700">
            <a:solidFill>
              <a:srgbClr val="2457D6"/>
            </a:solidFill>
            <a:prstDash val="solid"/>
          </a:ln>
        </p:spPr>
      </p:sp>
      <p:sp>
        <p:nvSpPr>
          <p:cNvPr id="3" name="Text 1"/>
          <p:cNvSpPr/>
          <p:nvPr/>
        </p:nvSpPr>
        <p:spPr>
          <a:xfrm>
            <a:off x="621792" y="256032"/>
            <a:ext cx="7772400" cy="219456"/>
          </a:xfrm>
          <a:prstGeom prst="rect">
            <a:avLst/>
          </a:prstGeom>
          <a:noFill/>
          <a:ln/>
        </p:spPr>
        <p:txBody>
          <a:bodyPr wrap="square" lIns="0" tIns="0" rIns="0" bIns="0" rtlCol="0" anchor="ctr"/>
          <a:lstStyle/>
          <a:p>
            <a:pPr marL="0" indent="0">
              <a:buNone/>
            </a:pPr>
            <a:r>
              <a:rPr lang="en-US" sz="870" b="1" dirty="0">
                <a:solidFill>
                  <a:srgbClr val="3B82F6"/>
                </a:solidFill>
                <a:latin typeface="Aptos" pitchFamily="34" charset="0"/>
                <a:ea typeface="Aptos" pitchFamily="34" charset="-122"/>
                <a:cs typeface="Aptos" pitchFamily="34" charset="-120"/>
              </a:rPr>
              <a:t>HỌC MÁY CƠ BẢN • DỰ ĐOÁN BỆNH THẬN MẠN TÍNH</a:t>
            </a:r>
            <a:endParaRPr lang="en-US" sz="870" dirty="0"/>
          </a:p>
        </p:txBody>
      </p:sp>
      <p:sp>
        <p:nvSpPr>
          <p:cNvPr id="4" name="Text 2"/>
          <p:cNvSpPr/>
          <p:nvPr/>
        </p:nvSpPr>
        <p:spPr>
          <a:xfrm>
            <a:off x="9921240" y="256032"/>
            <a:ext cx="1645920" cy="219456"/>
          </a:xfrm>
          <a:prstGeom prst="rect">
            <a:avLst/>
          </a:prstGeom>
          <a:noFill/>
          <a:ln/>
        </p:spPr>
        <p:txBody>
          <a:bodyPr wrap="square" lIns="0" tIns="0" rIns="0" bIns="0" rtlCol="0" anchor="ctr"/>
          <a:lstStyle/>
          <a:p>
            <a:pPr marL="0" indent="0" algn="r">
              <a:buNone/>
            </a:pPr>
            <a:r>
              <a:rPr lang="en-US" sz="850" b="1" dirty="0">
                <a:solidFill>
                  <a:srgbClr val="7C8DA6"/>
                </a:solidFill>
                <a:latin typeface="Aptos" pitchFamily="34" charset="0"/>
                <a:ea typeface="Aptos" pitchFamily="34" charset="-122"/>
                <a:cs typeface="Aptos" pitchFamily="34" charset="-120"/>
              </a:rPr>
              <a:t>HƯNG YÊN • 2026</a:t>
            </a:r>
            <a:endParaRPr lang="en-US" sz="850" dirty="0"/>
          </a:p>
        </p:txBody>
      </p:sp>
      <p:sp>
        <p:nvSpPr>
          <p:cNvPr id="5" name="Shape 3"/>
          <p:cNvSpPr/>
          <p:nvPr/>
        </p:nvSpPr>
        <p:spPr>
          <a:xfrm>
            <a:off x="621792" y="6519672"/>
            <a:ext cx="10954512" cy="0"/>
          </a:xfrm>
          <a:prstGeom prst="line">
            <a:avLst/>
          </a:prstGeom>
          <a:noFill/>
          <a:ln w="10160">
            <a:solidFill>
              <a:srgbClr val="D8E2EE"/>
            </a:solidFill>
            <a:prstDash val="solid"/>
          </a:ln>
        </p:spPr>
      </p:sp>
      <p:sp>
        <p:nvSpPr>
          <p:cNvPr id="25"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97052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7FD"/>
        </a:solidFill>
        <a:effectLst/>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73B6C"/>
          </a:solidFill>
          <a:ln w="12700">
            <a:solidFill>
              <a:srgbClr val="173B6C"/>
            </a:solidFill>
            <a:prstDash val="solid"/>
          </a:ln>
        </p:spPr>
      </p:sp>
      <p:sp>
        <p:nvSpPr>
          <p:cNvPr id="3" name="Shape 1"/>
          <p:cNvSpPr/>
          <p:nvPr/>
        </p:nvSpPr>
        <p:spPr>
          <a:xfrm>
            <a:off x="2880360" y="-182880"/>
            <a:ext cx="4572000" cy="4572000"/>
          </a:xfrm>
          <a:prstGeom prst="arc">
            <a:avLst/>
          </a:prstGeom>
          <a:solidFill>
            <a:srgbClr val="DDEBFF">
              <a:alpha val="80000"/>
            </a:srgbClr>
          </a:solidFill>
          <a:ln w="12700">
            <a:solidFill>
              <a:srgbClr val="DDEBFF">
                <a:alpha val="0"/>
              </a:srgbClr>
            </a:solidFill>
            <a:prstDash val="solid"/>
          </a:ln>
        </p:spPr>
      </p:sp>
      <p:sp>
        <p:nvSpPr>
          <p:cNvPr id="4" name="Shape 2"/>
          <p:cNvSpPr/>
          <p:nvPr/>
        </p:nvSpPr>
        <p:spPr>
          <a:xfrm>
            <a:off x="8595360" y="4480560"/>
            <a:ext cx="4114800" cy="4114800"/>
          </a:xfrm>
          <a:prstGeom prst="arc">
            <a:avLst/>
          </a:prstGeom>
          <a:solidFill>
            <a:srgbClr val="DDF6F2">
              <a:alpha val="85000"/>
            </a:srgbClr>
          </a:solidFill>
          <a:ln w="12700">
            <a:solidFill>
              <a:srgbClr val="DDF6F2">
                <a:alpha val="0"/>
              </a:srgbClr>
            </a:solidFill>
            <a:prstDash val="solid"/>
          </a:ln>
        </p:spPr>
      </p:sp>
      <p:pic>
        <p:nvPicPr>
          <p:cNvPr id="5" name="Image 0" descr="/mnt/data/hust_logo.png"/>
          <p:cNvPicPr>
            <a:picLocks noChangeAspect="1"/>
          </p:cNvPicPr>
          <p:nvPr/>
        </p:nvPicPr>
        <p:blipFill>
          <a:blip r:embed="rId3"/>
          <a:stretch>
            <a:fillRect/>
          </a:stretch>
        </p:blipFill>
        <p:spPr>
          <a:xfrm>
            <a:off x="1412748" y="554046"/>
            <a:ext cx="960120" cy="940164"/>
          </a:xfrm>
          <a:prstGeom prst="rect">
            <a:avLst/>
          </a:prstGeom>
        </p:spPr>
      </p:pic>
      <p:sp>
        <p:nvSpPr>
          <p:cNvPr id="6" name="Text 3"/>
          <p:cNvSpPr/>
          <p:nvPr/>
        </p:nvSpPr>
        <p:spPr>
          <a:xfrm>
            <a:off x="658368" y="1627632"/>
            <a:ext cx="2468880" cy="493776"/>
          </a:xfrm>
          <a:prstGeom prst="rect">
            <a:avLst/>
          </a:prstGeom>
          <a:noFill/>
          <a:ln/>
        </p:spPr>
        <p:txBody>
          <a:bodyPr wrap="square" lIns="0" tIns="0" rIns="0" bIns="0" rtlCol="0" anchor="t">
            <a:noAutofit/>
          </a:bodyPr>
          <a:lstStyle/>
          <a:p>
            <a:pPr marL="0" indent="0" algn="ctr">
              <a:buNone/>
            </a:pPr>
            <a:r>
              <a:rPr lang="en-US" sz="1600" b="1" dirty="0">
                <a:solidFill>
                  <a:srgbClr val="FFFFFF"/>
                </a:solidFill>
                <a:latin typeface="Times New Roman" panose="02020603050405020304" pitchFamily="18" charset="0"/>
                <a:ea typeface="Aptos" pitchFamily="34" charset="-122"/>
                <a:cs typeface="Times New Roman" panose="02020603050405020304" pitchFamily="18" charset="0"/>
              </a:rPr>
              <a:t>TRƯỜNG ĐẠI HỌC CÔNG NGHỆ KỸ THUẬT HƯNG YÊN</a:t>
            </a:r>
            <a:endParaRPr lang="en-US" sz="1600" dirty="0">
              <a:latin typeface="Times New Roman" panose="02020603050405020304" pitchFamily="18" charset="0"/>
              <a:cs typeface="Times New Roman" panose="02020603050405020304" pitchFamily="18" charset="0"/>
            </a:endParaRPr>
          </a:p>
        </p:txBody>
      </p:sp>
      <p:sp>
        <p:nvSpPr>
          <p:cNvPr id="7" name="Text 4"/>
          <p:cNvSpPr/>
          <p:nvPr/>
        </p:nvSpPr>
        <p:spPr>
          <a:xfrm>
            <a:off x="658368" y="3389376"/>
            <a:ext cx="2468880" cy="658368"/>
          </a:xfrm>
          <a:prstGeom prst="rect">
            <a:avLst/>
          </a:prstGeom>
          <a:noFill/>
          <a:ln/>
        </p:spPr>
        <p:txBody>
          <a:bodyPr wrap="square" lIns="0" tIns="0" rIns="0" bIns="0" rtlCol="0" anchor="t">
            <a:normAutofit/>
          </a:bodyPr>
          <a:lstStyle/>
          <a:p>
            <a:pPr marL="0" indent="0" algn="ctr">
              <a:buNone/>
            </a:pPr>
            <a:r>
              <a:rPr lang="en-US" sz="1600" b="1" dirty="0">
                <a:solidFill>
                  <a:srgbClr val="BFD8FF"/>
                </a:solidFill>
                <a:latin typeface="Times New Roman" panose="02020603050405020304" pitchFamily="18" charset="0"/>
                <a:ea typeface="Aptos" pitchFamily="34" charset="-122"/>
                <a:cs typeface="Times New Roman" panose="02020603050405020304" pitchFamily="18" charset="0"/>
              </a:rPr>
              <a:t>BÀI TẬP LỚN</a:t>
            </a:r>
            <a:endParaRPr lang="en-US" sz="1600" dirty="0">
              <a:latin typeface="Times New Roman" panose="02020603050405020304" pitchFamily="18" charset="0"/>
              <a:cs typeface="Times New Roman" panose="02020603050405020304" pitchFamily="18" charset="0"/>
            </a:endParaRPr>
          </a:p>
          <a:p>
            <a:pPr marL="0" indent="0" algn="ctr">
              <a:buNone/>
            </a:pPr>
            <a:r>
              <a:rPr lang="en-US" sz="1600" b="1" dirty="0">
                <a:solidFill>
                  <a:srgbClr val="BFD8FF"/>
                </a:solidFill>
                <a:latin typeface="Times New Roman" panose="02020603050405020304" pitchFamily="18" charset="0"/>
                <a:ea typeface="Aptos" pitchFamily="34" charset="-122"/>
                <a:cs typeface="Times New Roman" panose="02020603050405020304" pitchFamily="18" charset="0"/>
              </a:rPr>
              <a:t>HỌC MÁY CƠ BẢN</a:t>
            </a:r>
            <a:endParaRPr lang="en-US" sz="1600" dirty="0">
              <a:latin typeface="Times New Roman" panose="02020603050405020304" pitchFamily="18" charset="0"/>
              <a:cs typeface="Times New Roman" panose="02020603050405020304" pitchFamily="18" charset="0"/>
            </a:endParaRPr>
          </a:p>
        </p:txBody>
      </p:sp>
      <p:sp>
        <p:nvSpPr>
          <p:cNvPr id="8" name="Shape 5"/>
          <p:cNvSpPr/>
          <p:nvPr/>
        </p:nvSpPr>
        <p:spPr>
          <a:xfrm>
            <a:off x="5120640" y="734568"/>
            <a:ext cx="2331720" cy="310896"/>
          </a:xfrm>
          <a:prstGeom prst="roundRect">
            <a:avLst/>
          </a:prstGeom>
          <a:solidFill>
            <a:srgbClr val="EDF4FF"/>
          </a:solidFill>
          <a:ln w="12700">
            <a:solidFill>
              <a:srgbClr val="EDF4FF"/>
            </a:solidFill>
            <a:prstDash val="solid"/>
          </a:ln>
        </p:spPr>
      </p:sp>
      <p:sp>
        <p:nvSpPr>
          <p:cNvPr id="9" name="Text 6"/>
          <p:cNvSpPr/>
          <p:nvPr/>
        </p:nvSpPr>
        <p:spPr>
          <a:xfrm>
            <a:off x="5160264" y="801116"/>
            <a:ext cx="2331720" cy="246888"/>
          </a:xfrm>
          <a:prstGeom prst="rect">
            <a:avLst/>
          </a:prstGeom>
          <a:noFill/>
          <a:ln/>
        </p:spPr>
        <p:txBody>
          <a:bodyPr wrap="square" lIns="0" tIns="0" rIns="0" bIns="0" rtlCol="0" anchor="ctr">
            <a:normAutofit/>
          </a:bodyPr>
          <a:lstStyle/>
          <a:p>
            <a:pPr marL="0" indent="0" algn="ctr">
              <a:buNone/>
            </a:pPr>
            <a:r>
              <a:rPr lang="en-US" sz="1200" b="1" dirty="0">
                <a:latin typeface="Times New Roman" panose="02020603050405020304" pitchFamily="18" charset="0"/>
                <a:ea typeface="Aptos" pitchFamily="34" charset="-122"/>
                <a:cs typeface="Times New Roman" panose="02020603050405020304" pitchFamily="18" charset="0"/>
              </a:rPr>
              <a:t>CHRONIC KIDNEY DISEASE</a:t>
            </a:r>
            <a:endParaRPr lang="en-US" sz="1200" dirty="0">
              <a:latin typeface="Times New Roman" panose="02020603050405020304" pitchFamily="18" charset="0"/>
              <a:cs typeface="Times New Roman" panose="02020603050405020304" pitchFamily="18" charset="0"/>
            </a:endParaRPr>
          </a:p>
        </p:txBody>
      </p:sp>
      <p:sp>
        <p:nvSpPr>
          <p:cNvPr id="10" name="Text 7"/>
          <p:cNvSpPr/>
          <p:nvPr/>
        </p:nvSpPr>
        <p:spPr>
          <a:xfrm>
            <a:off x="4343400" y="1325880"/>
            <a:ext cx="6903720" cy="1143000"/>
          </a:xfrm>
          <a:prstGeom prst="rect">
            <a:avLst/>
          </a:prstGeom>
          <a:noFill/>
          <a:ln/>
        </p:spPr>
        <p:txBody>
          <a:bodyPr wrap="square" lIns="0" tIns="0" rIns="0" bIns="0" rtlCol="0" anchor="t">
            <a:normAutofit/>
          </a:bodyPr>
          <a:lstStyle/>
          <a:p>
            <a:pPr marL="0" indent="0" algn="ctr">
              <a:buNone/>
            </a:pPr>
            <a:r>
              <a:rPr lang="en-US" sz="3400" b="1" dirty="0">
                <a:solidFill>
                  <a:srgbClr val="102A43"/>
                </a:solidFill>
                <a:latin typeface="Times New Roman" panose="02020603050405020304" pitchFamily="18" charset="0"/>
                <a:ea typeface="Aptos" pitchFamily="34" charset="-122"/>
                <a:cs typeface="Times New Roman" panose="02020603050405020304" pitchFamily="18" charset="0"/>
              </a:rPr>
              <a:t>DỰ ĐOÁN</a:t>
            </a:r>
            <a:endParaRPr lang="en-US" sz="3400" dirty="0">
              <a:latin typeface="Times New Roman" panose="02020603050405020304" pitchFamily="18" charset="0"/>
              <a:cs typeface="Times New Roman" panose="02020603050405020304" pitchFamily="18" charset="0"/>
            </a:endParaRPr>
          </a:p>
          <a:p>
            <a:pPr marL="0" indent="0" algn="ctr">
              <a:buNone/>
            </a:pPr>
            <a:r>
              <a:rPr lang="en-US" sz="3400" b="1" dirty="0" smtClean="0">
                <a:solidFill>
                  <a:srgbClr val="102A43"/>
                </a:solidFill>
                <a:latin typeface="Times New Roman" panose="02020603050405020304" pitchFamily="18" charset="0"/>
                <a:ea typeface="Aptos" pitchFamily="34" charset="-122"/>
                <a:cs typeface="Times New Roman" panose="02020603050405020304" pitchFamily="18" charset="0"/>
              </a:rPr>
              <a:t>BỆNH </a:t>
            </a:r>
            <a:r>
              <a:rPr lang="en-US" sz="3400" b="1" dirty="0">
                <a:solidFill>
                  <a:srgbClr val="102A43"/>
                </a:solidFill>
                <a:latin typeface="Times New Roman" panose="02020603050405020304" pitchFamily="18" charset="0"/>
                <a:ea typeface="Aptos" pitchFamily="34" charset="-122"/>
                <a:cs typeface="Times New Roman" panose="02020603050405020304" pitchFamily="18" charset="0"/>
              </a:rPr>
              <a:t>THẬN MẠN TÍNH</a:t>
            </a:r>
            <a:endParaRPr lang="en-US" sz="3400" dirty="0">
              <a:latin typeface="Times New Roman" panose="02020603050405020304" pitchFamily="18" charset="0"/>
              <a:cs typeface="Times New Roman" panose="02020603050405020304" pitchFamily="18" charset="0"/>
            </a:endParaRPr>
          </a:p>
        </p:txBody>
      </p:sp>
      <p:sp>
        <p:nvSpPr>
          <p:cNvPr id="11" name="Text 8"/>
          <p:cNvSpPr/>
          <p:nvPr/>
        </p:nvSpPr>
        <p:spPr>
          <a:xfrm>
            <a:off x="4370832" y="2670048"/>
            <a:ext cx="6812280" cy="384048"/>
          </a:xfrm>
          <a:prstGeom prst="rect">
            <a:avLst/>
          </a:prstGeom>
          <a:noFill/>
          <a:ln/>
        </p:spPr>
        <p:txBody>
          <a:bodyPr wrap="square" lIns="0" tIns="0" rIns="0" bIns="0" rtlCol="0" anchor="t">
            <a:normAutofit/>
          </a:bodyPr>
          <a:lstStyle/>
          <a:p>
            <a:pPr marL="0" indent="0" algn="l">
              <a:buNone/>
            </a:pPr>
            <a:r>
              <a:rPr lang="en-US" sz="1400" dirty="0">
                <a:solidFill>
                  <a:srgbClr val="63758A"/>
                </a:solidFill>
                <a:latin typeface="Times New Roman" panose="02020603050405020304" pitchFamily="18" charset="0"/>
                <a:ea typeface="Aptos" pitchFamily="34" charset="-122"/>
                <a:cs typeface="Times New Roman" panose="02020603050405020304" pitchFamily="18" charset="0"/>
              </a:rPr>
              <a:t>Xây dựng mô hình phân loại CKD • Đóng gói model • Web App • Docker Compose</a:t>
            </a:r>
            <a:endParaRPr lang="en-US" sz="1400" dirty="0">
              <a:latin typeface="Times New Roman" panose="02020603050405020304" pitchFamily="18" charset="0"/>
              <a:cs typeface="Times New Roman" panose="02020603050405020304" pitchFamily="18" charset="0"/>
            </a:endParaRPr>
          </a:p>
        </p:txBody>
      </p:sp>
      <p:sp>
        <p:nvSpPr>
          <p:cNvPr id="12" name="Shape 9"/>
          <p:cNvSpPr/>
          <p:nvPr/>
        </p:nvSpPr>
        <p:spPr>
          <a:xfrm>
            <a:off x="4503420" y="3345688"/>
            <a:ext cx="6903720" cy="1920240"/>
          </a:xfrm>
          <a:prstGeom prst="roundRect">
            <a:avLst>
              <a:gd name="adj" fmla="val 6667"/>
            </a:avLst>
          </a:prstGeom>
          <a:solidFill>
            <a:srgbClr val="FFFFFF"/>
          </a:solidFill>
          <a:ln w="10160">
            <a:solidFill>
              <a:srgbClr val="D9E3EE"/>
            </a:solidFill>
            <a:prstDash val="solid"/>
          </a:ln>
          <a:effectLst>
            <a:outerShdw blurRad="19050" dist="6350" dir="2700000" algn="bl" rotWithShape="0">
              <a:srgbClr val="000000">
                <a:alpha val="12000"/>
              </a:srgbClr>
            </a:outerShdw>
          </a:effectLst>
        </p:spPr>
      </p:sp>
      <p:sp>
        <p:nvSpPr>
          <p:cNvPr id="13" name="Text 10"/>
          <p:cNvSpPr/>
          <p:nvPr/>
        </p:nvSpPr>
        <p:spPr>
          <a:xfrm>
            <a:off x="4663440" y="3639312"/>
            <a:ext cx="3108960" cy="256032"/>
          </a:xfrm>
          <a:prstGeom prst="rect">
            <a:avLst/>
          </a:prstGeom>
          <a:noFill/>
          <a:ln/>
        </p:spPr>
        <p:txBody>
          <a:bodyPr wrap="square" lIns="0" tIns="0" rIns="0" bIns="0" rtlCol="0" anchor="t">
            <a:normAutofit/>
          </a:bodyPr>
          <a:lstStyle/>
          <a:p>
            <a:pPr marL="0" indent="0" algn="l">
              <a:buNone/>
            </a:pPr>
            <a:r>
              <a:rPr lang="en-US" sz="1000" b="1" dirty="0">
                <a:solidFill>
                  <a:srgbClr val="2457D6"/>
                </a:solidFill>
                <a:latin typeface="Times New Roman" panose="02020603050405020304" pitchFamily="18" charset="0"/>
                <a:ea typeface="Aptos" pitchFamily="34" charset="-122"/>
                <a:cs typeface="Times New Roman" panose="02020603050405020304" pitchFamily="18" charset="0"/>
              </a:rPr>
              <a:t>THÔNG TIN NHÓM THỰC HIỆN</a:t>
            </a:r>
            <a:endParaRPr lang="en-US" sz="1000" dirty="0">
              <a:latin typeface="Times New Roman" panose="02020603050405020304" pitchFamily="18" charset="0"/>
              <a:cs typeface="Times New Roman" panose="02020603050405020304" pitchFamily="18" charset="0"/>
            </a:endParaRPr>
          </a:p>
        </p:txBody>
      </p:sp>
      <p:sp>
        <p:nvSpPr>
          <p:cNvPr id="14" name="Text 11"/>
          <p:cNvSpPr/>
          <p:nvPr/>
        </p:nvSpPr>
        <p:spPr>
          <a:xfrm>
            <a:off x="4663440" y="4069080"/>
            <a:ext cx="1828800" cy="274320"/>
          </a:xfrm>
          <a:prstGeom prst="rect">
            <a:avLst/>
          </a:prstGeom>
          <a:noFill/>
          <a:ln/>
        </p:spPr>
        <p:txBody>
          <a:bodyPr wrap="square" lIns="0" tIns="0" rIns="0" bIns="0" rtlCol="0" anchor="t">
            <a:normAutofit/>
          </a:bodyPr>
          <a:lstStyle/>
          <a:p>
            <a:pPr marL="0" indent="0" algn="l">
              <a:buNone/>
            </a:pPr>
            <a:r>
              <a:rPr lang="en-US" sz="1400" b="1" dirty="0">
                <a:solidFill>
                  <a:srgbClr val="102A43"/>
                </a:solidFill>
                <a:latin typeface="Times New Roman" panose="02020603050405020304" pitchFamily="18" charset="0"/>
                <a:ea typeface="Aptos" pitchFamily="34" charset="-122"/>
                <a:cs typeface="Times New Roman" panose="02020603050405020304" pitchFamily="18" charset="0"/>
              </a:rPr>
              <a:t>Vũ Tiến Đạt</a:t>
            </a:r>
            <a:endParaRPr lang="en-US" sz="1400" dirty="0">
              <a:latin typeface="Times New Roman" panose="02020603050405020304" pitchFamily="18" charset="0"/>
              <a:cs typeface="Times New Roman" panose="02020603050405020304" pitchFamily="18" charset="0"/>
            </a:endParaRPr>
          </a:p>
        </p:txBody>
      </p:sp>
      <p:sp>
        <p:nvSpPr>
          <p:cNvPr id="15" name="Text 12"/>
          <p:cNvSpPr/>
          <p:nvPr/>
        </p:nvSpPr>
        <p:spPr>
          <a:xfrm>
            <a:off x="6565392" y="4078224"/>
            <a:ext cx="1005840" cy="256032"/>
          </a:xfrm>
          <a:prstGeom prst="rect">
            <a:avLst/>
          </a:prstGeom>
          <a:noFill/>
          <a:ln/>
        </p:spPr>
        <p:txBody>
          <a:bodyPr wrap="square" lIns="0" tIns="0" rIns="0" bIns="0" rtlCol="0" anchor="t">
            <a:normAutofit/>
          </a:bodyPr>
          <a:lstStyle/>
          <a:p>
            <a:pPr marL="0" indent="0" algn="l">
              <a:buNone/>
            </a:pPr>
            <a:r>
              <a:rPr lang="en-US" sz="1100" b="1" dirty="0">
                <a:solidFill>
                  <a:srgbClr val="63758A"/>
                </a:solidFill>
                <a:latin typeface="Times New Roman" panose="02020603050405020304" pitchFamily="18" charset="0"/>
                <a:ea typeface="Aptos" pitchFamily="34" charset="-122"/>
                <a:cs typeface="Times New Roman" panose="02020603050405020304" pitchFamily="18" charset="0"/>
              </a:rPr>
              <a:t>10122121</a:t>
            </a:r>
            <a:endParaRPr lang="en-US" sz="1100" dirty="0">
              <a:latin typeface="Times New Roman" panose="02020603050405020304" pitchFamily="18" charset="0"/>
              <a:cs typeface="Times New Roman" panose="02020603050405020304" pitchFamily="18" charset="0"/>
            </a:endParaRPr>
          </a:p>
        </p:txBody>
      </p:sp>
      <p:sp>
        <p:nvSpPr>
          <p:cNvPr id="16" name="Text 13"/>
          <p:cNvSpPr/>
          <p:nvPr/>
        </p:nvSpPr>
        <p:spPr>
          <a:xfrm>
            <a:off x="4663440" y="4498848"/>
            <a:ext cx="1828800" cy="274320"/>
          </a:xfrm>
          <a:prstGeom prst="rect">
            <a:avLst/>
          </a:prstGeom>
          <a:noFill/>
          <a:ln/>
        </p:spPr>
        <p:txBody>
          <a:bodyPr wrap="square" lIns="0" tIns="0" rIns="0" bIns="0" rtlCol="0" anchor="t">
            <a:normAutofit/>
          </a:bodyPr>
          <a:lstStyle/>
          <a:p>
            <a:pPr marL="0" indent="0" algn="l">
              <a:buNone/>
            </a:pPr>
            <a:r>
              <a:rPr lang="en-US" sz="1400" b="1" dirty="0">
                <a:solidFill>
                  <a:srgbClr val="102A43"/>
                </a:solidFill>
                <a:latin typeface="Times New Roman" panose="02020603050405020304" pitchFamily="18" charset="0"/>
                <a:ea typeface="Aptos" pitchFamily="34" charset="-122"/>
                <a:cs typeface="Times New Roman" panose="02020603050405020304" pitchFamily="18" charset="0"/>
              </a:rPr>
              <a:t>Nguyễn Hồng Sơn</a:t>
            </a:r>
            <a:endParaRPr lang="en-US" sz="1400" dirty="0">
              <a:latin typeface="Times New Roman" panose="02020603050405020304" pitchFamily="18" charset="0"/>
              <a:cs typeface="Times New Roman" panose="02020603050405020304" pitchFamily="18" charset="0"/>
            </a:endParaRPr>
          </a:p>
        </p:txBody>
      </p:sp>
      <p:sp>
        <p:nvSpPr>
          <p:cNvPr id="17" name="Text 14"/>
          <p:cNvSpPr/>
          <p:nvPr/>
        </p:nvSpPr>
        <p:spPr>
          <a:xfrm>
            <a:off x="6565392" y="4507992"/>
            <a:ext cx="1005840" cy="256032"/>
          </a:xfrm>
          <a:prstGeom prst="rect">
            <a:avLst/>
          </a:prstGeom>
          <a:noFill/>
          <a:ln/>
        </p:spPr>
        <p:txBody>
          <a:bodyPr wrap="square" lIns="0" tIns="0" rIns="0" bIns="0" rtlCol="0" anchor="t">
            <a:normAutofit/>
          </a:bodyPr>
          <a:lstStyle/>
          <a:p>
            <a:pPr marL="0" indent="0" algn="l">
              <a:buNone/>
            </a:pPr>
            <a:r>
              <a:rPr lang="en-US" sz="1100" b="1" dirty="0">
                <a:solidFill>
                  <a:srgbClr val="63758A"/>
                </a:solidFill>
                <a:latin typeface="Times New Roman" panose="02020603050405020304" pitchFamily="18" charset="0"/>
                <a:ea typeface="Aptos" pitchFamily="34" charset="-122"/>
                <a:cs typeface="Times New Roman" panose="02020603050405020304" pitchFamily="18" charset="0"/>
              </a:rPr>
              <a:t>12523075</a:t>
            </a:r>
            <a:endParaRPr lang="en-US" sz="1100" dirty="0">
              <a:latin typeface="Times New Roman" panose="02020603050405020304" pitchFamily="18" charset="0"/>
              <a:cs typeface="Times New Roman" panose="02020603050405020304" pitchFamily="18" charset="0"/>
            </a:endParaRPr>
          </a:p>
        </p:txBody>
      </p:sp>
      <p:sp>
        <p:nvSpPr>
          <p:cNvPr id="18" name="Text 15"/>
          <p:cNvSpPr/>
          <p:nvPr/>
        </p:nvSpPr>
        <p:spPr>
          <a:xfrm>
            <a:off x="8092440" y="4059936"/>
            <a:ext cx="658368" cy="201168"/>
          </a:xfrm>
          <a:prstGeom prst="rect">
            <a:avLst/>
          </a:prstGeom>
          <a:noFill/>
          <a:ln/>
        </p:spPr>
        <p:txBody>
          <a:bodyPr wrap="square" lIns="0" tIns="0" rIns="0" bIns="0" rtlCol="0" anchor="t">
            <a:normAutofit/>
          </a:bodyPr>
          <a:lstStyle/>
          <a:p>
            <a:pPr marL="0" indent="0" algn="l">
              <a:buNone/>
            </a:pPr>
            <a:r>
              <a:rPr lang="en-US" sz="900" b="1" dirty="0">
                <a:solidFill>
                  <a:srgbClr val="63758A"/>
                </a:solidFill>
                <a:latin typeface="Times New Roman" panose="02020603050405020304" pitchFamily="18" charset="0"/>
                <a:ea typeface="Aptos" pitchFamily="34" charset="-122"/>
                <a:cs typeface="Times New Roman" panose="02020603050405020304" pitchFamily="18" charset="0"/>
              </a:rPr>
              <a:t>Mã lớp</a:t>
            </a:r>
            <a:endParaRPr lang="en-US" sz="900" dirty="0">
              <a:latin typeface="Times New Roman" panose="02020603050405020304" pitchFamily="18" charset="0"/>
              <a:cs typeface="Times New Roman" panose="02020603050405020304" pitchFamily="18" charset="0"/>
            </a:endParaRPr>
          </a:p>
        </p:txBody>
      </p:sp>
      <p:sp>
        <p:nvSpPr>
          <p:cNvPr id="19" name="Text 16"/>
          <p:cNvSpPr/>
          <p:nvPr/>
        </p:nvSpPr>
        <p:spPr>
          <a:xfrm>
            <a:off x="8796528" y="4023360"/>
            <a:ext cx="1280160" cy="274320"/>
          </a:xfrm>
          <a:prstGeom prst="rect">
            <a:avLst/>
          </a:prstGeom>
          <a:noFill/>
          <a:ln/>
        </p:spPr>
        <p:txBody>
          <a:bodyPr wrap="square" lIns="0" tIns="0" rIns="0" bIns="0" rtlCol="0" anchor="t">
            <a:normAutofit/>
          </a:bodyPr>
          <a:lstStyle/>
          <a:p>
            <a:pPr marL="0" indent="0" algn="l">
              <a:buNone/>
            </a:pPr>
            <a:r>
              <a:rPr lang="en-US" sz="1300" b="1" dirty="0">
                <a:solidFill>
                  <a:srgbClr val="102A43"/>
                </a:solidFill>
                <a:latin typeface="Times New Roman" panose="02020603050405020304" pitchFamily="18" charset="0"/>
                <a:ea typeface="Aptos" pitchFamily="34" charset="-122"/>
                <a:cs typeface="Times New Roman" panose="02020603050405020304" pitchFamily="18" charset="0"/>
              </a:rPr>
              <a:t>12523W.2</a:t>
            </a:r>
            <a:endParaRPr lang="en-US" sz="1300" dirty="0">
              <a:latin typeface="Times New Roman" panose="02020603050405020304" pitchFamily="18" charset="0"/>
              <a:cs typeface="Times New Roman" panose="02020603050405020304" pitchFamily="18" charset="0"/>
            </a:endParaRPr>
          </a:p>
        </p:txBody>
      </p:sp>
      <p:sp>
        <p:nvSpPr>
          <p:cNvPr id="20" name="Text 17"/>
          <p:cNvSpPr/>
          <p:nvPr/>
        </p:nvSpPr>
        <p:spPr>
          <a:xfrm>
            <a:off x="8092440" y="4480560"/>
            <a:ext cx="914400" cy="201168"/>
          </a:xfrm>
          <a:prstGeom prst="rect">
            <a:avLst/>
          </a:prstGeom>
          <a:noFill/>
          <a:ln/>
        </p:spPr>
        <p:txBody>
          <a:bodyPr wrap="square" lIns="0" tIns="0" rIns="0" bIns="0" rtlCol="0" anchor="t">
            <a:normAutofit/>
          </a:bodyPr>
          <a:lstStyle/>
          <a:p>
            <a:pPr marL="0" indent="0" algn="l">
              <a:buNone/>
            </a:pPr>
            <a:r>
              <a:rPr lang="en-US" sz="900" b="1" dirty="0">
                <a:solidFill>
                  <a:srgbClr val="63758A"/>
                </a:solidFill>
                <a:latin typeface="Times New Roman" panose="02020603050405020304" pitchFamily="18" charset="0"/>
                <a:ea typeface="Aptos" pitchFamily="34" charset="-122"/>
                <a:cs typeface="Times New Roman" panose="02020603050405020304" pitchFamily="18" charset="0"/>
              </a:rPr>
              <a:t>GV giảng dạy</a:t>
            </a:r>
            <a:endParaRPr lang="en-US" sz="900" dirty="0">
              <a:latin typeface="Times New Roman" panose="02020603050405020304" pitchFamily="18" charset="0"/>
              <a:cs typeface="Times New Roman" panose="02020603050405020304" pitchFamily="18" charset="0"/>
            </a:endParaRPr>
          </a:p>
        </p:txBody>
      </p:sp>
      <p:sp>
        <p:nvSpPr>
          <p:cNvPr id="21" name="Text 18"/>
          <p:cNvSpPr/>
          <p:nvPr/>
        </p:nvSpPr>
        <p:spPr>
          <a:xfrm>
            <a:off x="8878570" y="4443984"/>
            <a:ext cx="2148840" cy="384048"/>
          </a:xfrm>
          <a:prstGeom prst="rect">
            <a:avLst/>
          </a:prstGeom>
          <a:noFill/>
          <a:ln/>
        </p:spPr>
        <p:txBody>
          <a:bodyPr wrap="square" lIns="0" tIns="0" rIns="0" bIns="0" rtlCol="0" anchor="t">
            <a:normAutofit/>
          </a:bodyPr>
          <a:lstStyle/>
          <a:p>
            <a:pPr marL="0" indent="0" algn="l">
              <a:buNone/>
            </a:pPr>
            <a:r>
              <a:rPr lang="en-US" sz="1200" b="1" dirty="0">
                <a:solidFill>
                  <a:srgbClr val="102A43"/>
                </a:solidFill>
                <a:latin typeface="Times New Roman" panose="02020603050405020304" pitchFamily="18" charset="0"/>
                <a:ea typeface="Aptos" pitchFamily="34" charset="-122"/>
                <a:cs typeface="Times New Roman" panose="02020603050405020304" pitchFamily="18" charset="0"/>
              </a:rPr>
              <a:t>Th.S Nguyễn Đức Tuấn Anh</a:t>
            </a:r>
            <a:endParaRPr lang="en-US" sz="1200" dirty="0">
              <a:latin typeface="Times New Roman" panose="02020603050405020304" pitchFamily="18" charset="0"/>
              <a:cs typeface="Times New Roman" panose="02020603050405020304" pitchFamily="18" charset="0"/>
            </a:endParaRPr>
          </a:p>
        </p:txBody>
      </p:sp>
      <p:sp>
        <p:nvSpPr>
          <p:cNvPr id="22" name="Text 19"/>
          <p:cNvSpPr/>
          <p:nvPr/>
        </p:nvSpPr>
        <p:spPr>
          <a:xfrm>
            <a:off x="4370832" y="6007608"/>
            <a:ext cx="6812280" cy="219456"/>
          </a:xfrm>
          <a:prstGeom prst="rect">
            <a:avLst/>
          </a:prstGeom>
          <a:noFill/>
          <a:ln/>
        </p:spPr>
        <p:txBody>
          <a:bodyPr wrap="square" lIns="0" tIns="0" rIns="0" bIns="0" rtlCol="0" anchor="t">
            <a:normAutofit/>
          </a:bodyPr>
          <a:lstStyle/>
          <a:p>
            <a:pPr marL="0" indent="0" algn="l">
              <a:buNone/>
            </a:pPr>
            <a:r>
              <a:rPr lang="en-US" sz="900" b="1" dirty="0">
                <a:solidFill>
                  <a:srgbClr val="63758A"/>
                </a:solidFill>
                <a:latin typeface="Times New Roman" panose="02020603050405020304" pitchFamily="18" charset="0"/>
                <a:ea typeface="Aptos" pitchFamily="34" charset="-122"/>
                <a:cs typeface="Times New Roman" panose="02020603050405020304" pitchFamily="18" charset="0"/>
              </a:rPr>
              <a:t>NGÀNH KỸ THUẬT PHẦN MỀM • KHOA CÔNG NGHỆ THÔNG TIN • 2026</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01</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latin typeface="Times New Roman" panose="02020603050405020304" pitchFamily="18" charset="0"/>
                <a:cs typeface="Times New Roman" panose="02020603050405020304" pitchFamily="18" charset="0"/>
              </a:rPr>
              <a:t>Giới thiệu bài toán &amp; bộ dữ liệu</a:t>
            </a:r>
            <a:endParaRPr lang="en-US" sz="2500" dirty="0">
              <a:latin typeface="Times New Roman" panose="02020603050405020304" pitchFamily="18" charset="0"/>
              <a:cs typeface="Times New Roman" panose="02020603050405020304" pitchFamily="18" charset="0"/>
            </a:endParaRPr>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latin typeface="Times New Roman" panose="02020603050405020304" pitchFamily="18" charset="0"/>
                <a:cs typeface="Times New Roman" panose="02020603050405020304" pitchFamily="18" charset="0"/>
              </a:rPr>
              <a:t>Bài toán phân loại nhị phân có giám sát trên dữ liệu y tế CKD</a:t>
            </a:r>
            <a:endParaRPr lang="en-US" sz="1080" dirty="0">
              <a:latin typeface="Times New Roman" panose="02020603050405020304" pitchFamily="18" charset="0"/>
              <a:cs typeface="Times New Roman" panose="02020603050405020304" pitchFamily="18" charset="0"/>
            </a:endParaRPr>
          </a:p>
        </p:txBody>
      </p:sp>
      <p:sp>
        <p:nvSpPr>
          <p:cNvPr id="5" name="Shape 3"/>
          <p:cNvSpPr/>
          <p:nvPr/>
        </p:nvSpPr>
        <p:spPr>
          <a:xfrm>
            <a:off x="658368" y="1572768"/>
            <a:ext cx="5486400" cy="4407408"/>
          </a:xfrm>
          <a:prstGeom prst="roundRect">
            <a:avLst>
              <a:gd name="adj" fmla="val 2490"/>
            </a:avLst>
          </a:prstGeom>
          <a:solidFill>
            <a:srgbClr val="FFFFFF"/>
          </a:solidFill>
          <a:ln w="10160">
            <a:solidFill>
              <a:srgbClr val="D9E3EE"/>
            </a:solidFill>
            <a:prstDash val="solid"/>
          </a:ln>
          <a:effectLst>
            <a:outerShdw blurRad="241935000" dist="80645000" algn="bl" rotWithShape="0">
              <a:srgbClr val="000000">
                <a:alpha val="0"/>
              </a:srgbClr>
            </a:outerShdw>
          </a:effectLst>
        </p:spPr>
      </p:sp>
      <p:sp>
        <p:nvSpPr>
          <p:cNvPr id="6" name="Shape 4"/>
          <p:cNvSpPr/>
          <p:nvPr/>
        </p:nvSpPr>
        <p:spPr>
          <a:xfrm>
            <a:off x="932688" y="1847088"/>
            <a:ext cx="1143000" cy="310896"/>
          </a:xfrm>
          <a:prstGeom prst="roundRect">
            <a:avLst/>
          </a:prstGeom>
          <a:solidFill>
            <a:srgbClr val="EDF4FF"/>
          </a:solidFill>
          <a:ln w="12700">
            <a:solidFill>
              <a:srgbClr val="EDF4FF"/>
            </a:solidFill>
            <a:prstDash val="solid"/>
          </a:ln>
        </p:spPr>
      </p:sp>
      <p:sp>
        <p:nvSpPr>
          <p:cNvPr id="7" name="Text 5"/>
          <p:cNvSpPr/>
          <p:nvPr/>
        </p:nvSpPr>
        <p:spPr>
          <a:xfrm>
            <a:off x="932688" y="1874520"/>
            <a:ext cx="1143000" cy="246888"/>
          </a:xfrm>
          <a:prstGeom prst="rect">
            <a:avLst/>
          </a:prstGeom>
          <a:noFill/>
          <a:ln/>
        </p:spPr>
        <p:txBody>
          <a:bodyPr wrap="square" lIns="0" tIns="0" rIns="0" bIns="0" rtlCol="0" anchor="ctr">
            <a:normAutofit/>
          </a:bodyPr>
          <a:lstStyle/>
          <a:p>
            <a:pPr marL="0" indent="0" algn="ctr">
              <a:buNone/>
            </a:pPr>
            <a:r>
              <a:rPr lang="en-US" sz="900" b="1" dirty="0">
                <a:solidFill>
                  <a:srgbClr val="2457D6"/>
                </a:solidFill>
                <a:latin typeface="Times New Roman" panose="02020603050405020304" pitchFamily="18" charset="0"/>
                <a:ea typeface="Aptos" pitchFamily="34" charset="-122"/>
                <a:cs typeface="Times New Roman" panose="02020603050405020304" pitchFamily="18" charset="0"/>
              </a:rPr>
              <a:t>BÀI TOÁN</a:t>
            </a:r>
            <a:endParaRPr lang="en-US" sz="900" dirty="0">
              <a:latin typeface="Times New Roman" panose="02020603050405020304" pitchFamily="18" charset="0"/>
              <a:cs typeface="Times New Roman" panose="02020603050405020304" pitchFamily="18" charset="0"/>
            </a:endParaRPr>
          </a:p>
        </p:txBody>
      </p:sp>
      <p:sp>
        <p:nvSpPr>
          <p:cNvPr id="8" name="Text 6"/>
          <p:cNvSpPr/>
          <p:nvPr/>
        </p:nvSpPr>
        <p:spPr>
          <a:xfrm>
            <a:off x="932688" y="2340864"/>
            <a:ext cx="1371600" cy="256032"/>
          </a:xfrm>
          <a:prstGeom prst="rect">
            <a:avLst/>
          </a:prstGeom>
          <a:noFill/>
          <a:ln/>
        </p:spPr>
        <p:txBody>
          <a:bodyPr wrap="square" lIns="0" tIns="0" rIns="0" bIns="0" rtlCol="0" anchor="t">
            <a:normAutofit/>
          </a:bodyPr>
          <a:lstStyle/>
          <a:p>
            <a:pPr marL="0" indent="0" algn="l">
              <a:buNone/>
            </a:pPr>
            <a:r>
              <a:rPr lang="en-US" sz="1300" b="1" dirty="0">
                <a:solidFill>
                  <a:srgbClr val="102A43"/>
                </a:solidFill>
                <a:latin typeface="Times New Roman" panose="02020603050405020304" pitchFamily="18" charset="0"/>
                <a:ea typeface="Aptos" pitchFamily="34" charset="-122"/>
                <a:cs typeface="Times New Roman" panose="02020603050405020304" pitchFamily="18" charset="0"/>
              </a:rPr>
              <a:t>Mục tiêu</a:t>
            </a:r>
            <a:endParaRPr lang="en-US" sz="1300" dirty="0">
              <a:latin typeface="Times New Roman" panose="02020603050405020304" pitchFamily="18" charset="0"/>
              <a:cs typeface="Times New Roman" panose="02020603050405020304" pitchFamily="18" charset="0"/>
            </a:endParaRPr>
          </a:p>
        </p:txBody>
      </p:sp>
      <p:sp>
        <p:nvSpPr>
          <p:cNvPr id="9" name="Text 7"/>
          <p:cNvSpPr/>
          <p:nvPr/>
        </p:nvSpPr>
        <p:spPr>
          <a:xfrm>
            <a:off x="932688" y="2688336"/>
            <a:ext cx="4882896" cy="1572768"/>
          </a:xfrm>
          <a:prstGeom prst="rect">
            <a:avLst/>
          </a:prstGeom>
          <a:noFill/>
          <a:ln/>
        </p:spPr>
        <p:txBody>
          <a:bodyPr wrap="square" lIns="0" tIns="0" rIns="0" bIns="0" rtlCol="0" anchor="ctr">
            <a:normAutofit/>
          </a:bodyPr>
          <a:lstStyle/>
          <a:p>
            <a:pPr marL="0" indent="0">
              <a:buNone/>
            </a:pPr>
            <a:r>
              <a:rPr lang="en-US" sz="1230" b="1" dirty="0">
                <a:solidFill>
                  <a:srgbClr val="2457D6"/>
                </a:solidFill>
                <a:latin typeface="Times New Roman" panose="02020603050405020304" pitchFamily="18" charset="0"/>
                <a:ea typeface="Aptos" pitchFamily="34" charset="-122"/>
                <a:cs typeface="Times New Roman" panose="02020603050405020304" pitchFamily="18" charset="0"/>
              </a:rPr>
              <a:t>• </a:t>
            </a:r>
            <a:r>
              <a:rPr lang="en-US" sz="1230" dirty="0">
                <a:solidFill>
                  <a:srgbClr val="243B53"/>
                </a:solidFill>
                <a:latin typeface="Times New Roman" panose="02020603050405020304" pitchFamily="18" charset="0"/>
                <a:ea typeface="Aptos" pitchFamily="34" charset="-122"/>
                <a:cs typeface="Times New Roman" panose="02020603050405020304" pitchFamily="18" charset="0"/>
              </a:rPr>
              <a:t>Dự đoán bệnh nhân thuộc lớp ckd hoặc notckd dựa trên 24 đặc trưng lâm sàng.</a:t>
            </a:r>
            <a:r>
              <a:rPr lang="en-US" sz="123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230" dirty="0">
              <a:latin typeface="Times New Roman" panose="02020603050405020304" pitchFamily="18" charset="0"/>
              <a:cs typeface="Times New Roman" panose="02020603050405020304" pitchFamily="18" charset="0"/>
            </a:endParaRPr>
          </a:p>
          <a:p>
            <a:pPr marL="0" indent="0">
              <a:buNone/>
            </a:pPr>
            <a:r>
              <a:rPr lang="en-US" sz="1230" b="1" dirty="0">
                <a:solidFill>
                  <a:srgbClr val="2457D6"/>
                </a:solidFill>
                <a:latin typeface="Times New Roman" panose="02020603050405020304" pitchFamily="18" charset="0"/>
                <a:ea typeface="Aptos" pitchFamily="34" charset="-122"/>
                <a:cs typeface="Times New Roman" panose="02020603050405020304" pitchFamily="18" charset="0"/>
              </a:rPr>
              <a:t>• </a:t>
            </a:r>
            <a:r>
              <a:rPr lang="en-US" sz="1230" dirty="0">
                <a:solidFill>
                  <a:srgbClr val="243B53"/>
                </a:solidFill>
                <a:latin typeface="Times New Roman" panose="02020603050405020304" pitchFamily="18" charset="0"/>
                <a:ea typeface="Aptos" pitchFamily="34" charset="-122"/>
                <a:cs typeface="Times New Roman" panose="02020603050405020304" pitchFamily="18" charset="0"/>
              </a:rPr>
              <a:t>So sánh nhiều mô hình học máy và lựa chọn mô hình phù hợp để triển khai.</a:t>
            </a:r>
            <a:r>
              <a:rPr lang="en-US" sz="123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230" dirty="0">
              <a:latin typeface="Times New Roman" panose="02020603050405020304" pitchFamily="18" charset="0"/>
              <a:cs typeface="Times New Roman" panose="02020603050405020304" pitchFamily="18" charset="0"/>
            </a:endParaRPr>
          </a:p>
          <a:p>
            <a:pPr marL="0" indent="0">
              <a:buNone/>
            </a:pPr>
            <a:r>
              <a:rPr lang="en-US" sz="1230" b="1" dirty="0">
                <a:solidFill>
                  <a:srgbClr val="2457D6"/>
                </a:solidFill>
                <a:latin typeface="Times New Roman" panose="02020603050405020304" pitchFamily="18" charset="0"/>
                <a:ea typeface="Aptos" pitchFamily="34" charset="-122"/>
                <a:cs typeface="Times New Roman" panose="02020603050405020304" pitchFamily="18" charset="0"/>
              </a:rPr>
              <a:t>• </a:t>
            </a:r>
            <a:r>
              <a:rPr lang="en-US" sz="1230" dirty="0">
                <a:solidFill>
                  <a:srgbClr val="243B53"/>
                </a:solidFill>
                <a:latin typeface="Times New Roman" panose="02020603050405020304" pitchFamily="18" charset="0"/>
                <a:ea typeface="Aptos" pitchFamily="34" charset="-122"/>
                <a:cs typeface="Times New Roman" panose="02020603050405020304" pitchFamily="18" charset="0"/>
              </a:rPr>
              <a:t>Hệ thống phục vụ hỗ trợ sàng lọc ban đầu, không thay thế chẩn đoán y khoa.</a:t>
            </a:r>
            <a:endParaRPr lang="en-US" sz="1230" dirty="0">
              <a:latin typeface="Times New Roman" panose="02020603050405020304" pitchFamily="18" charset="0"/>
              <a:cs typeface="Times New Roman" panose="02020603050405020304" pitchFamily="18" charset="0"/>
            </a:endParaRPr>
          </a:p>
        </p:txBody>
      </p:sp>
      <p:sp>
        <p:nvSpPr>
          <p:cNvPr id="10" name="Text 8"/>
          <p:cNvSpPr/>
          <p:nvPr/>
        </p:nvSpPr>
        <p:spPr>
          <a:xfrm>
            <a:off x="932688" y="4526280"/>
            <a:ext cx="2240280" cy="274320"/>
          </a:xfrm>
          <a:prstGeom prst="rect">
            <a:avLst/>
          </a:prstGeom>
          <a:noFill/>
          <a:ln/>
        </p:spPr>
        <p:txBody>
          <a:bodyPr wrap="square" lIns="0" tIns="0" rIns="0" bIns="0" rtlCol="0" anchor="t">
            <a:normAutofit/>
          </a:bodyPr>
          <a:lstStyle/>
          <a:p>
            <a:pPr marL="0" indent="0" algn="l">
              <a:buNone/>
            </a:pPr>
            <a:r>
              <a:rPr lang="en-US" sz="1300" b="1" dirty="0">
                <a:solidFill>
                  <a:srgbClr val="102A43"/>
                </a:solidFill>
                <a:latin typeface="Times New Roman" panose="02020603050405020304" pitchFamily="18" charset="0"/>
                <a:ea typeface="Aptos" pitchFamily="34" charset="-122"/>
                <a:cs typeface="Times New Roman" panose="02020603050405020304" pitchFamily="18" charset="0"/>
              </a:rPr>
              <a:t>Các nhóm đặc trưng đầu vào</a:t>
            </a:r>
            <a:endParaRPr lang="en-US" sz="1300" dirty="0">
              <a:latin typeface="Times New Roman" panose="02020603050405020304" pitchFamily="18" charset="0"/>
              <a:cs typeface="Times New Roman" panose="02020603050405020304" pitchFamily="18" charset="0"/>
            </a:endParaRPr>
          </a:p>
        </p:txBody>
      </p:sp>
      <p:sp>
        <p:nvSpPr>
          <p:cNvPr id="11" name="Shape 9"/>
          <p:cNvSpPr/>
          <p:nvPr/>
        </p:nvSpPr>
        <p:spPr>
          <a:xfrm>
            <a:off x="932688" y="4937760"/>
            <a:ext cx="1298448" cy="310896"/>
          </a:xfrm>
          <a:prstGeom prst="roundRect">
            <a:avLst/>
          </a:prstGeom>
          <a:solidFill>
            <a:srgbClr val="EDF4FF"/>
          </a:solidFill>
          <a:ln w="12700">
            <a:solidFill>
              <a:srgbClr val="EDF4FF"/>
            </a:solidFill>
            <a:prstDash val="solid"/>
          </a:ln>
        </p:spPr>
      </p:sp>
      <p:sp>
        <p:nvSpPr>
          <p:cNvPr id="12" name="Text 10"/>
          <p:cNvSpPr/>
          <p:nvPr/>
        </p:nvSpPr>
        <p:spPr>
          <a:xfrm>
            <a:off x="932688" y="4965192"/>
            <a:ext cx="1298448" cy="246888"/>
          </a:xfrm>
          <a:prstGeom prst="rect">
            <a:avLst/>
          </a:prstGeom>
          <a:noFill/>
          <a:ln/>
        </p:spPr>
        <p:txBody>
          <a:bodyPr wrap="square" lIns="0" tIns="0" rIns="0" bIns="0" rtlCol="0" anchor="ctr">
            <a:normAutofit/>
          </a:bodyPr>
          <a:lstStyle/>
          <a:p>
            <a:pPr marL="0" indent="0" algn="ctr">
              <a:buNone/>
            </a:pPr>
            <a:r>
              <a:rPr lang="en-US" sz="900" b="1" dirty="0">
                <a:solidFill>
                  <a:srgbClr val="2457D6"/>
                </a:solidFill>
                <a:latin typeface="Times New Roman" panose="02020603050405020304" pitchFamily="18" charset="0"/>
                <a:ea typeface="Aptos" pitchFamily="34" charset="-122"/>
                <a:cs typeface="Times New Roman" panose="02020603050405020304" pitchFamily="18" charset="0"/>
              </a:rPr>
              <a:t>Tuổi &amp; huyết áp</a:t>
            </a:r>
            <a:endParaRPr lang="en-US" sz="900" dirty="0">
              <a:latin typeface="Times New Roman" panose="02020603050405020304" pitchFamily="18" charset="0"/>
              <a:cs typeface="Times New Roman" panose="02020603050405020304" pitchFamily="18" charset="0"/>
            </a:endParaRPr>
          </a:p>
        </p:txBody>
      </p:sp>
      <p:sp>
        <p:nvSpPr>
          <p:cNvPr id="13" name="Shape 11"/>
          <p:cNvSpPr/>
          <p:nvPr/>
        </p:nvSpPr>
        <p:spPr>
          <a:xfrm>
            <a:off x="2304288" y="4937760"/>
            <a:ext cx="1298448" cy="310896"/>
          </a:xfrm>
          <a:prstGeom prst="roundRect">
            <a:avLst/>
          </a:prstGeom>
          <a:solidFill>
            <a:srgbClr val="EAF8F7"/>
          </a:solidFill>
          <a:ln w="12700">
            <a:solidFill>
              <a:srgbClr val="EAF8F7"/>
            </a:solidFill>
            <a:prstDash val="solid"/>
          </a:ln>
        </p:spPr>
      </p:sp>
      <p:sp>
        <p:nvSpPr>
          <p:cNvPr id="14" name="Text 12"/>
          <p:cNvSpPr/>
          <p:nvPr/>
        </p:nvSpPr>
        <p:spPr>
          <a:xfrm>
            <a:off x="2304288" y="4965192"/>
            <a:ext cx="1298448" cy="246888"/>
          </a:xfrm>
          <a:prstGeom prst="rect">
            <a:avLst/>
          </a:prstGeom>
          <a:noFill/>
          <a:ln/>
        </p:spPr>
        <p:txBody>
          <a:bodyPr wrap="square" lIns="0" tIns="0" rIns="0" bIns="0" rtlCol="0" anchor="ctr">
            <a:normAutofit/>
          </a:bodyPr>
          <a:lstStyle/>
          <a:p>
            <a:pPr marL="0" indent="0" algn="ctr">
              <a:buNone/>
            </a:pPr>
            <a:r>
              <a:rPr lang="en-US" sz="900" b="1" dirty="0">
                <a:solidFill>
                  <a:srgbClr val="0E9F9A"/>
                </a:solidFill>
                <a:latin typeface="Times New Roman" panose="02020603050405020304" pitchFamily="18" charset="0"/>
                <a:ea typeface="Aptos" pitchFamily="34" charset="-122"/>
                <a:cs typeface="Times New Roman" panose="02020603050405020304" pitchFamily="18" charset="0"/>
              </a:rPr>
              <a:t>Nước tiểu</a:t>
            </a:r>
            <a:endParaRPr lang="en-US" sz="900" dirty="0">
              <a:latin typeface="Times New Roman" panose="02020603050405020304" pitchFamily="18" charset="0"/>
              <a:cs typeface="Times New Roman" panose="02020603050405020304" pitchFamily="18" charset="0"/>
            </a:endParaRPr>
          </a:p>
        </p:txBody>
      </p:sp>
      <p:sp>
        <p:nvSpPr>
          <p:cNvPr id="15" name="Shape 13"/>
          <p:cNvSpPr/>
          <p:nvPr/>
        </p:nvSpPr>
        <p:spPr>
          <a:xfrm>
            <a:off x="3675888" y="4937760"/>
            <a:ext cx="1298448" cy="310896"/>
          </a:xfrm>
          <a:prstGeom prst="roundRect">
            <a:avLst/>
          </a:prstGeom>
          <a:solidFill>
            <a:srgbClr val="FFF7E6"/>
          </a:solidFill>
          <a:ln w="12700">
            <a:solidFill>
              <a:srgbClr val="FFF7E6"/>
            </a:solidFill>
            <a:prstDash val="solid"/>
          </a:ln>
        </p:spPr>
      </p:sp>
      <p:sp>
        <p:nvSpPr>
          <p:cNvPr id="16" name="Text 14"/>
          <p:cNvSpPr/>
          <p:nvPr/>
        </p:nvSpPr>
        <p:spPr>
          <a:xfrm>
            <a:off x="3675888" y="4965192"/>
            <a:ext cx="1298448" cy="246888"/>
          </a:xfrm>
          <a:prstGeom prst="rect">
            <a:avLst/>
          </a:prstGeom>
          <a:noFill/>
          <a:ln/>
        </p:spPr>
        <p:txBody>
          <a:bodyPr wrap="square" lIns="0" tIns="0" rIns="0" bIns="0" rtlCol="0" anchor="ctr">
            <a:normAutofit/>
          </a:bodyPr>
          <a:lstStyle/>
          <a:p>
            <a:pPr marL="0" indent="0" algn="ctr">
              <a:buNone/>
            </a:pPr>
            <a:r>
              <a:rPr lang="en-US" sz="900" b="1" dirty="0">
                <a:solidFill>
                  <a:srgbClr val="E7A61A"/>
                </a:solidFill>
                <a:latin typeface="Times New Roman" panose="02020603050405020304" pitchFamily="18" charset="0"/>
                <a:ea typeface="Aptos" pitchFamily="34" charset="-122"/>
                <a:cs typeface="Times New Roman" panose="02020603050405020304" pitchFamily="18" charset="0"/>
              </a:rPr>
              <a:t>Máu &amp; điện giải</a:t>
            </a:r>
            <a:endParaRPr lang="en-US" sz="900" dirty="0">
              <a:latin typeface="Times New Roman" panose="02020603050405020304" pitchFamily="18" charset="0"/>
              <a:cs typeface="Times New Roman" panose="02020603050405020304" pitchFamily="18" charset="0"/>
            </a:endParaRPr>
          </a:p>
        </p:txBody>
      </p:sp>
      <p:sp>
        <p:nvSpPr>
          <p:cNvPr id="17" name="Shape 15"/>
          <p:cNvSpPr/>
          <p:nvPr/>
        </p:nvSpPr>
        <p:spPr>
          <a:xfrm>
            <a:off x="5047488" y="4937760"/>
            <a:ext cx="1298448" cy="310896"/>
          </a:xfrm>
          <a:prstGeom prst="roundRect">
            <a:avLst/>
          </a:prstGeom>
          <a:solidFill>
            <a:srgbClr val="EAF8F0"/>
          </a:solidFill>
          <a:ln w="12700">
            <a:solidFill>
              <a:srgbClr val="EAF8F0"/>
            </a:solidFill>
            <a:prstDash val="solid"/>
          </a:ln>
        </p:spPr>
      </p:sp>
      <p:sp>
        <p:nvSpPr>
          <p:cNvPr id="18" name="Text 16"/>
          <p:cNvSpPr/>
          <p:nvPr/>
        </p:nvSpPr>
        <p:spPr>
          <a:xfrm>
            <a:off x="5047488" y="4965192"/>
            <a:ext cx="1298448" cy="246888"/>
          </a:xfrm>
          <a:prstGeom prst="rect">
            <a:avLst/>
          </a:prstGeom>
          <a:noFill/>
          <a:ln/>
        </p:spPr>
        <p:txBody>
          <a:bodyPr wrap="square" lIns="0" tIns="0" rIns="0" bIns="0" rtlCol="0" anchor="ctr">
            <a:normAutofit/>
          </a:bodyPr>
          <a:lstStyle/>
          <a:p>
            <a:pPr marL="0" indent="0" algn="ctr">
              <a:buNone/>
            </a:pPr>
            <a:r>
              <a:rPr lang="en-US" sz="900" b="1" dirty="0">
                <a:solidFill>
                  <a:srgbClr val="1FA971"/>
                </a:solidFill>
                <a:latin typeface="Times New Roman" panose="02020603050405020304" pitchFamily="18" charset="0"/>
                <a:ea typeface="Aptos" pitchFamily="34" charset="-122"/>
                <a:cs typeface="Times New Roman" panose="02020603050405020304" pitchFamily="18" charset="0"/>
              </a:rPr>
              <a:t>Tiền sử &amp; triệu chứng</a:t>
            </a:r>
            <a:endParaRPr lang="en-US" sz="900" dirty="0">
              <a:latin typeface="Times New Roman" panose="02020603050405020304" pitchFamily="18" charset="0"/>
              <a:cs typeface="Times New Roman" panose="02020603050405020304" pitchFamily="18" charset="0"/>
            </a:endParaRPr>
          </a:p>
        </p:txBody>
      </p:sp>
      <p:sp>
        <p:nvSpPr>
          <p:cNvPr id="19" name="Shape 17"/>
          <p:cNvSpPr/>
          <p:nvPr/>
        </p:nvSpPr>
        <p:spPr>
          <a:xfrm>
            <a:off x="6382512" y="1572768"/>
            <a:ext cx="5157216" cy="4407408"/>
          </a:xfrm>
          <a:prstGeom prst="roundRect">
            <a:avLst>
              <a:gd name="adj" fmla="val 2490"/>
            </a:avLst>
          </a:prstGeom>
          <a:solidFill>
            <a:srgbClr val="FDFEFF"/>
          </a:solidFill>
          <a:ln w="10160">
            <a:solidFill>
              <a:srgbClr val="D9E3EE"/>
            </a:solidFill>
            <a:prstDash val="solid"/>
          </a:ln>
          <a:effectLst>
            <a:outerShdw algn="bl" rotWithShape="0">
              <a:srgbClr val="000000">
                <a:alpha val="0"/>
              </a:srgbClr>
            </a:outerShdw>
          </a:effectLst>
        </p:spPr>
      </p:sp>
      <p:sp>
        <p:nvSpPr>
          <p:cNvPr id="20" name="Shape 18"/>
          <p:cNvSpPr/>
          <p:nvPr/>
        </p:nvSpPr>
        <p:spPr>
          <a:xfrm>
            <a:off x="6656832" y="1847088"/>
            <a:ext cx="1078992" cy="310896"/>
          </a:xfrm>
          <a:prstGeom prst="roundRect">
            <a:avLst/>
          </a:prstGeom>
          <a:solidFill>
            <a:srgbClr val="EAF8F7"/>
          </a:solidFill>
          <a:ln w="12700">
            <a:solidFill>
              <a:srgbClr val="EAF8F7"/>
            </a:solidFill>
            <a:prstDash val="solid"/>
          </a:ln>
        </p:spPr>
      </p:sp>
      <p:sp>
        <p:nvSpPr>
          <p:cNvPr id="21" name="Text 19"/>
          <p:cNvSpPr/>
          <p:nvPr/>
        </p:nvSpPr>
        <p:spPr>
          <a:xfrm>
            <a:off x="6656832" y="1874520"/>
            <a:ext cx="1078992" cy="246888"/>
          </a:xfrm>
          <a:prstGeom prst="rect">
            <a:avLst/>
          </a:prstGeom>
          <a:noFill/>
          <a:ln/>
        </p:spPr>
        <p:txBody>
          <a:bodyPr wrap="square" lIns="0" tIns="0" rIns="0" bIns="0" rtlCol="0" anchor="ctr">
            <a:normAutofit/>
          </a:bodyPr>
          <a:lstStyle/>
          <a:p>
            <a:pPr marL="0" indent="0" algn="ctr">
              <a:buNone/>
            </a:pPr>
            <a:r>
              <a:rPr lang="en-US" sz="900" b="1" dirty="0">
                <a:solidFill>
                  <a:srgbClr val="0E9F9A"/>
                </a:solidFill>
                <a:latin typeface="Times New Roman" panose="02020603050405020304" pitchFamily="18" charset="0"/>
                <a:ea typeface="Aptos" pitchFamily="34" charset="-122"/>
                <a:cs typeface="Times New Roman" panose="02020603050405020304" pitchFamily="18" charset="0"/>
              </a:rPr>
              <a:t>DATASET</a:t>
            </a:r>
            <a:endParaRPr lang="en-US" sz="900" dirty="0">
              <a:latin typeface="Times New Roman" panose="02020603050405020304" pitchFamily="18" charset="0"/>
              <a:cs typeface="Times New Roman" panose="02020603050405020304" pitchFamily="18" charset="0"/>
            </a:endParaRPr>
          </a:p>
        </p:txBody>
      </p:sp>
      <p:sp>
        <p:nvSpPr>
          <p:cNvPr id="22" name="Shape 20"/>
          <p:cNvSpPr/>
          <p:nvPr/>
        </p:nvSpPr>
        <p:spPr>
          <a:xfrm>
            <a:off x="6656832" y="2331720"/>
            <a:ext cx="1417320" cy="768096"/>
          </a:xfrm>
          <a:prstGeom prst="roundRect">
            <a:avLst>
              <a:gd name="adj" fmla="val 11905"/>
            </a:avLst>
          </a:prstGeom>
          <a:solidFill>
            <a:srgbClr val="FFFFFF"/>
          </a:solidFill>
          <a:ln w="10160">
            <a:solidFill>
              <a:srgbClr val="D9E3EE"/>
            </a:solidFill>
            <a:prstDash val="solid"/>
          </a:ln>
        </p:spPr>
      </p:sp>
      <p:sp>
        <p:nvSpPr>
          <p:cNvPr id="23" name="Shape 21"/>
          <p:cNvSpPr/>
          <p:nvPr/>
        </p:nvSpPr>
        <p:spPr>
          <a:xfrm>
            <a:off x="6656832" y="2331720"/>
            <a:ext cx="54864" cy="768096"/>
          </a:xfrm>
          <a:prstGeom prst="rect">
            <a:avLst/>
          </a:prstGeom>
          <a:solidFill>
            <a:srgbClr val="2457D6"/>
          </a:solidFill>
          <a:ln w="12700">
            <a:solidFill>
              <a:srgbClr val="2457D6"/>
            </a:solidFill>
            <a:prstDash val="solid"/>
          </a:ln>
        </p:spPr>
      </p:sp>
      <p:sp>
        <p:nvSpPr>
          <p:cNvPr id="24" name="Text 22"/>
          <p:cNvSpPr/>
          <p:nvPr/>
        </p:nvSpPr>
        <p:spPr>
          <a:xfrm>
            <a:off x="6821424" y="2450592"/>
            <a:ext cx="1161288"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Times New Roman" panose="02020603050405020304" pitchFamily="18" charset="0"/>
                <a:ea typeface="Aptos" pitchFamily="34" charset="-122"/>
                <a:cs typeface="Times New Roman" panose="02020603050405020304" pitchFamily="18" charset="0"/>
              </a:rPr>
              <a:t>SỐ MẪU</a:t>
            </a:r>
            <a:endParaRPr lang="en-US" sz="850" dirty="0">
              <a:latin typeface="Times New Roman" panose="02020603050405020304" pitchFamily="18" charset="0"/>
              <a:cs typeface="Times New Roman" panose="02020603050405020304" pitchFamily="18" charset="0"/>
            </a:endParaRPr>
          </a:p>
        </p:txBody>
      </p:sp>
      <p:sp>
        <p:nvSpPr>
          <p:cNvPr id="25" name="Text 23"/>
          <p:cNvSpPr/>
          <p:nvPr/>
        </p:nvSpPr>
        <p:spPr>
          <a:xfrm>
            <a:off x="6821424" y="2633472"/>
            <a:ext cx="1161288" cy="274320"/>
          </a:xfrm>
          <a:prstGeom prst="rect">
            <a:avLst/>
          </a:prstGeom>
          <a:noFill/>
          <a:ln/>
        </p:spPr>
        <p:txBody>
          <a:bodyPr wrap="square" lIns="0" tIns="0" rIns="0" bIns="0" rtlCol="0" anchor="t">
            <a:normAutofit/>
          </a:bodyPr>
          <a:lstStyle/>
          <a:p>
            <a:pPr marL="0" indent="0" algn="l">
              <a:buNone/>
            </a:pPr>
            <a:r>
              <a:rPr lang="en-US" sz="1800" b="1" dirty="0">
                <a:solidFill>
                  <a:srgbClr val="2457D6"/>
                </a:solidFill>
                <a:latin typeface="Times New Roman" panose="02020603050405020304" pitchFamily="18" charset="0"/>
                <a:ea typeface="Aptos" pitchFamily="34" charset="-122"/>
                <a:cs typeface="Times New Roman" panose="02020603050405020304" pitchFamily="18" charset="0"/>
              </a:rPr>
              <a:t>400</a:t>
            </a:r>
            <a:endParaRPr lang="en-US" sz="1800" dirty="0">
              <a:latin typeface="Times New Roman" panose="02020603050405020304" pitchFamily="18" charset="0"/>
              <a:cs typeface="Times New Roman" panose="02020603050405020304" pitchFamily="18" charset="0"/>
            </a:endParaRPr>
          </a:p>
        </p:txBody>
      </p:sp>
      <p:sp>
        <p:nvSpPr>
          <p:cNvPr id="26" name="Text 24"/>
          <p:cNvSpPr/>
          <p:nvPr/>
        </p:nvSpPr>
        <p:spPr>
          <a:xfrm>
            <a:off x="6821424" y="2926080"/>
            <a:ext cx="1161288" cy="128016"/>
          </a:xfrm>
          <a:prstGeom prst="rect">
            <a:avLst/>
          </a:prstGeom>
          <a:noFill/>
          <a:ln/>
        </p:spPr>
        <p:txBody>
          <a:bodyPr wrap="square" lIns="0" tIns="0" rIns="0" bIns="0" rtlCol="0" anchor="t">
            <a:normAutofit/>
          </a:bodyPr>
          <a:lstStyle/>
          <a:p>
            <a:pPr marL="0" indent="0" algn="l">
              <a:buNone/>
            </a:pPr>
            <a:r>
              <a:rPr lang="en-US" sz="770" dirty="0">
                <a:solidFill>
                  <a:srgbClr val="63758A"/>
                </a:solidFill>
                <a:latin typeface="Times New Roman" panose="02020603050405020304" pitchFamily="18" charset="0"/>
                <a:ea typeface="Aptos" pitchFamily="34" charset="-122"/>
                <a:cs typeface="Times New Roman" panose="02020603050405020304" pitchFamily="18" charset="0"/>
              </a:rPr>
              <a:t>bệnh nhân</a:t>
            </a:r>
            <a:endParaRPr lang="en-US" sz="770" dirty="0">
              <a:latin typeface="Times New Roman" panose="02020603050405020304" pitchFamily="18" charset="0"/>
              <a:cs typeface="Times New Roman" panose="02020603050405020304" pitchFamily="18" charset="0"/>
            </a:endParaRPr>
          </a:p>
        </p:txBody>
      </p:sp>
      <p:sp>
        <p:nvSpPr>
          <p:cNvPr id="27" name="Shape 25"/>
          <p:cNvSpPr/>
          <p:nvPr/>
        </p:nvSpPr>
        <p:spPr>
          <a:xfrm>
            <a:off x="8211312" y="2331720"/>
            <a:ext cx="1417320" cy="768096"/>
          </a:xfrm>
          <a:prstGeom prst="roundRect">
            <a:avLst>
              <a:gd name="adj" fmla="val 11905"/>
            </a:avLst>
          </a:prstGeom>
          <a:solidFill>
            <a:srgbClr val="FFFFFF"/>
          </a:solidFill>
          <a:ln w="10160">
            <a:solidFill>
              <a:srgbClr val="D9E3EE"/>
            </a:solidFill>
            <a:prstDash val="solid"/>
          </a:ln>
        </p:spPr>
      </p:sp>
      <p:sp>
        <p:nvSpPr>
          <p:cNvPr id="28" name="Shape 26"/>
          <p:cNvSpPr/>
          <p:nvPr/>
        </p:nvSpPr>
        <p:spPr>
          <a:xfrm>
            <a:off x="8211312" y="2331720"/>
            <a:ext cx="54864" cy="768096"/>
          </a:xfrm>
          <a:prstGeom prst="rect">
            <a:avLst/>
          </a:prstGeom>
          <a:solidFill>
            <a:srgbClr val="0E9F9A"/>
          </a:solidFill>
          <a:ln w="12700">
            <a:solidFill>
              <a:srgbClr val="0E9F9A"/>
            </a:solidFill>
            <a:prstDash val="solid"/>
          </a:ln>
        </p:spPr>
      </p:sp>
      <p:sp>
        <p:nvSpPr>
          <p:cNvPr id="29" name="Text 27"/>
          <p:cNvSpPr/>
          <p:nvPr/>
        </p:nvSpPr>
        <p:spPr>
          <a:xfrm>
            <a:off x="8375904" y="2450592"/>
            <a:ext cx="1161288"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Times New Roman" panose="02020603050405020304" pitchFamily="18" charset="0"/>
                <a:ea typeface="Aptos" pitchFamily="34" charset="-122"/>
                <a:cs typeface="Times New Roman" panose="02020603050405020304" pitchFamily="18" charset="0"/>
              </a:rPr>
              <a:t>FEATURE</a:t>
            </a:r>
            <a:endParaRPr lang="en-US" sz="850" dirty="0">
              <a:latin typeface="Times New Roman" panose="02020603050405020304" pitchFamily="18" charset="0"/>
              <a:cs typeface="Times New Roman" panose="02020603050405020304" pitchFamily="18" charset="0"/>
            </a:endParaRPr>
          </a:p>
        </p:txBody>
      </p:sp>
      <p:sp>
        <p:nvSpPr>
          <p:cNvPr id="30" name="Text 28"/>
          <p:cNvSpPr/>
          <p:nvPr/>
        </p:nvSpPr>
        <p:spPr>
          <a:xfrm>
            <a:off x="8375904" y="2633472"/>
            <a:ext cx="1161288" cy="274320"/>
          </a:xfrm>
          <a:prstGeom prst="rect">
            <a:avLst/>
          </a:prstGeom>
          <a:noFill/>
          <a:ln/>
        </p:spPr>
        <p:txBody>
          <a:bodyPr wrap="square" lIns="0" tIns="0" rIns="0" bIns="0" rtlCol="0" anchor="t">
            <a:normAutofit/>
          </a:bodyPr>
          <a:lstStyle/>
          <a:p>
            <a:pPr marL="0" indent="0" algn="l">
              <a:buNone/>
            </a:pPr>
            <a:r>
              <a:rPr lang="en-US" sz="1800" b="1" dirty="0">
                <a:solidFill>
                  <a:srgbClr val="0E9F9A"/>
                </a:solidFill>
                <a:latin typeface="Times New Roman" panose="02020603050405020304" pitchFamily="18" charset="0"/>
                <a:ea typeface="Aptos" pitchFamily="34" charset="-122"/>
                <a:cs typeface="Times New Roman" panose="02020603050405020304" pitchFamily="18" charset="0"/>
              </a:rPr>
              <a:t>24</a:t>
            </a:r>
            <a:endParaRPr lang="en-US" sz="1800" dirty="0">
              <a:latin typeface="Times New Roman" panose="02020603050405020304" pitchFamily="18" charset="0"/>
              <a:cs typeface="Times New Roman" panose="02020603050405020304" pitchFamily="18" charset="0"/>
            </a:endParaRPr>
          </a:p>
        </p:txBody>
      </p:sp>
      <p:sp>
        <p:nvSpPr>
          <p:cNvPr id="31" name="Text 29"/>
          <p:cNvSpPr/>
          <p:nvPr/>
        </p:nvSpPr>
        <p:spPr>
          <a:xfrm>
            <a:off x="8375904" y="2926080"/>
            <a:ext cx="1161288" cy="128016"/>
          </a:xfrm>
          <a:prstGeom prst="rect">
            <a:avLst/>
          </a:prstGeom>
          <a:noFill/>
          <a:ln/>
        </p:spPr>
        <p:txBody>
          <a:bodyPr wrap="square" lIns="0" tIns="0" rIns="0" bIns="0" rtlCol="0" anchor="t">
            <a:normAutofit/>
          </a:bodyPr>
          <a:lstStyle/>
          <a:p>
            <a:pPr marL="0" indent="0" algn="l">
              <a:buNone/>
            </a:pPr>
            <a:r>
              <a:rPr lang="en-US" sz="770" dirty="0">
                <a:solidFill>
                  <a:srgbClr val="63758A"/>
                </a:solidFill>
                <a:latin typeface="Times New Roman" panose="02020603050405020304" pitchFamily="18" charset="0"/>
                <a:ea typeface="Aptos" pitchFamily="34" charset="-122"/>
                <a:cs typeface="Times New Roman" panose="02020603050405020304" pitchFamily="18" charset="0"/>
              </a:rPr>
              <a:t>14 số + 10 loại</a:t>
            </a:r>
            <a:endParaRPr lang="en-US" sz="770" dirty="0">
              <a:latin typeface="Times New Roman" panose="02020603050405020304" pitchFamily="18" charset="0"/>
              <a:cs typeface="Times New Roman" panose="02020603050405020304" pitchFamily="18" charset="0"/>
            </a:endParaRPr>
          </a:p>
        </p:txBody>
      </p:sp>
      <p:sp>
        <p:nvSpPr>
          <p:cNvPr id="32" name="Shape 30"/>
          <p:cNvSpPr/>
          <p:nvPr/>
        </p:nvSpPr>
        <p:spPr>
          <a:xfrm>
            <a:off x="9765792" y="2331720"/>
            <a:ext cx="1417320" cy="768096"/>
          </a:xfrm>
          <a:prstGeom prst="roundRect">
            <a:avLst>
              <a:gd name="adj" fmla="val 11905"/>
            </a:avLst>
          </a:prstGeom>
          <a:solidFill>
            <a:srgbClr val="FFFFFF"/>
          </a:solidFill>
          <a:ln w="10160">
            <a:solidFill>
              <a:srgbClr val="D9E3EE"/>
            </a:solidFill>
            <a:prstDash val="solid"/>
          </a:ln>
        </p:spPr>
      </p:sp>
      <p:sp>
        <p:nvSpPr>
          <p:cNvPr id="33" name="Shape 31"/>
          <p:cNvSpPr/>
          <p:nvPr/>
        </p:nvSpPr>
        <p:spPr>
          <a:xfrm>
            <a:off x="9765792" y="2331720"/>
            <a:ext cx="54864" cy="768096"/>
          </a:xfrm>
          <a:prstGeom prst="rect">
            <a:avLst/>
          </a:prstGeom>
          <a:solidFill>
            <a:srgbClr val="E7A61A"/>
          </a:solidFill>
          <a:ln w="12700">
            <a:solidFill>
              <a:srgbClr val="E7A61A"/>
            </a:solidFill>
            <a:prstDash val="solid"/>
          </a:ln>
        </p:spPr>
      </p:sp>
      <p:sp>
        <p:nvSpPr>
          <p:cNvPr id="34" name="Text 32"/>
          <p:cNvSpPr/>
          <p:nvPr/>
        </p:nvSpPr>
        <p:spPr>
          <a:xfrm>
            <a:off x="9930384" y="2450592"/>
            <a:ext cx="1161288"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Times New Roman" panose="02020603050405020304" pitchFamily="18" charset="0"/>
                <a:ea typeface="Aptos" pitchFamily="34" charset="-122"/>
                <a:cs typeface="Times New Roman" panose="02020603050405020304" pitchFamily="18" charset="0"/>
              </a:rPr>
              <a:t>CỘT GỐC</a:t>
            </a:r>
            <a:endParaRPr lang="en-US" sz="850" dirty="0">
              <a:latin typeface="Times New Roman" panose="02020603050405020304" pitchFamily="18" charset="0"/>
              <a:cs typeface="Times New Roman" panose="02020603050405020304" pitchFamily="18" charset="0"/>
            </a:endParaRPr>
          </a:p>
        </p:txBody>
      </p:sp>
      <p:sp>
        <p:nvSpPr>
          <p:cNvPr id="35" name="Text 33"/>
          <p:cNvSpPr/>
          <p:nvPr/>
        </p:nvSpPr>
        <p:spPr>
          <a:xfrm>
            <a:off x="9930384" y="2633472"/>
            <a:ext cx="1161288" cy="274320"/>
          </a:xfrm>
          <a:prstGeom prst="rect">
            <a:avLst/>
          </a:prstGeom>
          <a:noFill/>
          <a:ln/>
        </p:spPr>
        <p:txBody>
          <a:bodyPr wrap="square" lIns="0" tIns="0" rIns="0" bIns="0" rtlCol="0" anchor="t">
            <a:normAutofit/>
          </a:bodyPr>
          <a:lstStyle/>
          <a:p>
            <a:pPr marL="0" indent="0" algn="l">
              <a:buNone/>
            </a:pPr>
            <a:r>
              <a:rPr lang="en-US" sz="1800" b="1" dirty="0">
                <a:solidFill>
                  <a:srgbClr val="E7A61A"/>
                </a:solidFill>
                <a:latin typeface="Times New Roman" panose="02020603050405020304" pitchFamily="18" charset="0"/>
                <a:ea typeface="Aptos" pitchFamily="34" charset="-122"/>
                <a:cs typeface="Times New Roman" panose="02020603050405020304" pitchFamily="18" charset="0"/>
              </a:rPr>
              <a:t>26</a:t>
            </a:r>
            <a:endParaRPr lang="en-US" sz="1800" dirty="0">
              <a:latin typeface="Times New Roman" panose="02020603050405020304" pitchFamily="18" charset="0"/>
              <a:cs typeface="Times New Roman" panose="02020603050405020304" pitchFamily="18" charset="0"/>
            </a:endParaRPr>
          </a:p>
        </p:txBody>
      </p:sp>
      <p:sp>
        <p:nvSpPr>
          <p:cNvPr id="36" name="Text 34"/>
          <p:cNvSpPr/>
          <p:nvPr/>
        </p:nvSpPr>
        <p:spPr>
          <a:xfrm>
            <a:off x="9930384" y="2926080"/>
            <a:ext cx="1161288" cy="128016"/>
          </a:xfrm>
          <a:prstGeom prst="rect">
            <a:avLst/>
          </a:prstGeom>
          <a:noFill/>
          <a:ln/>
        </p:spPr>
        <p:txBody>
          <a:bodyPr wrap="square" lIns="0" tIns="0" rIns="0" bIns="0" rtlCol="0" anchor="t">
            <a:normAutofit/>
          </a:bodyPr>
          <a:lstStyle/>
          <a:p>
            <a:pPr marL="0" indent="0" algn="l">
              <a:buNone/>
            </a:pPr>
            <a:r>
              <a:rPr lang="en-US" sz="770" dirty="0">
                <a:solidFill>
                  <a:srgbClr val="63758A"/>
                </a:solidFill>
                <a:latin typeface="Times New Roman" panose="02020603050405020304" pitchFamily="18" charset="0"/>
                <a:ea typeface="Aptos" pitchFamily="34" charset="-122"/>
                <a:cs typeface="Times New Roman" panose="02020603050405020304" pitchFamily="18" charset="0"/>
              </a:rPr>
              <a:t>id + 24 + target</a:t>
            </a:r>
            <a:endParaRPr lang="en-US" sz="770" dirty="0">
              <a:latin typeface="Times New Roman" panose="02020603050405020304" pitchFamily="18" charset="0"/>
              <a:cs typeface="Times New Roman" panose="02020603050405020304" pitchFamily="18" charset="0"/>
            </a:endParaRPr>
          </a:p>
        </p:txBody>
      </p:sp>
      <p:sp>
        <p:nvSpPr>
          <p:cNvPr id="37" name="Text 35"/>
          <p:cNvSpPr/>
          <p:nvPr/>
        </p:nvSpPr>
        <p:spPr>
          <a:xfrm>
            <a:off x="6656832" y="3401568"/>
            <a:ext cx="2103120" cy="274320"/>
          </a:xfrm>
          <a:prstGeom prst="rect">
            <a:avLst/>
          </a:prstGeom>
          <a:noFill/>
          <a:ln/>
        </p:spPr>
        <p:txBody>
          <a:bodyPr wrap="square" lIns="0" tIns="0" rIns="0" bIns="0" rtlCol="0" anchor="t">
            <a:normAutofit/>
          </a:bodyPr>
          <a:lstStyle/>
          <a:p>
            <a:pPr marL="0" indent="0" algn="l">
              <a:buNone/>
            </a:pPr>
            <a:r>
              <a:rPr lang="en-US" sz="1300" b="1" dirty="0">
                <a:solidFill>
                  <a:srgbClr val="102A43"/>
                </a:solidFill>
                <a:latin typeface="Times New Roman" panose="02020603050405020304" pitchFamily="18" charset="0"/>
                <a:ea typeface="Aptos" pitchFamily="34" charset="-122"/>
                <a:cs typeface="Times New Roman" panose="02020603050405020304" pitchFamily="18" charset="0"/>
              </a:rPr>
              <a:t>Phân bố biến mục tiêu</a:t>
            </a:r>
            <a:endParaRPr lang="en-US" sz="1300" dirty="0">
              <a:latin typeface="Times New Roman" panose="02020603050405020304" pitchFamily="18" charset="0"/>
              <a:cs typeface="Times New Roman" panose="02020603050405020304" pitchFamily="18" charset="0"/>
            </a:endParaRPr>
          </a:p>
        </p:txBody>
      </p:sp>
      <p:sp>
        <p:nvSpPr>
          <p:cNvPr id="38" name="Shape 36"/>
          <p:cNvSpPr/>
          <p:nvPr/>
        </p:nvSpPr>
        <p:spPr>
          <a:xfrm>
            <a:off x="6656832" y="3822192"/>
            <a:ext cx="4526280" cy="676656"/>
          </a:xfrm>
          <a:prstGeom prst="roundRect">
            <a:avLst/>
          </a:prstGeom>
          <a:solidFill>
            <a:srgbClr val="EDF4FF"/>
          </a:solidFill>
          <a:ln w="12700">
            <a:solidFill>
              <a:srgbClr val="EDF4FF"/>
            </a:solidFill>
            <a:prstDash val="solid"/>
          </a:ln>
        </p:spPr>
      </p:sp>
      <p:sp>
        <p:nvSpPr>
          <p:cNvPr id="39" name="Text 37"/>
          <p:cNvSpPr/>
          <p:nvPr/>
        </p:nvSpPr>
        <p:spPr>
          <a:xfrm>
            <a:off x="6903720" y="3977640"/>
            <a:ext cx="685800" cy="219456"/>
          </a:xfrm>
          <a:prstGeom prst="rect">
            <a:avLst/>
          </a:prstGeom>
          <a:noFill/>
          <a:ln/>
        </p:spPr>
        <p:txBody>
          <a:bodyPr wrap="square" lIns="0" tIns="0" rIns="0" bIns="0" rtlCol="0" anchor="t">
            <a:normAutofit/>
          </a:bodyPr>
          <a:lstStyle/>
          <a:p>
            <a:pPr marL="0" indent="0" algn="l">
              <a:buNone/>
            </a:pPr>
            <a:r>
              <a:rPr lang="en-US" sz="1100" b="1" dirty="0">
                <a:solidFill>
                  <a:srgbClr val="2457D6"/>
                </a:solidFill>
                <a:latin typeface="Times New Roman" panose="02020603050405020304" pitchFamily="18" charset="0"/>
                <a:ea typeface="Aptos" pitchFamily="34" charset="-122"/>
                <a:cs typeface="Times New Roman" panose="02020603050405020304" pitchFamily="18" charset="0"/>
              </a:rPr>
              <a:t>CKD</a:t>
            </a:r>
            <a:endParaRPr lang="en-US" sz="1100" dirty="0">
              <a:latin typeface="Times New Roman" panose="02020603050405020304" pitchFamily="18" charset="0"/>
              <a:cs typeface="Times New Roman" panose="02020603050405020304" pitchFamily="18" charset="0"/>
            </a:endParaRPr>
          </a:p>
        </p:txBody>
      </p:sp>
      <p:sp>
        <p:nvSpPr>
          <p:cNvPr id="40" name="Text 38"/>
          <p:cNvSpPr/>
          <p:nvPr/>
        </p:nvSpPr>
        <p:spPr>
          <a:xfrm>
            <a:off x="7726680" y="3941064"/>
            <a:ext cx="1755648" cy="274320"/>
          </a:xfrm>
          <a:prstGeom prst="rect">
            <a:avLst/>
          </a:prstGeom>
          <a:noFill/>
          <a:ln/>
        </p:spPr>
        <p:txBody>
          <a:bodyPr wrap="square" lIns="0" tIns="0" rIns="0" bIns="0" rtlCol="0" anchor="t">
            <a:normAutofit/>
          </a:bodyPr>
          <a:lstStyle/>
          <a:p>
            <a:pPr marL="0" indent="0" algn="l">
              <a:buNone/>
            </a:pPr>
            <a:r>
              <a:rPr lang="en-US" sz="1500" b="1" dirty="0">
                <a:solidFill>
                  <a:srgbClr val="102A43"/>
                </a:solidFill>
                <a:latin typeface="Times New Roman" panose="02020603050405020304" pitchFamily="18" charset="0"/>
                <a:ea typeface="Aptos" pitchFamily="34" charset="-122"/>
                <a:cs typeface="Times New Roman" panose="02020603050405020304" pitchFamily="18" charset="0"/>
              </a:rPr>
              <a:t>250 mẫu  •  62,5%</a:t>
            </a:r>
            <a:endParaRPr lang="en-US" sz="1500" dirty="0">
              <a:latin typeface="Times New Roman" panose="02020603050405020304" pitchFamily="18" charset="0"/>
              <a:cs typeface="Times New Roman" panose="02020603050405020304" pitchFamily="18" charset="0"/>
            </a:endParaRPr>
          </a:p>
        </p:txBody>
      </p:sp>
      <p:sp>
        <p:nvSpPr>
          <p:cNvPr id="41" name="Shape 39"/>
          <p:cNvSpPr/>
          <p:nvPr/>
        </p:nvSpPr>
        <p:spPr>
          <a:xfrm>
            <a:off x="6656832" y="4645152"/>
            <a:ext cx="4526280" cy="676656"/>
          </a:xfrm>
          <a:prstGeom prst="roundRect">
            <a:avLst/>
          </a:prstGeom>
          <a:solidFill>
            <a:srgbClr val="EAF8F7"/>
          </a:solidFill>
          <a:ln w="12700">
            <a:solidFill>
              <a:srgbClr val="EAF8F7"/>
            </a:solidFill>
            <a:prstDash val="solid"/>
          </a:ln>
        </p:spPr>
      </p:sp>
      <p:sp>
        <p:nvSpPr>
          <p:cNvPr id="42" name="Text 40"/>
          <p:cNvSpPr/>
          <p:nvPr/>
        </p:nvSpPr>
        <p:spPr>
          <a:xfrm>
            <a:off x="6903720" y="4800600"/>
            <a:ext cx="685800" cy="219456"/>
          </a:xfrm>
          <a:prstGeom prst="rect">
            <a:avLst/>
          </a:prstGeom>
          <a:noFill/>
          <a:ln/>
        </p:spPr>
        <p:txBody>
          <a:bodyPr wrap="square" lIns="0" tIns="0" rIns="0" bIns="0" rtlCol="0" anchor="t">
            <a:normAutofit/>
          </a:bodyPr>
          <a:lstStyle/>
          <a:p>
            <a:pPr marL="0" indent="0" algn="l">
              <a:buNone/>
            </a:pPr>
            <a:r>
              <a:rPr lang="en-US" sz="1100" b="1" dirty="0">
                <a:solidFill>
                  <a:srgbClr val="0E9F9A"/>
                </a:solidFill>
                <a:latin typeface="Times New Roman" panose="02020603050405020304" pitchFamily="18" charset="0"/>
                <a:ea typeface="Aptos" pitchFamily="34" charset="-122"/>
                <a:cs typeface="Times New Roman" panose="02020603050405020304" pitchFamily="18" charset="0"/>
              </a:rPr>
              <a:t>NOTCKD</a:t>
            </a:r>
            <a:endParaRPr lang="en-US" sz="1100" dirty="0">
              <a:latin typeface="Times New Roman" panose="02020603050405020304" pitchFamily="18" charset="0"/>
              <a:cs typeface="Times New Roman" panose="02020603050405020304" pitchFamily="18" charset="0"/>
            </a:endParaRPr>
          </a:p>
        </p:txBody>
      </p:sp>
      <p:sp>
        <p:nvSpPr>
          <p:cNvPr id="43" name="Text 41"/>
          <p:cNvSpPr/>
          <p:nvPr/>
        </p:nvSpPr>
        <p:spPr>
          <a:xfrm>
            <a:off x="7726680" y="4764024"/>
            <a:ext cx="1755648" cy="274320"/>
          </a:xfrm>
          <a:prstGeom prst="rect">
            <a:avLst/>
          </a:prstGeom>
          <a:noFill/>
          <a:ln/>
        </p:spPr>
        <p:txBody>
          <a:bodyPr wrap="square" lIns="0" tIns="0" rIns="0" bIns="0" rtlCol="0" anchor="t">
            <a:normAutofit/>
          </a:bodyPr>
          <a:lstStyle/>
          <a:p>
            <a:pPr marL="0" indent="0" algn="l">
              <a:buNone/>
            </a:pPr>
            <a:r>
              <a:rPr lang="en-US" sz="1500" b="1" dirty="0">
                <a:solidFill>
                  <a:srgbClr val="102A43"/>
                </a:solidFill>
                <a:latin typeface="Times New Roman" panose="02020603050405020304" pitchFamily="18" charset="0"/>
                <a:ea typeface="Aptos" pitchFamily="34" charset="-122"/>
                <a:cs typeface="Times New Roman" panose="02020603050405020304" pitchFamily="18" charset="0"/>
              </a:rPr>
              <a:t>150 mẫu  •  37,5%</a:t>
            </a:r>
            <a:endParaRPr lang="en-US" sz="1500" dirty="0">
              <a:latin typeface="Times New Roman" panose="02020603050405020304" pitchFamily="18" charset="0"/>
              <a:cs typeface="Times New Roman" panose="02020603050405020304" pitchFamily="18" charset="0"/>
            </a:endParaRPr>
          </a:p>
        </p:txBody>
      </p:sp>
      <p:sp>
        <p:nvSpPr>
          <p:cNvPr id="44" name="Text 42"/>
          <p:cNvSpPr/>
          <p:nvPr/>
        </p:nvSpPr>
        <p:spPr>
          <a:xfrm>
            <a:off x="640080" y="6291072"/>
            <a:ext cx="9875520" cy="182880"/>
          </a:xfrm>
          <a:prstGeom prst="rect">
            <a:avLst/>
          </a:prstGeom>
          <a:noFill/>
          <a:ln/>
        </p:spPr>
        <p:txBody>
          <a:bodyPr wrap="square" lIns="0" tIns="0" rIns="0" bIns="0" rtlCol="0" anchor="t">
            <a:normAutofit/>
          </a:bodyPr>
          <a:lstStyle/>
          <a:p>
            <a:pPr marL="0" indent="0" algn="l">
              <a:buNone/>
            </a:pPr>
            <a:r>
              <a:rPr lang="en-US" sz="860" dirty="0">
                <a:solidFill>
                  <a:srgbClr val="63758A"/>
                </a:solidFill>
                <a:latin typeface="Times New Roman" panose="02020603050405020304" pitchFamily="18" charset="0"/>
                <a:ea typeface="Aptos" pitchFamily="34" charset="-122"/>
                <a:cs typeface="Times New Roman" panose="02020603050405020304" pitchFamily="18" charset="0"/>
              </a:rPr>
              <a:t>Nguồn báo cáo: Chronic Kidney Disease Dataset (Kaggle/UCI).</a:t>
            </a:r>
            <a:endParaRPr lang="en-US" sz="860" dirty="0">
              <a:latin typeface="Times New Roman" panose="02020603050405020304" pitchFamily="18" charset="0"/>
              <a:cs typeface="Times New Roman" panose="02020603050405020304" pitchFamily="18" charset="0"/>
            </a:endParaRPr>
          </a:p>
        </p:txBody>
      </p:sp>
      <p:sp>
        <p:nvSpPr>
          <p:cNvPr id="45"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
        <p:nvSpPr>
          <p:cNvPr id="46"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02</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latin typeface="Times New Roman" panose="02020603050405020304" pitchFamily="18" charset="0"/>
                <a:cs typeface="Times New Roman" panose="02020603050405020304" pitchFamily="18" charset="0"/>
              </a:rPr>
              <a:t>EDA — Phân bố lớp &amp; phân phối các biến số</a:t>
            </a:r>
            <a:endParaRPr lang="en-US" sz="2500" dirty="0">
              <a:latin typeface="Times New Roman" panose="02020603050405020304" pitchFamily="18" charset="0"/>
              <a:cs typeface="Times New Roman" panose="02020603050405020304" pitchFamily="18" charset="0"/>
            </a:endParaRPr>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200" dirty="0" smtClean="0">
                <a:solidFill>
                  <a:srgbClr val="63758A"/>
                </a:solidFill>
                <a:latin typeface="Times New Roman" panose="02020603050405020304" pitchFamily="18" charset="0"/>
                <a:cs typeface="Times New Roman" panose="02020603050405020304" pitchFamily="18" charset="0"/>
              </a:rPr>
              <a:t>Target </a:t>
            </a:r>
            <a:r>
              <a:rPr lang="en-US" sz="1200" dirty="0">
                <a:solidFill>
                  <a:srgbClr val="63758A"/>
                </a:solidFill>
                <a:latin typeface="Times New Roman" panose="02020603050405020304" pitchFamily="18" charset="0"/>
                <a:cs typeface="Times New Roman" panose="02020603050405020304" pitchFamily="18" charset="0"/>
              </a:rPr>
              <a:t>→ Numerical Distribution</a:t>
            </a:r>
            <a:endParaRPr lang="en-US" sz="1200" dirty="0">
              <a:latin typeface="Times New Roman" panose="02020603050405020304" pitchFamily="18" charset="0"/>
              <a:cs typeface="Times New Roman" panose="02020603050405020304" pitchFamily="18" charset="0"/>
            </a:endParaRPr>
          </a:p>
        </p:txBody>
      </p:sp>
      <p:sp>
        <p:nvSpPr>
          <p:cNvPr id="5" name="Shape 3"/>
          <p:cNvSpPr/>
          <p:nvPr/>
        </p:nvSpPr>
        <p:spPr>
          <a:xfrm>
            <a:off x="662940" y="1394460"/>
            <a:ext cx="3977640" cy="4729988"/>
          </a:xfrm>
          <a:prstGeom prst="roundRect">
            <a:avLst>
              <a:gd name="adj" fmla="val 2759"/>
            </a:avLst>
          </a:prstGeom>
          <a:solidFill>
            <a:srgbClr val="FFFFFF"/>
          </a:solidFill>
          <a:ln w="10160">
            <a:solidFill>
              <a:srgbClr val="D9E3EE"/>
            </a:solidFill>
            <a:prstDash val="solid"/>
          </a:ln>
          <a:effectLst>
            <a:outerShdw algn="bl" rotWithShape="0">
              <a:srgbClr val="000000">
                <a:alpha val="0"/>
              </a:srgbClr>
            </a:outerShdw>
          </a:effectLst>
        </p:spPr>
      </p:sp>
      <p:sp>
        <p:nvSpPr>
          <p:cNvPr id="6" name="Text 4"/>
          <p:cNvSpPr/>
          <p:nvPr/>
        </p:nvSpPr>
        <p:spPr>
          <a:xfrm>
            <a:off x="1938528" y="1564132"/>
            <a:ext cx="3200400" cy="256032"/>
          </a:xfrm>
          <a:prstGeom prst="rect">
            <a:avLst/>
          </a:prstGeom>
          <a:noFill/>
          <a:ln/>
        </p:spPr>
        <p:txBody>
          <a:bodyPr wrap="square" lIns="0" tIns="0" rIns="0" bIns="0" rtlCol="0" anchor="t">
            <a:normAutofit/>
          </a:bodyPr>
          <a:lstStyle/>
          <a:p>
            <a:pPr marL="0" indent="0" algn="l">
              <a:buNone/>
            </a:pPr>
            <a:r>
              <a:rPr lang="en-US" sz="1200" b="1" dirty="0" err="1" smtClean="0">
                <a:solidFill>
                  <a:srgbClr val="102A43"/>
                </a:solidFill>
                <a:latin typeface="Times New Roman" panose="02020603050405020304" pitchFamily="18" charset="0"/>
                <a:ea typeface="Aptos" pitchFamily="34" charset="-122"/>
                <a:cs typeface="Times New Roman" panose="02020603050405020304" pitchFamily="18" charset="0"/>
              </a:rPr>
              <a:t>Phân</a:t>
            </a:r>
            <a:r>
              <a:rPr lang="en-US" sz="1200" b="1" dirty="0" smtClean="0">
                <a:solidFill>
                  <a:srgbClr val="102A43"/>
                </a:solidFill>
                <a:latin typeface="Times New Roman" panose="02020603050405020304" pitchFamily="18" charset="0"/>
                <a:ea typeface="Aptos" pitchFamily="34" charset="-122"/>
                <a:cs typeface="Times New Roman" panose="02020603050405020304" pitchFamily="18" charset="0"/>
              </a:rPr>
              <a:t> </a:t>
            </a:r>
            <a:r>
              <a:rPr lang="en-US" sz="1200" b="1" dirty="0">
                <a:solidFill>
                  <a:srgbClr val="102A43"/>
                </a:solidFill>
                <a:latin typeface="Times New Roman" panose="02020603050405020304" pitchFamily="18" charset="0"/>
                <a:ea typeface="Aptos" pitchFamily="34" charset="-122"/>
                <a:cs typeface="Times New Roman" panose="02020603050405020304" pitchFamily="18" charset="0"/>
              </a:rPr>
              <a:t>bố biến mục tiêu</a:t>
            </a:r>
            <a:endParaRPr lang="en-US" sz="1200" dirty="0">
              <a:latin typeface="Times New Roman" panose="02020603050405020304" pitchFamily="18" charset="0"/>
              <a:cs typeface="Times New Roman" panose="02020603050405020304" pitchFamily="18" charset="0"/>
            </a:endParaRPr>
          </a:p>
        </p:txBody>
      </p:sp>
      <p:pic>
        <p:nvPicPr>
          <p:cNvPr id="7" name="Image 0" descr="/mnt/data/01_target_distribution.png"/>
          <p:cNvPicPr>
            <a:picLocks noChangeAspect="1"/>
          </p:cNvPicPr>
          <p:nvPr/>
        </p:nvPicPr>
        <p:blipFill>
          <a:blip r:embed="rId3"/>
          <a:stretch>
            <a:fillRect/>
          </a:stretch>
        </p:blipFill>
        <p:spPr>
          <a:xfrm>
            <a:off x="751990" y="1773936"/>
            <a:ext cx="3731109" cy="2741168"/>
          </a:xfrm>
          <a:prstGeom prst="rect">
            <a:avLst/>
          </a:prstGeom>
        </p:spPr>
      </p:pic>
      <p:sp>
        <p:nvSpPr>
          <p:cNvPr id="8" name="Text 5"/>
          <p:cNvSpPr/>
          <p:nvPr/>
        </p:nvSpPr>
        <p:spPr>
          <a:xfrm>
            <a:off x="896112" y="4681728"/>
            <a:ext cx="3456432" cy="1051560"/>
          </a:xfrm>
          <a:prstGeom prst="rect">
            <a:avLst/>
          </a:prstGeom>
          <a:noFill/>
          <a:ln/>
        </p:spPr>
        <p:txBody>
          <a:bodyPr wrap="square" lIns="0" tIns="0" rIns="0" bIns="0" rtlCol="0" anchor="ctr">
            <a:normAutofit/>
          </a:bodyPr>
          <a:lstStyle/>
          <a:p>
            <a:pPr marL="0" indent="0">
              <a:buNone/>
            </a:pPr>
            <a:r>
              <a:rPr lang="en-US" sz="1130" b="1" dirty="0">
                <a:solidFill>
                  <a:srgbClr val="2457D6"/>
                </a:solidFill>
                <a:latin typeface="Times New Roman" panose="02020603050405020304" pitchFamily="18" charset="0"/>
                <a:ea typeface="Aptos" pitchFamily="34" charset="-122"/>
                <a:cs typeface="Times New Roman" panose="02020603050405020304" pitchFamily="18" charset="0"/>
              </a:rPr>
              <a:t>• </a:t>
            </a:r>
            <a:r>
              <a:rPr lang="en-US" sz="1130" dirty="0">
                <a:solidFill>
                  <a:srgbClr val="243B53"/>
                </a:solidFill>
                <a:latin typeface="Times New Roman" panose="02020603050405020304" pitchFamily="18" charset="0"/>
                <a:ea typeface="Aptos" pitchFamily="34" charset="-122"/>
                <a:cs typeface="Times New Roman" panose="02020603050405020304" pitchFamily="18" charset="0"/>
              </a:rPr>
              <a:t>CKD: 250 mẫu (62,5%).</a:t>
            </a:r>
            <a:r>
              <a:rPr lang="en-US" sz="113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130" dirty="0">
              <a:latin typeface="Times New Roman" panose="02020603050405020304" pitchFamily="18" charset="0"/>
              <a:cs typeface="Times New Roman" panose="02020603050405020304" pitchFamily="18" charset="0"/>
            </a:endParaRPr>
          </a:p>
          <a:p>
            <a:pPr marL="0" indent="0">
              <a:buNone/>
            </a:pPr>
            <a:r>
              <a:rPr lang="en-US" sz="1130" b="1" dirty="0">
                <a:solidFill>
                  <a:srgbClr val="2457D6"/>
                </a:solidFill>
                <a:latin typeface="Times New Roman" panose="02020603050405020304" pitchFamily="18" charset="0"/>
                <a:ea typeface="Aptos" pitchFamily="34" charset="-122"/>
                <a:cs typeface="Times New Roman" panose="02020603050405020304" pitchFamily="18" charset="0"/>
              </a:rPr>
              <a:t>• </a:t>
            </a:r>
            <a:r>
              <a:rPr lang="en-US" sz="1130" dirty="0">
                <a:solidFill>
                  <a:srgbClr val="243B53"/>
                </a:solidFill>
                <a:latin typeface="Times New Roman" panose="02020603050405020304" pitchFamily="18" charset="0"/>
                <a:ea typeface="Aptos" pitchFamily="34" charset="-122"/>
                <a:cs typeface="Times New Roman" panose="02020603050405020304" pitchFamily="18" charset="0"/>
              </a:rPr>
              <a:t>NOTCKD: 150 mẫu (37,5%).</a:t>
            </a:r>
            <a:r>
              <a:rPr lang="en-US" sz="113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130" dirty="0">
              <a:latin typeface="Times New Roman" panose="02020603050405020304" pitchFamily="18" charset="0"/>
              <a:cs typeface="Times New Roman" panose="02020603050405020304" pitchFamily="18" charset="0"/>
            </a:endParaRPr>
          </a:p>
          <a:p>
            <a:pPr marL="0" indent="0">
              <a:buNone/>
            </a:pPr>
            <a:r>
              <a:rPr lang="en-US" sz="1130" b="1" dirty="0">
                <a:solidFill>
                  <a:srgbClr val="2457D6"/>
                </a:solidFill>
                <a:latin typeface="Times New Roman" panose="02020603050405020304" pitchFamily="18" charset="0"/>
                <a:ea typeface="Aptos" pitchFamily="34" charset="-122"/>
                <a:cs typeface="Times New Roman" panose="02020603050405020304" pitchFamily="18" charset="0"/>
              </a:rPr>
              <a:t>• </a:t>
            </a:r>
            <a:r>
              <a:rPr lang="en-US" sz="1130" dirty="0">
                <a:solidFill>
                  <a:srgbClr val="243B53"/>
                </a:solidFill>
                <a:latin typeface="Times New Roman" panose="02020603050405020304" pitchFamily="18" charset="0"/>
                <a:ea typeface="Aptos" pitchFamily="34" charset="-122"/>
                <a:cs typeface="Times New Roman" panose="02020603050405020304" pitchFamily="18" charset="0"/>
              </a:rPr>
              <a:t>Dùng Stratified Split để giữ tỷ lệ lớp trên Train/Test.</a:t>
            </a:r>
            <a:endParaRPr lang="en-US" sz="1130" dirty="0">
              <a:latin typeface="Times New Roman" panose="02020603050405020304" pitchFamily="18" charset="0"/>
              <a:cs typeface="Times New Roman" panose="02020603050405020304" pitchFamily="18" charset="0"/>
            </a:endParaRPr>
          </a:p>
        </p:txBody>
      </p:sp>
      <p:sp>
        <p:nvSpPr>
          <p:cNvPr id="9" name="Shape 6"/>
          <p:cNvSpPr/>
          <p:nvPr/>
        </p:nvSpPr>
        <p:spPr>
          <a:xfrm>
            <a:off x="4850892" y="1389888"/>
            <a:ext cx="6702552" cy="4734560"/>
          </a:xfrm>
          <a:prstGeom prst="roundRect">
            <a:avLst>
              <a:gd name="adj" fmla="val 2424"/>
            </a:avLst>
          </a:prstGeom>
          <a:solidFill>
            <a:srgbClr val="FFFFFF"/>
          </a:solidFill>
          <a:ln w="10160">
            <a:solidFill>
              <a:srgbClr val="D9E3EE"/>
            </a:solidFill>
            <a:prstDash val="solid"/>
          </a:ln>
          <a:effectLst>
            <a:outerShdw algn="bl" rotWithShape="0">
              <a:srgbClr val="000000">
                <a:alpha val="0"/>
              </a:srgbClr>
            </a:outerShdw>
          </a:effectLst>
        </p:spPr>
      </p:sp>
      <p:sp>
        <p:nvSpPr>
          <p:cNvPr id="10" name="Text 7"/>
          <p:cNvSpPr/>
          <p:nvPr/>
        </p:nvSpPr>
        <p:spPr>
          <a:xfrm>
            <a:off x="7699248" y="1517904"/>
            <a:ext cx="3749040" cy="256032"/>
          </a:xfrm>
          <a:prstGeom prst="rect">
            <a:avLst/>
          </a:prstGeom>
          <a:noFill/>
          <a:ln/>
        </p:spPr>
        <p:txBody>
          <a:bodyPr wrap="square" lIns="0" tIns="0" rIns="0" bIns="0" rtlCol="0" anchor="t">
            <a:normAutofit/>
          </a:bodyPr>
          <a:lstStyle/>
          <a:p>
            <a:pPr marL="0" indent="0" algn="l">
              <a:buNone/>
            </a:pPr>
            <a:r>
              <a:rPr lang="en-US" sz="1200" b="1" dirty="0" err="1" smtClean="0">
                <a:solidFill>
                  <a:srgbClr val="102A43"/>
                </a:solidFill>
                <a:latin typeface="Times New Roman" panose="02020603050405020304" pitchFamily="18" charset="0"/>
                <a:ea typeface="Aptos" pitchFamily="34" charset="-122"/>
                <a:cs typeface="Times New Roman" panose="02020603050405020304" pitchFamily="18" charset="0"/>
              </a:rPr>
              <a:t>Phân</a:t>
            </a:r>
            <a:r>
              <a:rPr lang="en-US" sz="1200" b="1" dirty="0" smtClean="0">
                <a:solidFill>
                  <a:srgbClr val="102A43"/>
                </a:solidFill>
                <a:latin typeface="Times New Roman" panose="02020603050405020304" pitchFamily="18" charset="0"/>
                <a:ea typeface="Aptos" pitchFamily="34" charset="-122"/>
                <a:cs typeface="Times New Roman" panose="02020603050405020304" pitchFamily="18" charset="0"/>
              </a:rPr>
              <a:t> </a:t>
            </a:r>
            <a:r>
              <a:rPr lang="en-US" sz="1200" b="1" dirty="0">
                <a:solidFill>
                  <a:srgbClr val="102A43"/>
                </a:solidFill>
                <a:latin typeface="Times New Roman" panose="02020603050405020304" pitchFamily="18" charset="0"/>
                <a:ea typeface="Aptos" pitchFamily="34" charset="-122"/>
                <a:cs typeface="Times New Roman" panose="02020603050405020304" pitchFamily="18" charset="0"/>
              </a:rPr>
              <a:t>bố 14 biến numeric</a:t>
            </a:r>
            <a:endParaRPr lang="en-US" sz="1200" dirty="0">
              <a:latin typeface="Times New Roman" panose="02020603050405020304" pitchFamily="18" charset="0"/>
              <a:cs typeface="Times New Roman" panose="02020603050405020304" pitchFamily="18" charset="0"/>
            </a:endParaRPr>
          </a:p>
        </p:txBody>
      </p:sp>
      <p:pic>
        <p:nvPicPr>
          <p:cNvPr id="11" name="Image 1" descr="/mnt/data/02_numerical_distribution.png"/>
          <p:cNvPicPr>
            <a:picLocks noChangeAspect="1"/>
          </p:cNvPicPr>
          <p:nvPr/>
        </p:nvPicPr>
        <p:blipFill>
          <a:blip r:embed="rId4"/>
          <a:stretch>
            <a:fillRect/>
          </a:stretch>
        </p:blipFill>
        <p:spPr>
          <a:xfrm>
            <a:off x="5645581" y="1726144"/>
            <a:ext cx="5017667" cy="3581948"/>
          </a:xfrm>
          <a:prstGeom prst="rect">
            <a:avLst/>
          </a:prstGeom>
        </p:spPr>
      </p:pic>
      <p:sp>
        <p:nvSpPr>
          <p:cNvPr id="12" name="Shape 8"/>
          <p:cNvSpPr/>
          <p:nvPr/>
        </p:nvSpPr>
        <p:spPr>
          <a:xfrm>
            <a:off x="5138928" y="5321808"/>
            <a:ext cx="2240280" cy="310896"/>
          </a:xfrm>
          <a:prstGeom prst="roundRect">
            <a:avLst/>
          </a:prstGeom>
          <a:solidFill>
            <a:srgbClr val="FFF7E6"/>
          </a:solidFill>
          <a:ln w="12700">
            <a:solidFill>
              <a:srgbClr val="FFF7E6"/>
            </a:solidFill>
            <a:prstDash val="solid"/>
          </a:ln>
        </p:spPr>
      </p:sp>
      <p:sp>
        <p:nvSpPr>
          <p:cNvPr id="13" name="Text 9"/>
          <p:cNvSpPr/>
          <p:nvPr/>
        </p:nvSpPr>
        <p:spPr>
          <a:xfrm>
            <a:off x="5138928" y="5349240"/>
            <a:ext cx="2240280" cy="246888"/>
          </a:xfrm>
          <a:prstGeom prst="rect">
            <a:avLst/>
          </a:prstGeom>
          <a:noFill/>
          <a:ln/>
        </p:spPr>
        <p:txBody>
          <a:bodyPr wrap="square" lIns="0" tIns="0" rIns="0" bIns="0" rtlCol="0" anchor="ctr">
            <a:normAutofit/>
          </a:bodyPr>
          <a:lstStyle/>
          <a:p>
            <a:pPr marL="0" indent="0" algn="ctr">
              <a:buNone/>
            </a:pPr>
            <a:r>
              <a:rPr lang="en-US" sz="900" b="1" dirty="0">
                <a:solidFill>
                  <a:srgbClr val="E7A61A"/>
                </a:solidFill>
                <a:latin typeface="Times New Roman" panose="02020603050405020304" pitchFamily="18" charset="0"/>
                <a:ea typeface="Aptos" pitchFamily="34" charset="-122"/>
                <a:cs typeface="Times New Roman" panose="02020603050405020304" pitchFamily="18" charset="0"/>
              </a:rPr>
              <a:t>bgr / bu / sc / pot / su lệch phải</a:t>
            </a:r>
            <a:endParaRPr lang="en-US" sz="900" dirty="0">
              <a:latin typeface="Times New Roman" panose="02020603050405020304" pitchFamily="18" charset="0"/>
              <a:cs typeface="Times New Roman" panose="02020603050405020304" pitchFamily="18" charset="0"/>
            </a:endParaRPr>
          </a:p>
        </p:txBody>
      </p:sp>
      <p:sp>
        <p:nvSpPr>
          <p:cNvPr id="14" name="Shape 10"/>
          <p:cNvSpPr/>
          <p:nvPr/>
        </p:nvSpPr>
        <p:spPr>
          <a:xfrm>
            <a:off x="7498080" y="5321808"/>
            <a:ext cx="2011680" cy="310896"/>
          </a:xfrm>
          <a:prstGeom prst="roundRect">
            <a:avLst/>
          </a:prstGeom>
          <a:solidFill>
            <a:srgbClr val="EDF4FF"/>
          </a:solidFill>
          <a:ln w="12700">
            <a:solidFill>
              <a:srgbClr val="EDF4FF"/>
            </a:solidFill>
            <a:prstDash val="solid"/>
          </a:ln>
        </p:spPr>
      </p:sp>
      <p:sp>
        <p:nvSpPr>
          <p:cNvPr id="15" name="Text 11"/>
          <p:cNvSpPr/>
          <p:nvPr/>
        </p:nvSpPr>
        <p:spPr>
          <a:xfrm>
            <a:off x="7498080" y="5349240"/>
            <a:ext cx="2011680" cy="246888"/>
          </a:xfrm>
          <a:prstGeom prst="rect">
            <a:avLst/>
          </a:prstGeom>
          <a:noFill/>
          <a:ln/>
        </p:spPr>
        <p:txBody>
          <a:bodyPr wrap="square" lIns="0" tIns="0" rIns="0" bIns="0" rtlCol="0" anchor="ctr">
            <a:normAutofit/>
          </a:bodyPr>
          <a:lstStyle/>
          <a:p>
            <a:pPr marL="0" indent="0" algn="ctr">
              <a:buNone/>
            </a:pPr>
            <a:r>
              <a:rPr lang="en-US" sz="900" b="1" dirty="0">
                <a:solidFill>
                  <a:srgbClr val="2457D6"/>
                </a:solidFill>
                <a:latin typeface="Times New Roman" panose="02020603050405020304" pitchFamily="18" charset="0"/>
                <a:ea typeface="Aptos" pitchFamily="34" charset="-122"/>
                <a:cs typeface="Times New Roman" panose="02020603050405020304" pitchFamily="18" charset="0"/>
              </a:rPr>
              <a:t>thang đo giữa feature khác nhau</a:t>
            </a:r>
            <a:endParaRPr lang="en-US" sz="900" dirty="0">
              <a:latin typeface="Times New Roman" panose="02020603050405020304" pitchFamily="18" charset="0"/>
              <a:cs typeface="Times New Roman" panose="02020603050405020304" pitchFamily="18" charset="0"/>
            </a:endParaRPr>
          </a:p>
        </p:txBody>
      </p:sp>
      <p:sp>
        <p:nvSpPr>
          <p:cNvPr id="16" name="Shape 12"/>
          <p:cNvSpPr/>
          <p:nvPr/>
        </p:nvSpPr>
        <p:spPr>
          <a:xfrm>
            <a:off x="9646920" y="5321808"/>
            <a:ext cx="1508760" cy="310896"/>
          </a:xfrm>
          <a:prstGeom prst="roundRect">
            <a:avLst/>
          </a:prstGeom>
          <a:solidFill>
            <a:srgbClr val="EAF8F7"/>
          </a:solidFill>
          <a:ln w="12700">
            <a:solidFill>
              <a:srgbClr val="EAF8F7"/>
            </a:solidFill>
            <a:prstDash val="solid"/>
          </a:ln>
        </p:spPr>
      </p:sp>
      <p:sp>
        <p:nvSpPr>
          <p:cNvPr id="17" name="Text 13"/>
          <p:cNvSpPr/>
          <p:nvPr/>
        </p:nvSpPr>
        <p:spPr>
          <a:xfrm>
            <a:off x="9646920" y="5349240"/>
            <a:ext cx="1508760" cy="246888"/>
          </a:xfrm>
          <a:prstGeom prst="rect">
            <a:avLst/>
          </a:prstGeom>
          <a:noFill/>
          <a:ln/>
        </p:spPr>
        <p:txBody>
          <a:bodyPr wrap="square" lIns="0" tIns="0" rIns="0" bIns="0" rtlCol="0" anchor="ctr">
            <a:normAutofit/>
          </a:bodyPr>
          <a:lstStyle/>
          <a:p>
            <a:pPr marL="0" indent="0" algn="ctr">
              <a:buNone/>
            </a:pPr>
            <a:r>
              <a:rPr lang="en-US" sz="900" b="1" dirty="0">
                <a:solidFill>
                  <a:srgbClr val="0E9F9A"/>
                </a:solidFill>
                <a:latin typeface="Times New Roman" panose="02020603050405020304" pitchFamily="18" charset="0"/>
                <a:ea typeface="Aptos" pitchFamily="34" charset="-122"/>
                <a:cs typeface="Times New Roman" panose="02020603050405020304" pitchFamily="18" charset="0"/>
              </a:rPr>
              <a:t>StandardScaler cho numeric</a:t>
            </a:r>
            <a:endParaRPr lang="en-US" sz="900" dirty="0">
              <a:latin typeface="Times New Roman" panose="02020603050405020304" pitchFamily="18" charset="0"/>
              <a:cs typeface="Times New Roman" panose="02020603050405020304" pitchFamily="18" charset="0"/>
            </a:endParaRPr>
          </a:p>
        </p:txBody>
      </p:sp>
      <p:sp>
        <p:nvSpPr>
          <p:cNvPr id="18" name="Text 14"/>
          <p:cNvSpPr/>
          <p:nvPr/>
        </p:nvSpPr>
        <p:spPr>
          <a:xfrm>
            <a:off x="640080" y="6291072"/>
            <a:ext cx="9875520" cy="182880"/>
          </a:xfrm>
          <a:prstGeom prst="rect">
            <a:avLst/>
          </a:prstGeom>
          <a:noFill/>
          <a:ln/>
        </p:spPr>
        <p:txBody>
          <a:bodyPr wrap="square" lIns="0" tIns="0" rIns="0" bIns="0" rtlCol="0" anchor="t">
            <a:normAutofit/>
          </a:bodyPr>
          <a:lstStyle/>
          <a:p>
            <a:pPr marL="0" indent="0" algn="l">
              <a:buNone/>
            </a:pPr>
            <a:r>
              <a:rPr lang="en-US" sz="860" dirty="0">
                <a:solidFill>
                  <a:srgbClr val="63758A"/>
                </a:solidFill>
                <a:latin typeface="Times New Roman" panose="02020603050405020304" pitchFamily="18" charset="0"/>
                <a:ea typeface="Aptos" pitchFamily="34" charset="-122"/>
                <a:cs typeface="Times New Roman" panose="02020603050405020304" pitchFamily="18" charset="0"/>
              </a:rPr>
              <a:t>EDA cho thấy dữ liệu có outlier, missing và khác biệt thang đo — cần pipeline tiền xử lý nhất quán.</a:t>
            </a:r>
            <a:endParaRPr lang="en-US" sz="86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
        <p:nvSpPr>
          <p:cNvPr id="20"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rPr>
              <a:t>03</a:t>
            </a:r>
            <a:endParaRPr lang="en-US" sz="1200" dirty="0"/>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rPr>
              <a:t>EDA — Ngoại lai &amp; giá trị thiếu</a:t>
            </a:r>
            <a:endParaRPr lang="en-US" sz="2500" dirty="0"/>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rPr>
              <a:t>Hai vấn đề trực tiếp quyết định chiến lược imputation và xử lý dữ liệu</a:t>
            </a:r>
            <a:endParaRPr lang="en-US" sz="1080" dirty="0"/>
          </a:p>
        </p:txBody>
      </p:sp>
      <p:sp>
        <p:nvSpPr>
          <p:cNvPr id="5" name="Shape 3"/>
          <p:cNvSpPr/>
          <p:nvPr/>
        </p:nvSpPr>
        <p:spPr>
          <a:xfrm>
            <a:off x="658368" y="1490472"/>
            <a:ext cx="10954512" cy="4608576"/>
          </a:xfrm>
          <a:prstGeom prst="roundRect">
            <a:avLst>
              <a:gd name="adj" fmla="val 2424"/>
            </a:avLst>
          </a:prstGeom>
          <a:solidFill>
            <a:srgbClr val="FFFFFF"/>
          </a:solidFill>
          <a:ln w="10160">
            <a:solidFill>
              <a:srgbClr val="D9E3EE"/>
            </a:solidFill>
            <a:prstDash val="solid"/>
          </a:ln>
          <a:effectLst>
            <a:outerShdw algn="bl" rotWithShape="0">
              <a:srgbClr val="000000">
                <a:alpha val="0"/>
              </a:srgbClr>
            </a:outerShdw>
          </a:effectLst>
        </p:spPr>
      </p:sp>
      <p:sp>
        <p:nvSpPr>
          <p:cNvPr id="6" name="Text 4"/>
          <p:cNvSpPr/>
          <p:nvPr/>
        </p:nvSpPr>
        <p:spPr>
          <a:xfrm>
            <a:off x="2895600" y="1755648"/>
            <a:ext cx="3108960" cy="256032"/>
          </a:xfrm>
          <a:prstGeom prst="rect">
            <a:avLst/>
          </a:prstGeom>
          <a:noFill/>
          <a:ln/>
        </p:spPr>
        <p:txBody>
          <a:bodyPr wrap="square" lIns="0" tIns="0" rIns="0" bIns="0" rtlCol="0" anchor="t">
            <a:normAutofit/>
          </a:bodyPr>
          <a:lstStyle/>
          <a:p>
            <a:pPr marL="0" indent="0" algn="l">
              <a:buNone/>
            </a:pPr>
            <a:r>
              <a:rPr lang="en-US" sz="1200" b="1" dirty="0" smtClean="0">
                <a:solidFill>
                  <a:srgbClr val="102A43"/>
                </a:solidFill>
                <a:latin typeface="Aptos" pitchFamily="34" charset="0"/>
                <a:ea typeface="Aptos" pitchFamily="34" charset="-122"/>
                <a:cs typeface="Aptos" pitchFamily="34" charset="-120"/>
              </a:rPr>
              <a:t>Outlier </a:t>
            </a:r>
            <a:r>
              <a:rPr lang="en-US" sz="1200" b="1" dirty="0">
                <a:solidFill>
                  <a:srgbClr val="102A43"/>
                </a:solidFill>
                <a:latin typeface="Aptos" pitchFamily="34" charset="0"/>
                <a:ea typeface="Aptos" pitchFamily="34" charset="-122"/>
                <a:cs typeface="Aptos" pitchFamily="34" charset="-120"/>
              </a:rPr>
              <a:t>theo IQR</a:t>
            </a:r>
            <a:endParaRPr lang="en-US" sz="1200" dirty="0"/>
          </a:p>
        </p:txBody>
      </p:sp>
      <p:sp>
        <p:nvSpPr>
          <p:cNvPr id="8" name="Shape 5"/>
          <p:cNvSpPr/>
          <p:nvPr/>
        </p:nvSpPr>
        <p:spPr>
          <a:xfrm>
            <a:off x="932688" y="2171700"/>
            <a:ext cx="1417320" cy="310896"/>
          </a:xfrm>
          <a:prstGeom prst="roundRect">
            <a:avLst/>
          </a:prstGeom>
          <a:solidFill>
            <a:srgbClr val="FFF0F0"/>
          </a:solidFill>
          <a:ln w="12700">
            <a:solidFill>
              <a:srgbClr val="FFF0F0"/>
            </a:solidFill>
            <a:prstDash val="solid"/>
          </a:ln>
        </p:spPr>
      </p:sp>
      <p:sp>
        <p:nvSpPr>
          <p:cNvPr id="9" name="Text 6"/>
          <p:cNvSpPr/>
          <p:nvPr/>
        </p:nvSpPr>
        <p:spPr>
          <a:xfrm>
            <a:off x="932688" y="2203704"/>
            <a:ext cx="1417320" cy="246888"/>
          </a:xfrm>
          <a:prstGeom prst="rect">
            <a:avLst/>
          </a:prstGeom>
          <a:noFill/>
          <a:ln/>
        </p:spPr>
        <p:txBody>
          <a:bodyPr wrap="square" lIns="0" tIns="0" rIns="0" bIns="0" rtlCol="0" anchor="ctr">
            <a:normAutofit/>
          </a:bodyPr>
          <a:lstStyle/>
          <a:p>
            <a:pPr marL="0" indent="0" algn="ctr">
              <a:buNone/>
            </a:pPr>
            <a:r>
              <a:rPr lang="en-US" sz="900" b="1" dirty="0">
                <a:solidFill>
                  <a:srgbClr val="D95555"/>
                </a:solidFill>
                <a:latin typeface="Aptos" pitchFamily="34" charset="0"/>
                <a:ea typeface="Aptos" pitchFamily="34" charset="-122"/>
                <a:cs typeface="Aptos" pitchFamily="34" charset="-120"/>
              </a:rPr>
              <a:t>263 outlier theo IQR</a:t>
            </a:r>
            <a:endParaRPr lang="en-US" sz="900" dirty="0"/>
          </a:p>
        </p:txBody>
      </p:sp>
      <p:sp>
        <p:nvSpPr>
          <p:cNvPr id="10" name="Text 7"/>
          <p:cNvSpPr/>
          <p:nvPr/>
        </p:nvSpPr>
        <p:spPr>
          <a:xfrm>
            <a:off x="932688" y="3140964"/>
            <a:ext cx="3246120" cy="237744"/>
          </a:xfrm>
          <a:prstGeom prst="rect">
            <a:avLst/>
          </a:prstGeom>
          <a:noFill/>
          <a:ln/>
        </p:spPr>
        <p:txBody>
          <a:bodyPr wrap="square" lIns="0" tIns="0" rIns="0" bIns="0" rtlCol="0" anchor="t">
            <a:normAutofit/>
          </a:bodyPr>
          <a:lstStyle/>
          <a:p>
            <a:pPr marL="0" indent="0" algn="l">
              <a:buNone/>
            </a:pPr>
            <a:r>
              <a:rPr lang="en-US" sz="1030" b="1" dirty="0">
                <a:solidFill>
                  <a:srgbClr val="243B53"/>
                </a:solidFill>
                <a:latin typeface="Aptos" pitchFamily="34" charset="0"/>
                <a:ea typeface="Aptos" pitchFamily="34" charset="-122"/>
                <a:cs typeface="Aptos" pitchFamily="34" charset="-120"/>
              </a:rPr>
              <a:t>su 61  •  sc 51  •  bu 38  •  bp 36  •  bgr 34</a:t>
            </a:r>
            <a:endParaRPr lang="en-US" sz="1030" dirty="0"/>
          </a:p>
        </p:txBody>
      </p:sp>
      <p:sp>
        <p:nvSpPr>
          <p:cNvPr id="11" name="Text 8"/>
          <p:cNvSpPr/>
          <p:nvPr/>
        </p:nvSpPr>
        <p:spPr>
          <a:xfrm>
            <a:off x="899668" y="4288536"/>
            <a:ext cx="3550412" cy="438912"/>
          </a:xfrm>
          <a:prstGeom prst="rect">
            <a:avLst/>
          </a:prstGeom>
          <a:noFill/>
          <a:ln/>
        </p:spPr>
        <p:txBody>
          <a:bodyPr wrap="square" lIns="0" tIns="0" rIns="0" bIns="0" rtlCol="0" anchor="t">
            <a:normAutofit/>
          </a:bodyPr>
          <a:lstStyle/>
          <a:p>
            <a:pPr marL="0" indent="0" algn="l">
              <a:buNone/>
            </a:pPr>
            <a:r>
              <a:rPr lang="en-US" sz="1080" dirty="0">
                <a:solidFill>
                  <a:srgbClr val="63758A"/>
                </a:solidFill>
                <a:latin typeface="Aptos" pitchFamily="34" charset="0"/>
                <a:ea typeface="Aptos" pitchFamily="34" charset="-122"/>
                <a:cs typeface="Aptos" pitchFamily="34" charset="-120"/>
              </a:rPr>
              <a:t>Không tự động xóa: trong dữ liệu y tế, giá trị cực đoan có thể phản ánh tình trạng bệnh thực tế.</a:t>
            </a:r>
            <a:endParaRPr lang="en-US" sz="1080" dirty="0"/>
          </a:p>
        </p:txBody>
      </p:sp>
      <p:sp>
        <p:nvSpPr>
          <p:cNvPr id="33" name="Text 29"/>
          <p:cNvSpPr/>
          <p:nvPr/>
        </p:nvSpPr>
        <p:spPr>
          <a:xfrm>
            <a:off x="640080" y="6291072"/>
            <a:ext cx="9875520" cy="182880"/>
          </a:xfrm>
          <a:prstGeom prst="rect">
            <a:avLst/>
          </a:prstGeom>
          <a:noFill/>
          <a:ln/>
        </p:spPr>
        <p:txBody>
          <a:bodyPr wrap="square" lIns="0" tIns="0" rIns="0" bIns="0" rtlCol="0" anchor="t">
            <a:normAutofit/>
          </a:bodyPr>
          <a:lstStyle/>
          <a:p>
            <a:pPr marL="0" indent="0" algn="l">
              <a:buNone/>
            </a:pPr>
            <a:r>
              <a:rPr lang="en-US" sz="860" dirty="0">
                <a:solidFill>
                  <a:srgbClr val="63758A"/>
                </a:solidFill>
                <a:latin typeface="Aptos" pitchFamily="34" charset="0"/>
                <a:ea typeface="Aptos" pitchFamily="34" charset="-122"/>
                <a:cs typeface="Aptos" pitchFamily="34" charset="-120"/>
              </a:rPr>
              <a:t>Imputation được thực hiện bên trong Pipeline và chỉ học thống kê từ tập Train để tránh leakage.</a:t>
            </a:r>
            <a:endParaRPr lang="en-US" sz="860" dirty="0"/>
          </a:p>
        </p:txBody>
      </p:sp>
      <p:sp>
        <p:nvSpPr>
          <p:cNvPr id="34"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t>4</a:t>
            </a:fld>
            <a:endParaRPr lang="en-US"/>
          </a:p>
        </p:txBody>
      </p:sp>
      <p:pic>
        <p:nvPicPr>
          <p:cNvPr id="35"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9870" y="1755648"/>
            <a:ext cx="6623219" cy="4325112"/>
          </a:xfrm>
          <a:prstGeom prst="rect">
            <a:avLst/>
          </a:prstGeom>
        </p:spPr>
      </p:pic>
      <p:sp>
        <p:nvSpPr>
          <p:cNvPr id="36"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rPr>
              <a:t>03</a:t>
            </a:r>
            <a:endParaRPr lang="en-US" sz="1200" dirty="0"/>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rPr>
              <a:t>EDA — Ngoại lai &amp; giá trị thiếu</a:t>
            </a:r>
            <a:endParaRPr lang="en-US" sz="2500" dirty="0"/>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rPr>
              <a:t>Hai vấn đề trực tiếp quyết định chiến lược imputation và xử lý dữ liệu</a:t>
            </a:r>
            <a:endParaRPr lang="en-US" sz="1080" dirty="0"/>
          </a:p>
        </p:txBody>
      </p:sp>
      <p:sp>
        <p:nvSpPr>
          <p:cNvPr id="8" name="Shape 5"/>
          <p:cNvSpPr/>
          <p:nvPr/>
        </p:nvSpPr>
        <p:spPr>
          <a:xfrm>
            <a:off x="1024128" y="2737104"/>
            <a:ext cx="1417320" cy="310896"/>
          </a:xfrm>
          <a:prstGeom prst="roundRect">
            <a:avLst/>
          </a:prstGeom>
          <a:solidFill>
            <a:srgbClr val="FFF0F0"/>
          </a:solidFill>
          <a:ln w="12700">
            <a:solidFill>
              <a:srgbClr val="FFF0F0"/>
            </a:solidFill>
            <a:prstDash val="solid"/>
          </a:ln>
        </p:spPr>
      </p:sp>
      <p:sp>
        <p:nvSpPr>
          <p:cNvPr id="12" name="Shape 9"/>
          <p:cNvSpPr/>
          <p:nvPr/>
        </p:nvSpPr>
        <p:spPr>
          <a:xfrm>
            <a:off x="475488" y="1448367"/>
            <a:ext cx="10972800" cy="4526280"/>
          </a:xfrm>
          <a:prstGeom prst="roundRect">
            <a:avLst>
              <a:gd name="adj" fmla="val 2424"/>
            </a:avLst>
          </a:prstGeom>
          <a:solidFill>
            <a:srgbClr val="FFFFFF"/>
          </a:solidFill>
          <a:ln w="10160">
            <a:solidFill>
              <a:srgbClr val="D9E3EE"/>
            </a:solidFill>
            <a:prstDash val="solid"/>
          </a:ln>
          <a:effectLst>
            <a:outerShdw algn="bl" rotWithShape="0">
              <a:srgbClr val="000000">
                <a:alpha val="0"/>
              </a:srgbClr>
            </a:outerShdw>
          </a:effectLst>
        </p:spPr>
      </p:sp>
      <p:sp>
        <p:nvSpPr>
          <p:cNvPr id="13" name="Text 10"/>
          <p:cNvSpPr/>
          <p:nvPr/>
        </p:nvSpPr>
        <p:spPr>
          <a:xfrm>
            <a:off x="4980432" y="1578297"/>
            <a:ext cx="2743200" cy="256032"/>
          </a:xfrm>
          <a:prstGeom prst="rect">
            <a:avLst/>
          </a:prstGeom>
          <a:noFill/>
          <a:ln/>
        </p:spPr>
        <p:txBody>
          <a:bodyPr wrap="square" lIns="0" tIns="0" rIns="0" bIns="0" rtlCol="0" anchor="t">
            <a:normAutofit/>
          </a:bodyPr>
          <a:lstStyle/>
          <a:p>
            <a:pPr marL="0" indent="0" algn="l">
              <a:buNone/>
            </a:pPr>
            <a:r>
              <a:rPr lang="en-US" sz="1200" b="1" dirty="0" smtClean="0">
                <a:solidFill>
                  <a:srgbClr val="102A43"/>
                </a:solidFill>
                <a:latin typeface="Aptos" pitchFamily="34" charset="0"/>
                <a:ea typeface="Aptos" pitchFamily="34" charset="-122"/>
                <a:cs typeface="Aptos" pitchFamily="34" charset="-120"/>
              </a:rPr>
              <a:t>Missing </a:t>
            </a:r>
            <a:r>
              <a:rPr lang="en-US" sz="1200" b="1" dirty="0">
                <a:solidFill>
                  <a:srgbClr val="102A43"/>
                </a:solidFill>
                <a:latin typeface="Aptos" pitchFamily="34" charset="0"/>
                <a:ea typeface="Aptos" pitchFamily="34" charset="-122"/>
                <a:cs typeface="Aptos" pitchFamily="34" charset="-120"/>
              </a:rPr>
              <a:t>Values</a:t>
            </a:r>
            <a:endParaRPr lang="en-US" sz="1200" dirty="0"/>
          </a:p>
        </p:txBody>
      </p:sp>
      <p:sp>
        <p:nvSpPr>
          <p:cNvPr id="15" name="Text 11"/>
          <p:cNvSpPr/>
          <p:nvPr/>
        </p:nvSpPr>
        <p:spPr>
          <a:xfrm>
            <a:off x="1014984" y="2250186"/>
            <a:ext cx="566928" cy="192024"/>
          </a:xfrm>
          <a:prstGeom prst="rect">
            <a:avLst/>
          </a:prstGeom>
          <a:noFill/>
          <a:ln/>
        </p:spPr>
        <p:txBody>
          <a:bodyPr wrap="square" lIns="0" tIns="0" rIns="0" bIns="0" rtlCol="0" anchor="t">
            <a:normAutofit/>
          </a:bodyPr>
          <a:lstStyle/>
          <a:p>
            <a:pPr marL="0" indent="0" algn="l">
              <a:buNone/>
            </a:pPr>
            <a:r>
              <a:rPr lang="en-US" sz="950" b="1" dirty="0">
                <a:solidFill>
                  <a:srgbClr val="102A43"/>
                </a:solidFill>
                <a:latin typeface="Aptos" pitchFamily="34" charset="0"/>
                <a:ea typeface="Aptos" pitchFamily="34" charset="-122"/>
                <a:cs typeface="Aptos" pitchFamily="34" charset="-120"/>
              </a:rPr>
              <a:t>rbc</a:t>
            </a:r>
            <a:endParaRPr lang="en-US" sz="950" dirty="0"/>
          </a:p>
        </p:txBody>
      </p:sp>
      <p:sp>
        <p:nvSpPr>
          <p:cNvPr id="16" name="Text 12"/>
          <p:cNvSpPr/>
          <p:nvPr/>
        </p:nvSpPr>
        <p:spPr>
          <a:xfrm>
            <a:off x="1691640" y="2250186"/>
            <a:ext cx="713232" cy="192024"/>
          </a:xfrm>
          <a:prstGeom prst="rect">
            <a:avLst/>
          </a:prstGeom>
          <a:noFill/>
          <a:ln/>
        </p:spPr>
        <p:txBody>
          <a:bodyPr wrap="square" lIns="0" tIns="0" rIns="0" bIns="0" rtlCol="0" anchor="t">
            <a:normAutofit/>
          </a:bodyPr>
          <a:lstStyle/>
          <a:p>
            <a:pPr marL="0" indent="0" algn="l">
              <a:buNone/>
            </a:pPr>
            <a:r>
              <a:rPr lang="en-US" sz="950" b="1" dirty="0">
                <a:solidFill>
                  <a:srgbClr val="2457D6"/>
                </a:solidFill>
                <a:latin typeface="Aptos" pitchFamily="34" charset="0"/>
                <a:ea typeface="Aptos" pitchFamily="34" charset="-122"/>
                <a:cs typeface="Aptos" pitchFamily="34" charset="-120"/>
              </a:rPr>
              <a:t>38,00%</a:t>
            </a:r>
            <a:endParaRPr lang="en-US" sz="950" dirty="0"/>
          </a:p>
        </p:txBody>
      </p:sp>
      <p:sp>
        <p:nvSpPr>
          <p:cNvPr id="17" name="Text 13"/>
          <p:cNvSpPr/>
          <p:nvPr/>
        </p:nvSpPr>
        <p:spPr>
          <a:xfrm>
            <a:off x="2496312" y="2250186"/>
            <a:ext cx="960120" cy="192024"/>
          </a:xfrm>
          <a:prstGeom prst="rect">
            <a:avLst/>
          </a:prstGeom>
          <a:noFill/>
          <a:ln/>
        </p:spPr>
        <p:txBody>
          <a:bodyPr wrap="square" lIns="0" tIns="0" rIns="0" bIns="0" rtlCol="0" anchor="t">
            <a:normAutofit/>
          </a:bodyPr>
          <a:lstStyle/>
          <a:p>
            <a:pPr marL="0" indent="0" algn="l">
              <a:buNone/>
            </a:pPr>
            <a:r>
              <a:rPr lang="en-US" sz="940" dirty="0">
                <a:solidFill>
                  <a:srgbClr val="63758A"/>
                </a:solidFill>
                <a:latin typeface="Aptos" pitchFamily="34" charset="0"/>
                <a:ea typeface="Aptos" pitchFamily="34" charset="-122"/>
                <a:cs typeface="Aptos" pitchFamily="34" charset="-120"/>
              </a:rPr>
              <a:t>152 missing</a:t>
            </a:r>
            <a:endParaRPr lang="en-US" sz="940" dirty="0"/>
          </a:p>
        </p:txBody>
      </p:sp>
      <p:sp>
        <p:nvSpPr>
          <p:cNvPr id="18" name="Text 14"/>
          <p:cNvSpPr/>
          <p:nvPr/>
        </p:nvSpPr>
        <p:spPr>
          <a:xfrm>
            <a:off x="1014984" y="2499360"/>
            <a:ext cx="566928" cy="192024"/>
          </a:xfrm>
          <a:prstGeom prst="rect">
            <a:avLst/>
          </a:prstGeom>
          <a:noFill/>
          <a:ln/>
        </p:spPr>
        <p:txBody>
          <a:bodyPr wrap="square" lIns="0" tIns="0" rIns="0" bIns="0" rtlCol="0" anchor="t">
            <a:normAutofit/>
          </a:bodyPr>
          <a:lstStyle/>
          <a:p>
            <a:pPr marL="0" indent="0" algn="l">
              <a:buNone/>
            </a:pPr>
            <a:r>
              <a:rPr lang="en-US" sz="950" b="1" dirty="0">
                <a:solidFill>
                  <a:srgbClr val="102A43"/>
                </a:solidFill>
                <a:latin typeface="Aptos" pitchFamily="34" charset="0"/>
                <a:ea typeface="Aptos" pitchFamily="34" charset="-122"/>
                <a:cs typeface="Aptos" pitchFamily="34" charset="-120"/>
              </a:rPr>
              <a:t>rc</a:t>
            </a:r>
            <a:endParaRPr lang="en-US" sz="950" dirty="0"/>
          </a:p>
        </p:txBody>
      </p:sp>
      <p:sp>
        <p:nvSpPr>
          <p:cNvPr id="19" name="Text 15"/>
          <p:cNvSpPr/>
          <p:nvPr/>
        </p:nvSpPr>
        <p:spPr>
          <a:xfrm>
            <a:off x="1691640" y="2499360"/>
            <a:ext cx="713232" cy="192024"/>
          </a:xfrm>
          <a:prstGeom prst="rect">
            <a:avLst/>
          </a:prstGeom>
          <a:noFill/>
          <a:ln/>
        </p:spPr>
        <p:txBody>
          <a:bodyPr wrap="square" lIns="0" tIns="0" rIns="0" bIns="0" rtlCol="0" anchor="t">
            <a:normAutofit/>
          </a:bodyPr>
          <a:lstStyle/>
          <a:p>
            <a:pPr marL="0" indent="0" algn="l">
              <a:buNone/>
            </a:pPr>
            <a:r>
              <a:rPr lang="en-US" sz="950" b="1" dirty="0">
                <a:solidFill>
                  <a:srgbClr val="2457D6"/>
                </a:solidFill>
                <a:latin typeface="Aptos" pitchFamily="34" charset="0"/>
                <a:ea typeface="Aptos" pitchFamily="34" charset="-122"/>
                <a:cs typeface="Aptos" pitchFamily="34" charset="-120"/>
              </a:rPr>
              <a:t>32,75%</a:t>
            </a:r>
            <a:endParaRPr lang="en-US" sz="950" dirty="0"/>
          </a:p>
        </p:txBody>
      </p:sp>
      <p:sp>
        <p:nvSpPr>
          <p:cNvPr id="20" name="Text 16"/>
          <p:cNvSpPr/>
          <p:nvPr/>
        </p:nvSpPr>
        <p:spPr>
          <a:xfrm>
            <a:off x="2496312" y="2499360"/>
            <a:ext cx="960120" cy="192024"/>
          </a:xfrm>
          <a:prstGeom prst="rect">
            <a:avLst/>
          </a:prstGeom>
          <a:noFill/>
          <a:ln/>
        </p:spPr>
        <p:txBody>
          <a:bodyPr wrap="square" lIns="0" tIns="0" rIns="0" bIns="0" rtlCol="0" anchor="t">
            <a:normAutofit/>
          </a:bodyPr>
          <a:lstStyle/>
          <a:p>
            <a:pPr marL="0" indent="0" algn="l">
              <a:buNone/>
            </a:pPr>
            <a:r>
              <a:rPr lang="en-US" sz="940" dirty="0">
                <a:solidFill>
                  <a:srgbClr val="63758A"/>
                </a:solidFill>
                <a:latin typeface="Aptos" pitchFamily="34" charset="0"/>
                <a:ea typeface="Aptos" pitchFamily="34" charset="-122"/>
                <a:cs typeface="Aptos" pitchFamily="34" charset="-120"/>
              </a:rPr>
              <a:t>131 missing</a:t>
            </a:r>
            <a:endParaRPr lang="en-US" sz="940" dirty="0"/>
          </a:p>
        </p:txBody>
      </p:sp>
      <p:sp>
        <p:nvSpPr>
          <p:cNvPr id="21" name="Text 17"/>
          <p:cNvSpPr/>
          <p:nvPr/>
        </p:nvSpPr>
        <p:spPr>
          <a:xfrm>
            <a:off x="1014984" y="2746248"/>
            <a:ext cx="566928" cy="192024"/>
          </a:xfrm>
          <a:prstGeom prst="rect">
            <a:avLst/>
          </a:prstGeom>
          <a:noFill/>
          <a:ln/>
        </p:spPr>
        <p:txBody>
          <a:bodyPr wrap="square" lIns="0" tIns="0" rIns="0" bIns="0" rtlCol="0" anchor="t">
            <a:normAutofit/>
          </a:bodyPr>
          <a:lstStyle/>
          <a:p>
            <a:pPr marL="0" indent="0" algn="l">
              <a:buNone/>
            </a:pPr>
            <a:r>
              <a:rPr lang="en-US" sz="950" b="1" dirty="0">
                <a:solidFill>
                  <a:srgbClr val="102A43"/>
                </a:solidFill>
                <a:latin typeface="Aptos" pitchFamily="34" charset="0"/>
                <a:ea typeface="Aptos" pitchFamily="34" charset="-122"/>
                <a:cs typeface="Aptos" pitchFamily="34" charset="-120"/>
              </a:rPr>
              <a:t>wc</a:t>
            </a:r>
            <a:endParaRPr lang="en-US" sz="950" dirty="0"/>
          </a:p>
        </p:txBody>
      </p:sp>
      <p:sp>
        <p:nvSpPr>
          <p:cNvPr id="22" name="Text 18"/>
          <p:cNvSpPr/>
          <p:nvPr/>
        </p:nvSpPr>
        <p:spPr>
          <a:xfrm>
            <a:off x="1691640" y="2746248"/>
            <a:ext cx="713232" cy="192024"/>
          </a:xfrm>
          <a:prstGeom prst="rect">
            <a:avLst/>
          </a:prstGeom>
          <a:noFill/>
          <a:ln/>
        </p:spPr>
        <p:txBody>
          <a:bodyPr wrap="square" lIns="0" tIns="0" rIns="0" bIns="0" rtlCol="0" anchor="t">
            <a:normAutofit/>
          </a:bodyPr>
          <a:lstStyle/>
          <a:p>
            <a:pPr marL="0" indent="0" algn="l">
              <a:buNone/>
            </a:pPr>
            <a:r>
              <a:rPr lang="en-US" sz="950" b="1" dirty="0">
                <a:solidFill>
                  <a:srgbClr val="2457D6"/>
                </a:solidFill>
                <a:latin typeface="Aptos" pitchFamily="34" charset="0"/>
                <a:ea typeface="Aptos" pitchFamily="34" charset="-122"/>
                <a:cs typeface="Aptos" pitchFamily="34" charset="-120"/>
              </a:rPr>
              <a:t>26,50%</a:t>
            </a:r>
            <a:endParaRPr lang="en-US" sz="950" dirty="0"/>
          </a:p>
        </p:txBody>
      </p:sp>
      <p:sp>
        <p:nvSpPr>
          <p:cNvPr id="23" name="Text 19"/>
          <p:cNvSpPr/>
          <p:nvPr/>
        </p:nvSpPr>
        <p:spPr>
          <a:xfrm>
            <a:off x="2496312" y="2746248"/>
            <a:ext cx="960120" cy="192024"/>
          </a:xfrm>
          <a:prstGeom prst="rect">
            <a:avLst/>
          </a:prstGeom>
          <a:noFill/>
          <a:ln/>
        </p:spPr>
        <p:txBody>
          <a:bodyPr wrap="square" lIns="0" tIns="0" rIns="0" bIns="0" rtlCol="0" anchor="t">
            <a:normAutofit/>
          </a:bodyPr>
          <a:lstStyle/>
          <a:p>
            <a:pPr marL="0" indent="0" algn="l">
              <a:buNone/>
            </a:pPr>
            <a:r>
              <a:rPr lang="en-US" sz="940" dirty="0">
                <a:solidFill>
                  <a:srgbClr val="63758A"/>
                </a:solidFill>
                <a:latin typeface="Aptos" pitchFamily="34" charset="0"/>
                <a:ea typeface="Aptos" pitchFamily="34" charset="-122"/>
                <a:cs typeface="Aptos" pitchFamily="34" charset="-120"/>
              </a:rPr>
              <a:t>106 missing</a:t>
            </a:r>
            <a:endParaRPr lang="en-US" sz="940" dirty="0"/>
          </a:p>
        </p:txBody>
      </p:sp>
      <p:sp>
        <p:nvSpPr>
          <p:cNvPr id="24" name="Text 20"/>
          <p:cNvSpPr/>
          <p:nvPr/>
        </p:nvSpPr>
        <p:spPr>
          <a:xfrm>
            <a:off x="1014984" y="2993136"/>
            <a:ext cx="566928" cy="192024"/>
          </a:xfrm>
          <a:prstGeom prst="rect">
            <a:avLst/>
          </a:prstGeom>
          <a:noFill/>
          <a:ln/>
        </p:spPr>
        <p:txBody>
          <a:bodyPr wrap="square" lIns="0" tIns="0" rIns="0" bIns="0" rtlCol="0" anchor="t">
            <a:normAutofit/>
          </a:bodyPr>
          <a:lstStyle/>
          <a:p>
            <a:pPr marL="0" indent="0" algn="l">
              <a:buNone/>
            </a:pPr>
            <a:r>
              <a:rPr lang="en-US" sz="950" b="1" dirty="0">
                <a:solidFill>
                  <a:srgbClr val="102A43"/>
                </a:solidFill>
                <a:latin typeface="Aptos" pitchFamily="34" charset="0"/>
                <a:ea typeface="Aptos" pitchFamily="34" charset="-122"/>
                <a:cs typeface="Aptos" pitchFamily="34" charset="-120"/>
              </a:rPr>
              <a:t>pot</a:t>
            </a:r>
            <a:endParaRPr lang="en-US" sz="950" dirty="0"/>
          </a:p>
        </p:txBody>
      </p:sp>
      <p:sp>
        <p:nvSpPr>
          <p:cNvPr id="25" name="Text 21"/>
          <p:cNvSpPr/>
          <p:nvPr/>
        </p:nvSpPr>
        <p:spPr>
          <a:xfrm>
            <a:off x="1691640" y="2993136"/>
            <a:ext cx="713232" cy="192024"/>
          </a:xfrm>
          <a:prstGeom prst="rect">
            <a:avLst/>
          </a:prstGeom>
          <a:noFill/>
          <a:ln/>
        </p:spPr>
        <p:txBody>
          <a:bodyPr wrap="square" lIns="0" tIns="0" rIns="0" bIns="0" rtlCol="0" anchor="t">
            <a:normAutofit/>
          </a:bodyPr>
          <a:lstStyle/>
          <a:p>
            <a:pPr marL="0" indent="0" algn="l">
              <a:buNone/>
            </a:pPr>
            <a:r>
              <a:rPr lang="en-US" sz="950" b="1" dirty="0">
                <a:solidFill>
                  <a:srgbClr val="2457D6"/>
                </a:solidFill>
                <a:latin typeface="Aptos" pitchFamily="34" charset="0"/>
                <a:ea typeface="Aptos" pitchFamily="34" charset="-122"/>
                <a:cs typeface="Aptos" pitchFamily="34" charset="-120"/>
              </a:rPr>
              <a:t>22,00%</a:t>
            </a:r>
            <a:endParaRPr lang="en-US" sz="950" dirty="0"/>
          </a:p>
        </p:txBody>
      </p:sp>
      <p:sp>
        <p:nvSpPr>
          <p:cNvPr id="26" name="Text 22"/>
          <p:cNvSpPr/>
          <p:nvPr/>
        </p:nvSpPr>
        <p:spPr>
          <a:xfrm>
            <a:off x="2496312" y="2993136"/>
            <a:ext cx="960120" cy="192024"/>
          </a:xfrm>
          <a:prstGeom prst="rect">
            <a:avLst/>
          </a:prstGeom>
          <a:noFill/>
          <a:ln/>
        </p:spPr>
        <p:txBody>
          <a:bodyPr wrap="square" lIns="0" tIns="0" rIns="0" bIns="0" rtlCol="0" anchor="t">
            <a:normAutofit/>
          </a:bodyPr>
          <a:lstStyle/>
          <a:p>
            <a:pPr marL="0" indent="0" algn="l">
              <a:buNone/>
            </a:pPr>
            <a:r>
              <a:rPr lang="en-US" sz="940" dirty="0">
                <a:solidFill>
                  <a:srgbClr val="63758A"/>
                </a:solidFill>
                <a:latin typeface="Aptos" pitchFamily="34" charset="0"/>
                <a:ea typeface="Aptos" pitchFamily="34" charset="-122"/>
                <a:cs typeface="Aptos" pitchFamily="34" charset="-120"/>
              </a:rPr>
              <a:t>88 missing</a:t>
            </a:r>
            <a:endParaRPr lang="en-US" sz="940" dirty="0"/>
          </a:p>
        </p:txBody>
      </p:sp>
      <p:sp>
        <p:nvSpPr>
          <p:cNvPr id="27" name="Text 23"/>
          <p:cNvSpPr/>
          <p:nvPr/>
        </p:nvSpPr>
        <p:spPr>
          <a:xfrm>
            <a:off x="1014984" y="3240024"/>
            <a:ext cx="566928" cy="192024"/>
          </a:xfrm>
          <a:prstGeom prst="rect">
            <a:avLst/>
          </a:prstGeom>
          <a:noFill/>
          <a:ln/>
        </p:spPr>
        <p:txBody>
          <a:bodyPr wrap="square" lIns="0" tIns="0" rIns="0" bIns="0" rtlCol="0" anchor="t">
            <a:normAutofit/>
          </a:bodyPr>
          <a:lstStyle/>
          <a:p>
            <a:pPr marL="0" indent="0" algn="l">
              <a:buNone/>
            </a:pPr>
            <a:r>
              <a:rPr lang="en-US" sz="950" b="1" dirty="0">
                <a:solidFill>
                  <a:srgbClr val="102A43"/>
                </a:solidFill>
                <a:latin typeface="Aptos" pitchFamily="34" charset="0"/>
                <a:ea typeface="Aptos" pitchFamily="34" charset="-122"/>
                <a:cs typeface="Aptos" pitchFamily="34" charset="-120"/>
              </a:rPr>
              <a:t>sod</a:t>
            </a:r>
            <a:endParaRPr lang="en-US" sz="950" dirty="0"/>
          </a:p>
        </p:txBody>
      </p:sp>
      <p:sp>
        <p:nvSpPr>
          <p:cNvPr id="28" name="Text 24"/>
          <p:cNvSpPr/>
          <p:nvPr/>
        </p:nvSpPr>
        <p:spPr>
          <a:xfrm>
            <a:off x="1691640" y="3240024"/>
            <a:ext cx="713232" cy="192024"/>
          </a:xfrm>
          <a:prstGeom prst="rect">
            <a:avLst/>
          </a:prstGeom>
          <a:noFill/>
          <a:ln/>
        </p:spPr>
        <p:txBody>
          <a:bodyPr wrap="square" lIns="0" tIns="0" rIns="0" bIns="0" rtlCol="0" anchor="t">
            <a:normAutofit/>
          </a:bodyPr>
          <a:lstStyle/>
          <a:p>
            <a:pPr marL="0" indent="0" algn="l">
              <a:buNone/>
            </a:pPr>
            <a:r>
              <a:rPr lang="en-US" sz="950" b="1" dirty="0">
                <a:solidFill>
                  <a:srgbClr val="2457D6"/>
                </a:solidFill>
                <a:latin typeface="Aptos" pitchFamily="34" charset="0"/>
                <a:ea typeface="Aptos" pitchFamily="34" charset="-122"/>
                <a:cs typeface="Aptos" pitchFamily="34" charset="-120"/>
              </a:rPr>
              <a:t>21,75%</a:t>
            </a:r>
            <a:endParaRPr lang="en-US" sz="950" dirty="0"/>
          </a:p>
        </p:txBody>
      </p:sp>
      <p:sp>
        <p:nvSpPr>
          <p:cNvPr id="29" name="Text 25"/>
          <p:cNvSpPr/>
          <p:nvPr/>
        </p:nvSpPr>
        <p:spPr>
          <a:xfrm>
            <a:off x="2496312" y="3240024"/>
            <a:ext cx="960120" cy="192024"/>
          </a:xfrm>
          <a:prstGeom prst="rect">
            <a:avLst/>
          </a:prstGeom>
          <a:noFill/>
          <a:ln/>
        </p:spPr>
        <p:txBody>
          <a:bodyPr wrap="square" lIns="0" tIns="0" rIns="0" bIns="0" rtlCol="0" anchor="t">
            <a:normAutofit/>
          </a:bodyPr>
          <a:lstStyle/>
          <a:p>
            <a:pPr marL="0" indent="0" algn="l">
              <a:buNone/>
            </a:pPr>
            <a:r>
              <a:rPr lang="en-US" sz="940" dirty="0">
                <a:solidFill>
                  <a:srgbClr val="63758A"/>
                </a:solidFill>
                <a:latin typeface="Aptos" pitchFamily="34" charset="0"/>
                <a:ea typeface="Aptos" pitchFamily="34" charset="-122"/>
                <a:cs typeface="Aptos" pitchFamily="34" charset="-120"/>
              </a:rPr>
              <a:t>87 missing</a:t>
            </a:r>
            <a:endParaRPr lang="en-US" sz="940" dirty="0"/>
          </a:p>
        </p:txBody>
      </p:sp>
      <p:sp>
        <p:nvSpPr>
          <p:cNvPr id="30" name="Shape 26"/>
          <p:cNvSpPr/>
          <p:nvPr/>
        </p:nvSpPr>
        <p:spPr>
          <a:xfrm>
            <a:off x="1170432" y="3980121"/>
            <a:ext cx="1664208" cy="1234440"/>
          </a:xfrm>
          <a:prstGeom prst="roundRect">
            <a:avLst>
              <a:gd name="adj" fmla="val 6667"/>
            </a:avLst>
          </a:prstGeom>
          <a:solidFill>
            <a:srgbClr val="EAF8F7"/>
          </a:solidFill>
          <a:ln w="10160">
            <a:solidFill>
              <a:srgbClr val="EAF8F7"/>
            </a:solidFill>
            <a:prstDash val="solid"/>
          </a:ln>
        </p:spPr>
      </p:sp>
      <p:sp>
        <p:nvSpPr>
          <p:cNvPr id="31" name="Text 27"/>
          <p:cNvSpPr/>
          <p:nvPr/>
        </p:nvSpPr>
        <p:spPr>
          <a:xfrm>
            <a:off x="1344168" y="4153857"/>
            <a:ext cx="1188720" cy="201168"/>
          </a:xfrm>
          <a:prstGeom prst="rect">
            <a:avLst/>
          </a:prstGeom>
          <a:noFill/>
          <a:ln/>
        </p:spPr>
        <p:txBody>
          <a:bodyPr wrap="square" lIns="0" tIns="0" rIns="0" bIns="0" rtlCol="0" anchor="t">
            <a:normAutofit/>
          </a:bodyPr>
          <a:lstStyle/>
          <a:p>
            <a:pPr marL="0" indent="0" algn="l">
              <a:buNone/>
            </a:pPr>
            <a:r>
              <a:rPr lang="en-US" sz="950" b="1" dirty="0">
                <a:solidFill>
                  <a:srgbClr val="0E9F9A"/>
                </a:solidFill>
                <a:latin typeface="Aptos" pitchFamily="34" charset="0"/>
                <a:ea typeface="Aptos" pitchFamily="34" charset="-122"/>
                <a:cs typeface="Aptos" pitchFamily="34" charset="-120"/>
              </a:rPr>
              <a:t>Giải pháp</a:t>
            </a:r>
            <a:endParaRPr lang="en-US" sz="950" dirty="0"/>
          </a:p>
        </p:txBody>
      </p:sp>
      <p:sp>
        <p:nvSpPr>
          <p:cNvPr id="32" name="Text 28"/>
          <p:cNvSpPr/>
          <p:nvPr/>
        </p:nvSpPr>
        <p:spPr>
          <a:xfrm>
            <a:off x="1344168" y="4437321"/>
            <a:ext cx="1234440" cy="502920"/>
          </a:xfrm>
          <a:prstGeom prst="rect">
            <a:avLst/>
          </a:prstGeom>
          <a:noFill/>
          <a:ln/>
        </p:spPr>
        <p:txBody>
          <a:bodyPr wrap="square" lIns="0" tIns="0" rIns="0" bIns="0" rtlCol="0" anchor="t">
            <a:normAutofit/>
          </a:bodyPr>
          <a:lstStyle/>
          <a:p>
            <a:pPr marL="0" indent="0" algn="l">
              <a:buNone/>
            </a:pPr>
            <a:r>
              <a:rPr lang="en-US" sz="1020" b="1" dirty="0">
                <a:solidFill>
                  <a:srgbClr val="243B53"/>
                </a:solidFill>
                <a:latin typeface="Aptos" pitchFamily="34" charset="0"/>
                <a:ea typeface="Aptos" pitchFamily="34" charset="-122"/>
                <a:cs typeface="Aptos" pitchFamily="34" charset="-120"/>
              </a:rPr>
              <a:t>Numeric → median</a:t>
            </a:r>
            <a:endParaRPr lang="en-US" sz="1020" dirty="0"/>
          </a:p>
          <a:p>
            <a:pPr marL="0" indent="0" algn="l">
              <a:buNone/>
            </a:pPr>
            <a:r>
              <a:rPr lang="en-US" sz="1020" b="1" dirty="0">
                <a:solidFill>
                  <a:srgbClr val="243B53"/>
                </a:solidFill>
                <a:latin typeface="Aptos" pitchFamily="34" charset="0"/>
                <a:ea typeface="Aptos" pitchFamily="34" charset="-122"/>
                <a:cs typeface="Aptos" pitchFamily="34" charset="-120"/>
              </a:rPr>
              <a:t>Categorical → mode</a:t>
            </a:r>
            <a:endParaRPr lang="en-US" sz="1020" dirty="0"/>
          </a:p>
        </p:txBody>
      </p:sp>
      <p:sp>
        <p:nvSpPr>
          <p:cNvPr id="33" name="Text 29"/>
          <p:cNvSpPr/>
          <p:nvPr/>
        </p:nvSpPr>
        <p:spPr>
          <a:xfrm>
            <a:off x="640080" y="6291072"/>
            <a:ext cx="9875520" cy="182880"/>
          </a:xfrm>
          <a:prstGeom prst="rect">
            <a:avLst/>
          </a:prstGeom>
          <a:noFill/>
          <a:ln/>
        </p:spPr>
        <p:txBody>
          <a:bodyPr wrap="square" lIns="0" tIns="0" rIns="0" bIns="0" rtlCol="0" anchor="t">
            <a:normAutofit/>
          </a:bodyPr>
          <a:lstStyle/>
          <a:p>
            <a:pPr marL="0" indent="0" algn="l">
              <a:buNone/>
            </a:pPr>
            <a:r>
              <a:rPr lang="en-US" sz="860" dirty="0">
                <a:solidFill>
                  <a:srgbClr val="63758A"/>
                </a:solidFill>
                <a:latin typeface="Aptos" pitchFamily="34" charset="0"/>
                <a:ea typeface="Aptos" pitchFamily="34" charset="-122"/>
                <a:cs typeface="Aptos" pitchFamily="34" charset="-120"/>
              </a:rPr>
              <a:t>Imputation được thực hiện bên trong Pipeline và chỉ học thống kê từ tập Train để tránh leakage.</a:t>
            </a:r>
            <a:endParaRPr lang="en-US" sz="860" dirty="0"/>
          </a:p>
        </p:txBody>
      </p:sp>
      <p:sp>
        <p:nvSpPr>
          <p:cNvPr id="34"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t>5</a:t>
            </a:fld>
            <a:endParaRPr lang="en-US"/>
          </a:p>
        </p:txBody>
      </p:sp>
      <p:pic>
        <p:nvPicPr>
          <p:cNvPr id="35"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1880" y="1901952"/>
            <a:ext cx="7475220" cy="4006823"/>
          </a:xfrm>
          <a:prstGeom prst="rect">
            <a:avLst/>
          </a:prstGeom>
        </p:spPr>
      </p:pic>
      <p:sp>
        <p:nvSpPr>
          <p:cNvPr id="38" name="Shape 4"/>
          <p:cNvSpPr/>
          <p:nvPr/>
        </p:nvSpPr>
        <p:spPr>
          <a:xfrm>
            <a:off x="0" y="180340"/>
            <a:ext cx="12192000" cy="310896"/>
          </a:xfrm>
          <a:prstGeom prst="roundRect">
            <a:avLst/>
          </a:prstGeom>
          <a:solidFill>
            <a:srgbClr val="EDF4FF"/>
          </a:solidFill>
          <a:ln w="12700">
            <a:solidFill>
              <a:srgbClr val="EDF4FF"/>
            </a:solidFill>
            <a:prstDash val="solid"/>
          </a:ln>
        </p:spPr>
      </p:sp>
    </p:spTree>
    <p:extLst>
      <p:ext uri="{BB962C8B-B14F-4D97-AF65-F5344CB8AC3E}">
        <p14:creationId xmlns:p14="http://schemas.microsoft.com/office/powerpoint/2010/main" val="11449588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04</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latin typeface="Times New Roman" panose="02020603050405020304" pitchFamily="18" charset="0"/>
                <a:cs typeface="Times New Roman" panose="02020603050405020304" pitchFamily="18" charset="0"/>
              </a:rPr>
              <a:t>EDA — Tương quan &amp; đặc trưng theo nhãn</a:t>
            </a:r>
            <a:endParaRPr lang="en-US" sz="2500" dirty="0">
              <a:latin typeface="Times New Roman" panose="02020603050405020304" pitchFamily="18" charset="0"/>
              <a:cs typeface="Times New Roman" panose="02020603050405020304" pitchFamily="18" charset="0"/>
            </a:endParaRPr>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latin typeface="Times New Roman" panose="02020603050405020304" pitchFamily="18" charset="0"/>
                <a:cs typeface="Times New Roman" panose="02020603050405020304" pitchFamily="18" charset="0"/>
              </a:rPr>
              <a:t>Tập trung vào các mối quan hệ có ý nghĩa cho phân loại CKD / NOTCKD</a:t>
            </a:r>
            <a:endParaRPr lang="en-US" sz="108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572768"/>
            <a:ext cx="6353556" cy="4526280"/>
          </a:xfrm>
          <a:prstGeom prst="roundRect">
            <a:avLst>
              <a:gd name="adj" fmla="val 2424"/>
            </a:avLst>
          </a:prstGeom>
          <a:solidFill>
            <a:srgbClr val="FFFFFF"/>
          </a:solidFill>
          <a:ln w="10160">
            <a:solidFill>
              <a:srgbClr val="D9E3EE"/>
            </a:solidFill>
            <a:prstDash val="solid"/>
          </a:ln>
          <a:effectLst>
            <a:outerShdw algn="bl" rotWithShape="0">
              <a:srgbClr val="000000">
                <a:alpha val="0"/>
              </a:srgbClr>
            </a:outerShdw>
          </a:effectLst>
        </p:spPr>
      </p:sp>
      <p:sp>
        <p:nvSpPr>
          <p:cNvPr id="6" name="Text 4"/>
          <p:cNvSpPr/>
          <p:nvPr/>
        </p:nvSpPr>
        <p:spPr>
          <a:xfrm>
            <a:off x="1946148" y="1783080"/>
            <a:ext cx="2926080" cy="256032"/>
          </a:xfrm>
          <a:prstGeom prst="rect">
            <a:avLst/>
          </a:prstGeom>
          <a:noFill/>
          <a:ln/>
        </p:spPr>
        <p:txBody>
          <a:bodyPr wrap="square" lIns="0" tIns="0" rIns="0" bIns="0" rtlCol="0" anchor="t">
            <a:normAutofit/>
          </a:bodyPr>
          <a:lstStyle/>
          <a:p>
            <a:pPr marL="0" indent="0" algn="l">
              <a:buNone/>
            </a:pPr>
            <a:r>
              <a:rPr lang="en-US" sz="1200" b="1" dirty="0" err="1" smtClean="0">
                <a:solidFill>
                  <a:srgbClr val="102A43"/>
                </a:solidFill>
                <a:latin typeface="Times New Roman" panose="02020603050405020304" pitchFamily="18" charset="0"/>
                <a:ea typeface="Aptos" pitchFamily="34" charset="-122"/>
                <a:cs typeface="Times New Roman" panose="02020603050405020304" pitchFamily="18" charset="0"/>
              </a:rPr>
              <a:t>Heatmap</a:t>
            </a:r>
            <a:r>
              <a:rPr lang="en-US" sz="1200" b="1" dirty="0" smtClean="0">
                <a:solidFill>
                  <a:srgbClr val="102A43"/>
                </a:solidFill>
                <a:latin typeface="Times New Roman" panose="02020603050405020304" pitchFamily="18" charset="0"/>
                <a:ea typeface="Aptos" pitchFamily="34" charset="-122"/>
                <a:cs typeface="Times New Roman" panose="02020603050405020304" pitchFamily="18" charset="0"/>
              </a:rPr>
              <a:t> </a:t>
            </a:r>
            <a:r>
              <a:rPr lang="en-US" sz="1200" b="1" dirty="0">
                <a:solidFill>
                  <a:srgbClr val="102A43"/>
                </a:solidFill>
                <a:latin typeface="Times New Roman" panose="02020603050405020304" pitchFamily="18" charset="0"/>
                <a:ea typeface="Aptos" pitchFamily="34" charset="-122"/>
                <a:cs typeface="Times New Roman" panose="02020603050405020304" pitchFamily="18" charset="0"/>
              </a:rPr>
              <a:t>tương quan</a:t>
            </a:r>
            <a:endParaRPr lang="en-US" sz="1200" dirty="0">
              <a:latin typeface="Times New Roman" panose="02020603050405020304" pitchFamily="18" charset="0"/>
              <a:cs typeface="Times New Roman" panose="02020603050405020304" pitchFamily="18" charset="0"/>
            </a:endParaRPr>
          </a:p>
        </p:txBody>
      </p:sp>
      <p:sp>
        <p:nvSpPr>
          <p:cNvPr id="8" name="Shape 5"/>
          <p:cNvSpPr/>
          <p:nvPr/>
        </p:nvSpPr>
        <p:spPr>
          <a:xfrm>
            <a:off x="5314962" y="2109724"/>
            <a:ext cx="1325880" cy="3246120"/>
          </a:xfrm>
          <a:prstGeom prst="roundRect">
            <a:avLst>
              <a:gd name="adj" fmla="val 5517"/>
            </a:avLst>
          </a:prstGeom>
          <a:solidFill>
            <a:srgbClr val="FBFCFE"/>
          </a:solidFill>
          <a:ln w="10160">
            <a:solidFill>
              <a:srgbClr val="D9E3EE"/>
            </a:solidFill>
            <a:prstDash val="solid"/>
          </a:ln>
        </p:spPr>
      </p:sp>
      <p:sp>
        <p:nvSpPr>
          <p:cNvPr id="9" name="Text 6"/>
          <p:cNvSpPr/>
          <p:nvPr/>
        </p:nvSpPr>
        <p:spPr>
          <a:xfrm>
            <a:off x="5466080" y="2286000"/>
            <a:ext cx="914400" cy="201168"/>
          </a:xfrm>
          <a:prstGeom prst="rect">
            <a:avLst/>
          </a:prstGeom>
          <a:noFill/>
          <a:ln/>
        </p:spPr>
        <p:txBody>
          <a:bodyPr wrap="square" lIns="0" tIns="0" rIns="0" bIns="0" rtlCol="0" anchor="t">
            <a:normAutofit/>
          </a:bodyPr>
          <a:lstStyle/>
          <a:p>
            <a:pPr marL="0" indent="0" algn="l">
              <a:buNone/>
            </a:pPr>
            <a:r>
              <a:rPr lang="en-US" sz="950" b="1" dirty="0">
                <a:solidFill>
                  <a:srgbClr val="63758A"/>
                </a:solidFill>
                <a:latin typeface="Times New Roman" panose="02020603050405020304" pitchFamily="18" charset="0"/>
                <a:ea typeface="Aptos" pitchFamily="34" charset="-122"/>
                <a:cs typeface="Times New Roman" panose="02020603050405020304" pitchFamily="18" charset="0"/>
              </a:rPr>
              <a:t>Cặp biến</a:t>
            </a:r>
            <a:endParaRPr lang="en-US" sz="950" dirty="0">
              <a:latin typeface="Times New Roman" panose="02020603050405020304" pitchFamily="18" charset="0"/>
              <a:cs typeface="Times New Roman" panose="02020603050405020304" pitchFamily="18" charset="0"/>
            </a:endParaRPr>
          </a:p>
        </p:txBody>
      </p:sp>
      <p:sp>
        <p:nvSpPr>
          <p:cNvPr id="10" name="Text 7"/>
          <p:cNvSpPr/>
          <p:nvPr/>
        </p:nvSpPr>
        <p:spPr>
          <a:xfrm>
            <a:off x="5447792" y="2633472"/>
            <a:ext cx="758952" cy="219456"/>
          </a:xfrm>
          <a:prstGeom prst="rect">
            <a:avLst/>
          </a:prstGeom>
          <a:noFill/>
          <a:ln/>
        </p:spPr>
        <p:txBody>
          <a:bodyPr wrap="square" lIns="0" tIns="0" rIns="0" bIns="0" rtlCol="0" anchor="t">
            <a:normAutofit/>
          </a:bodyPr>
          <a:lstStyle/>
          <a:p>
            <a:pPr marL="0" indent="0" algn="l">
              <a:buNone/>
            </a:pPr>
            <a:r>
              <a:rPr lang="en-US" sz="960" b="1" dirty="0">
                <a:solidFill>
                  <a:srgbClr val="102A43"/>
                </a:solidFill>
                <a:latin typeface="Times New Roman" panose="02020603050405020304" pitchFamily="18" charset="0"/>
                <a:ea typeface="Aptos" pitchFamily="34" charset="-122"/>
                <a:cs typeface="Times New Roman" panose="02020603050405020304" pitchFamily="18" charset="0"/>
              </a:rPr>
              <a:t>hemo–pcv</a:t>
            </a:r>
            <a:endParaRPr lang="en-US" sz="960" dirty="0">
              <a:latin typeface="Times New Roman" panose="02020603050405020304" pitchFamily="18" charset="0"/>
              <a:cs typeface="Times New Roman" panose="02020603050405020304" pitchFamily="18" charset="0"/>
            </a:endParaRPr>
          </a:p>
        </p:txBody>
      </p:sp>
      <p:sp>
        <p:nvSpPr>
          <p:cNvPr id="11" name="Text 8"/>
          <p:cNvSpPr/>
          <p:nvPr/>
        </p:nvSpPr>
        <p:spPr>
          <a:xfrm>
            <a:off x="6179312" y="2633472"/>
            <a:ext cx="310896" cy="219456"/>
          </a:xfrm>
          <a:prstGeom prst="rect">
            <a:avLst/>
          </a:prstGeom>
          <a:noFill/>
          <a:ln/>
        </p:spPr>
        <p:txBody>
          <a:bodyPr wrap="square" lIns="0" tIns="0" rIns="0" bIns="0" rtlCol="0" anchor="t">
            <a:normAutofit/>
          </a:bodyPr>
          <a:lstStyle/>
          <a:p>
            <a:pPr marL="0" indent="0" algn="r">
              <a:buNone/>
            </a:pPr>
            <a:r>
              <a:rPr lang="en-US" sz="970" b="1" dirty="0">
                <a:solidFill>
                  <a:srgbClr val="2457D6"/>
                </a:solidFill>
                <a:latin typeface="Times New Roman" panose="02020603050405020304" pitchFamily="18" charset="0"/>
                <a:ea typeface="Aptos" pitchFamily="34" charset="-122"/>
                <a:cs typeface="Times New Roman" panose="02020603050405020304" pitchFamily="18" charset="0"/>
              </a:rPr>
              <a:t>0.895</a:t>
            </a:r>
            <a:endParaRPr lang="en-US" sz="970" dirty="0">
              <a:latin typeface="Times New Roman" panose="02020603050405020304" pitchFamily="18" charset="0"/>
              <a:cs typeface="Times New Roman" panose="02020603050405020304" pitchFamily="18" charset="0"/>
            </a:endParaRPr>
          </a:p>
        </p:txBody>
      </p:sp>
      <p:sp>
        <p:nvSpPr>
          <p:cNvPr id="12" name="Text 9"/>
          <p:cNvSpPr/>
          <p:nvPr/>
        </p:nvSpPr>
        <p:spPr>
          <a:xfrm>
            <a:off x="5447792" y="3072384"/>
            <a:ext cx="758952" cy="219456"/>
          </a:xfrm>
          <a:prstGeom prst="rect">
            <a:avLst/>
          </a:prstGeom>
          <a:noFill/>
          <a:ln/>
        </p:spPr>
        <p:txBody>
          <a:bodyPr wrap="square" lIns="0" tIns="0" rIns="0" bIns="0" rtlCol="0" anchor="t">
            <a:normAutofit/>
          </a:bodyPr>
          <a:lstStyle/>
          <a:p>
            <a:pPr marL="0" indent="0" algn="l">
              <a:buNone/>
            </a:pPr>
            <a:r>
              <a:rPr lang="en-US" sz="960" b="1" dirty="0">
                <a:solidFill>
                  <a:srgbClr val="102A43"/>
                </a:solidFill>
                <a:latin typeface="Times New Roman" panose="02020603050405020304" pitchFamily="18" charset="0"/>
                <a:ea typeface="Aptos" pitchFamily="34" charset="-122"/>
                <a:cs typeface="Times New Roman" panose="02020603050405020304" pitchFamily="18" charset="0"/>
              </a:rPr>
              <a:t>hemo–rc</a:t>
            </a:r>
            <a:endParaRPr lang="en-US" sz="960" dirty="0">
              <a:latin typeface="Times New Roman" panose="02020603050405020304" pitchFamily="18" charset="0"/>
              <a:cs typeface="Times New Roman" panose="02020603050405020304" pitchFamily="18" charset="0"/>
            </a:endParaRPr>
          </a:p>
        </p:txBody>
      </p:sp>
      <p:sp>
        <p:nvSpPr>
          <p:cNvPr id="13" name="Text 10"/>
          <p:cNvSpPr/>
          <p:nvPr/>
        </p:nvSpPr>
        <p:spPr>
          <a:xfrm>
            <a:off x="6179312" y="3072384"/>
            <a:ext cx="310896" cy="219456"/>
          </a:xfrm>
          <a:prstGeom prst="rect">
            <a:avLst/>
          </a:prstGeom>
          <a:noFill/>
          <a:ln/>
        </p:spPr>
        <p:txBody>
          <a:bodyPr wrap="square" lIns="0" tIns="0" rIns="0" bIns="0" rtlCol="0" anchor="t">
            <a:normAutofit/>
          </a:bodyPr>
          <a:lstStyle/>
          <a:p>
            <a:pPr marL="0" indent="0" algn="r">
              <a:buNone/>
            </a:pPr>
            <a:r>
              <a:rPr lang="en-US" sz="970" b="1" dirty="0">
                <a:solidFill>
                  <a:srgbClr val="2457D6"/>
                </a:solidFill>
                <a:latin typeface="Times New Roman" panose="02020603050405020304" pitchFamily="18" charset="0"/>
                <a:ea typeface="Aptos" pitchFamily="34" charset="-122"/>
                <a:cs typeface="Times New Roman" panose="02020603050405020304" pitchFamily="18" charset="0"/>
              </a:rPr>
              <a:t>0.798</a:t>
            </a:r>
            <a:endParaRPr lang="en-US" sz="970" dirty="0">
              <a:latin typeface="Times New Roman" panose="02020603050405020304" pitchFamily="18" charset="0"/>
              <a:cs typeface="Times New Roman" panose="02020603050405020304" pitchFamily="18" charset="0"/>
            </a:endParaRPr>
          </a:p>
        </p:txBody>
      </p:sp>
      <p:sp>
        <p:nvSpPr>
          <p:cNvPr id="14" name="Text 11"/>
          <p:cNvSpPr/>
          <p:nvPr/>
        </p:nvSpPr>
        <p:spPr>
          <a:xfrm>
            <a:off x="5447792" y="3511296"/>
            <a:ext cx="758952" cy="219456"/>
          </a:xfrm>
          <a:prstGeom prst="rect">
            <a:avLst/>
          </a:prstGeom>
          <a:noFill/>
          <a:ln/>
        </p:spPr>
        <p:txBody>
          <a:bodyPr wrap="square" lIns="0" tIns="0" rIns="0" bIns="0" rtlCol="0" anchor="t">
            <a:normAutofit/>
          </a:bodyPr>
          <a:lstStyle/>
          <a:p>
            <a:pPr marL="0" indent="0" algn="l">
              <a:buNone/>
            </a:pPr>
            <a:r>
              <a:rPr lang="en-US" sz="960" b="1" dirty="0">
                <a:solidFill>
                  <a:srgbClr val="102A43"/>
                </a:solidFill>
                <a:latin typeface="Times New Roman" panose="02020603050405020304" pitchFamily="18" charset="0"/>
                <a:ea typeface="Aptos" pitchFamily="34" charset="-122"/>
                <a:cs typeface="Times New Roman" panose="02020603050405020304" pitchFamily="18" charset="0"/>
              </a:rPr>
              <a:t>pcv–rc</a:t>
            </a:r>
            <a:endParaRPr lang="en-US" sz="960" dirty="0">
              <a:latin typeface="Times New Roman" panose="02020603050405020304" pitchFamily="18" charset="0"/>
              <a:cs typeface="Times New Roman" panose="02020603050405020304" pitchFamily="18" charset="0"/>
            </a:endParaRPr>
          </a:p>
        </p:txBody>
      </p:sp>
      <p:sp>
        <p:nvSpPr>
          <p:cNvPr id="15" name="Text 12"/>
          <p:cNvSpPr/>
          <p:nvPr/>
        </p:nvSpPr>
        <p:spPr>
          <a:xfrm>
            <a:off x="6179312" y="3511296"/>
            <a:ext cx="310896" cy="219456"/>
          </a:xfrm>
          <a:prstGeom prst="rect">
            <a:avLst/>
          </a:prstGeom>
          <a:noFill/>
          <a:ln/>
        </p:spPr>
        <p:txBody>
          <a:bodyPr wrap="square" lIns="0" tIns="0" rIns="0" bIns="0" rtlCol="0" anchor="t">
            <a:normAutofit/>
          </a:bodyPr>
          <a:lstStyle/>
          <a:p>
            <a:pPr marL="0" indent="0" algn="r">
              <a:buNone/>
            </a:pPr>
            <a:r>
              <a:rPr lang="en-US" sz="970" b="1" dirty="0">
                <a:solidFill>
                  <a:srgbClr val="2457D6"/>
                </a:solidFill>
                <a:latin typeface="Times New Roman" panose="02020603050405020304" pitchFamily="18" charset="0"/>
                <a:ea typeface="Aptos" pitchFamily="34" charset="-122"/>
                <a:cs typeface="Times New Roman" panose="02020603050405020304" pitchFamily="18" charset="0"/>
              </a:rPr>
              <a:t>0.792</a:t>
            </a:r>
            <a:endParaRPr lang="en-US" sz="970" dirty="0">
              <a:latin typeface="Times New Roman" panose="02020603050405020304" pitchFamily="18" charset="0"/>
              <a:cs typeface="Times New Roman" panose="02020603050405020304" pitchFamily="18" charset="0"/>
            </a:endParaRPr>
          </a:p>
        </p:txBody>
      </p:sp>
      <p:sp>
        <p:nvSpPr>
          <p:cNvPr id="16" name="Text 13"/>
          <p:cNvSpPr/>
          <p:nvPr/>
        </p:nvSpPr>
        <p:spPr>
          <a:xfrm>
            <a:off x="5447792" y="3950208"/>
            <a:ext cx="758952" cy="219456"/>
          </a:xfrm>
          <a:prstGeom prst="rect">
            <a:avLst/>
          </a:prstGeom>
          <a:noFill/>
          <a:ln/>
        </p:spPr>
        <p:txBody>
          <a:bodyPr wrap="square" lIns="0" tIns="0" rIns="0" bIns="0" rtlCol="0" anchor="t">
            <a:normAutofit/>
          </a:bodyPr>
          <a:lstStyle/>
          <a:p>
            <a:pPr marL="0" indent="0" algn="l">
              <a:buNone/>
            </a:pPr>
            <a:r>
              <a:rPr lang="en-US" sz="960" b="1" dirty="0">
                <a:solidFill>
                  <a:srgbClr val="102A43"/>
                </a:solidFill>
                <a:latin typeface="Times New Roman" panose="02020603050405020304" pitchFamily="18" charset="0"/>
                <a:ea typeface="Aptos" pitchFamily="34" charset="-122"/>
                <a:cs typeface="Times New Roman" panose="02020603050405020304" pitchFamily="18" charset="0"/>
              </a:rPr>
              <a:t>su–bgr</a:t>
            </a:r>
            <a:endParaRPr lang="en-US" sz="960" dirty="0">
              <a:latin typeface="Times New Roman" panose="02020603050405020304" pitchFamily="18" charset="0"/>
              <a:cs typeface="Times New Roman" panose="02020603050405020304" pitchFamily="18" charset="0"/>
            </a:endParaRPr>
          </a:p>
        </p:txBody>
      </p:sp>
      <p:sp>
        <p:nvSpPr>
          <p:cNvPr id="17" name="Text 14"/>
          <p:cNvSpPr/>
          <p:nvPr/>
        </p:nvSpPr>
        <p:spPr>
          <a:xfrm>
            <a:off x="6179312" y="3950208"/>
            <a:ext cx="310896" cy="219456"/>
          </a:xfrm>
          <a:prstGeom prst="rect">
            <a:avLst/>
          </a:prstGeom>
          <a:noFill/>
          <a:ln/>
        </p:spPr>
        <p:txBody>
          <a:bodyPr wrap="square" lIns="0" tIns="0" rIns="0" bIns="0" rtlCol="0" anchor="t">
            <a:normAutofit/>
          </a:bodyPr>
          <a:lstStyle/>
          <a:p>
            <a:pPr marL="0" indent="0" algn="r">
              <a:buNone/>
            </a:pPr>
            <a:r>
              <a:rPr lang="en-US" sz="970" b="1" dirty="0">
                <a:solidFill>
                  <a:srgbClr val="2457D6"/>
                </a:solidFill>
                <a:latin typeface="Times New Roman" panose="02020603050405020304" pitchFamily="18" charset="0"/>
                <a:ea typeface="Aptos" pitchFamily="34" charset="-122"/>
                <a:cs typeface="Times New Roman" panose="02020603050405020304" pitchFamily="18" charset="0"/>
              </a:rPr>
              <a:t>0.718</a:t>
            </a:r>
            <a:endParaRPr lang="en-US" sz="970" dirty="0">
              <a:latin typeface="Times New Roman" panose="02020603050405020304" pitchFamily="18" charset="0"/>
              <a:cs typeface="Times New Roman" panose="02020603050405020304" pitchFamily="18" charset="0"/>
            </a:endParaRPr>
          </a:p>
        </p:txBody>
      </p:sp>
      <p:sp>
        <p:nvSpPr>
          <p:cNvPr id="18" name="Text 15"/>
          <p:cNvSpPr/>
          <p:nvPr/>
        </p:nvSpPr>
        <p:spPr>
          <a:xfrm>
            <a:off x="5447792" y="4389120"/>
            <a:ext cx="758952" cy="219456"/>
          </a:xfrm>
          <a:prstGeom prst="rect">
            <a:avLst/>
          </a:prstGeom>
          <a:noFill/>
          <a:ln/>
        </p:spPr>
        <p:txBody>
          <a:bodyPr wrap="square" lIns="0" tIns="0" rIns="0" bIns="0" rtlCol="0" anchor="t">
            <a:normAutofit/>
          </a:bodyPr>
          <a:lstStyle/>
          <a:p>
            <a:pPr marL="0" indent="0" algn="l">
              <a:buNone/>
            </a:pPr>
            <a:r>
              <a:rPr lang="en-US" sz="960" b="1" dirty="0">
                <a:solidFill>
                  <a:srgbClr val="102A43"/>
                </a:solidFill>
                <a:latin typeface="Times New Roman" panose="02020603050405020304" pitchFamily="18" charset="0"/>
                <a:ea typeface="Aptos" pitchFamily="34" charset="-122"/>
                <a:cs typeface="Times New Roman" panose="02020603050405020304" pitchFamily="18" charset="0"/>
              </a:rPr>
              <a:t>sc–sod</a:t>
            </a:r>
            <a:endParaRPr lang="en-US" sz="960" dirty="0">
              <a:latin typeface="Times New Roman" panose="02020603050405020304" pitchFamily="18" charset="0"/>
              <a:cs typeface="Times New Roman" panose="02020603050405020304" pitchFamily="18" charset="0"/>
            </a:endParaRPr>
          </a:p>
        </p:txBody>
      </p:sp>
      <p:sp>
        <p:nvSpPr>
          <p:cNvPr id="19" name="Text 16"/>
          <p:cNvSpPr/>
          <p:nvPr/>
        </p:nvSpPr>
        <p:spPr>
          <a:xfrm>
            <a:off x="6179312" y="4389120"/>
            <a:ext cx="310896" cy="219456"/>
          </a:xfrm>
          <a:prstGeom prst="rect">
            <a:avLst/>
          </a:prstGeom>
          <a:noFill/>
          <a:ln/>
        </p:spPr>
        <p:txBody>
          <a:bodyPr wrap="square" lIns="0" tIns="0" rIns="0" bIns="0" rtlCol="0" anchor="t">
            <a:normAutofit/>
          </a:bodyPr>
          <a:lstStyle/>
          <a:p>
            <a:pPr marL="0" indent="0" algn="r">
              <a:buNone/>
            </a:pPr>
            <a:r>
              <a:rPr lang="en-US" sz="970" b="1" dirty="0">
                <a:solidFill>
                  <a:srgbClr val="2457D6"/>
                </a:solidFill>
                <a:latin typeface="Times New Roman" panose="02020603050405020304" pitchFamily="18" charset="0"/>
                <a:ea typeface="Aptos" pitchFamily="34" charset="-122"/>
                <a:cs typeface="Times New Roman" panose="02020603050405020304" pitchFamily="18" charset="0"/>
              </a:rPr>
              <a:t>0.691</a:t>
            </a:r>
            <a:endParaRPr lang="en-US" sz="970" dirty="0">
              <a:latin typeface="Times New Roman" panose="02020603050405020304" pitchFamily="18" charset="0"/>
              <a:cs typeface="Times New Roman" panose="02020603050405020304" pitchFamily="18" charset="0"/>
            </a:endParaRPr>
          </a:p>
        </p:txBody>
      </p:sp>
      <p:sp>
        <p:nvSpPr>
          <p:cNvPr id="21" name="Shape 18"/>
          <p:cNvSpPr/>
          <p:nvPr/>
        </p:nvSpPr>
        <p:spPr>
          <a:xfrm>
            <a:off x="7107428" y="1572768"/>
            <a:ext cx="4653280" cy="4526280"/>
          </a:xfrm>
          <a:prstGeom prst="roundRect">
            <a:avLst>
              <a:gd name="adj" fmla="val 2592"/>
            </a:avLst>
          </a:prstGeom>
          <a:solidFill>
            <a:srgbClr val="FFFFFF"/>
          </a:solidFill>
          <a:ln w="10160">
            <a:solidFill>
              <a:srgbClr val="D9E3EE"/>
            </a:solidFill>
            <a:prstDash val="solid"/>
          </a:ln>
          <a:effectLst>
            <a:outerShdw algn="bl" rotWithShape="0">
              <a:srgbClr val="000000">
                <a:alpha val="0"/>
              </a:srgbClr>
            </a:outerShdw>
          </a:effectLst>
        </p:spPr>
      </p:sp>
      <p:sp>
        <p:nvSpPr>
          <p:cNvPr id="22" name="Text 19"/>
          <p:cNvSpPr/>
          <p:nvPr/>
        </p:nvSpPr>
        <p:spPr>
          <a:xfrm>
            <a:off x="8651748" y="1879092"/>
            <a:ext cx="3108960" cy="256032"/>
          </a:xfrm>
          <a:prstGeom prst="rect">
            <a:avLst/>
          </a:prstGeom>
          <a:noFill/>
          <a:ln/>
        </p:spPr>
        <p:txBody>
          <a:bodyPr wrap="square" lIns="0" tIns="0" rIns="0" bIns="0" rtlCol="0" anchor="t">
            <a:normAutofit/>
          </a:bodyPr>
          <a:lstStyle/>
          <a:p>
            <a:pPr marL="0" indent="0" algn="l">
              <a:buNone/>
            </a:pPr>
            <a:r>
              <a:rPr lang="en-US" sz="1200" b="1" dirty="0" err="1" smtClean="0">
                <a:solidFill>
                  <a:srgbClr val="102A43"/>
                </a:solidFill>
                <a:latin typeface="Times New Roman" panose="02020603050405020304" pitchFamily="18" charset="0"/>
                <a:ea typeface="Aptos" pitchFamily="34" charset="-122"/>
                <a:cs typeface="Times New Roman" panose="02020603050405020304" pitchFamily="18" charset="0"/>
              </a:rPr>
              <a:t>bgr</a:t>
            </a:r>
            <a:r>
              <a:rPr lang="en-US" sz="1200" b="1" dirty="0" smtClean="0">
                <a:solidFill>
                  <a:srgbClr val="102A43"/>
                </a:solidFill>
                <a:latin typeface="Times New Roman" panose="02020603050405020304" pitchFamily="18" charset="0"/>
                <a:ea typeface="Aptos" pitchFamily="34" charset="-122"/>
                <a:cs typeface="Times New Roman" panose="02020603050405020304" pitchFamily="18" charset="0"/>
              </a:rPr>
              <a:t> </a:t>
            </a:r>
            <a:r>
              <a:rPr lang="en-US" sz="1200" b="1" dirty="0">
                <a:solidFill>
                  <a:srgbClr val="102A43"/>
                </a:solidFill>
                <a:latin typeface="Times New Roman" panose="02020603050405020304" pitchFamily="18" charset="0"/>
                <a:ea typeface="Aptos" pitchFamily="34" charset="-122"/>
                <a:cs typeface="Times New Roman" panose="02020603050405020304" pitchFamily="18" charset="0"/>
              </a:rPr>
              <a:t>&amp; hemo theo nhãn</a:t>
            </a:r>
            <a:endParaRPr lang="en-US" sz="1200" dirty="0">
              <a:latin typeface="Times New Roman" panose="02020603050405020304" pitchFamily="18" charset="0"/>
              <a:cs typeface="Times New Roman" panose="02020603050405020304" pitchFamily="18" charset="0"/>
            </a:endParaRPr>
          </a:p>
        </p:txBody>
      </p:sp>
      <p:pic>
        <p:nvPicPr>
          <p:cNvPr id="23" name="Image 1" descr="/mnt/data/06_feature_target.png"/>
          <p:cNvPicPr>
            <a:picLocks noChangeAspect="1"/>
          </p:cNvPicPr>
          <p:nvPr/>
        </p:nvPicPr>
        <p:blipFill>
          <a:blip r:embed="rId3"/>
          <a:stretch>
            <a:fillRect/>
          </a:stretch>
        </p:blipFill>
        <p:spPr>
          <a:xfrm>
            <a:off x="7301692" y="2269236"/>
            <a:ext cx="4260688" cy="1837944"/>
          </a:xfrm>
          <a:prstGeom prst="rect">
            <a:avLst/>
          </a:prstGeom>
        </p:spPr>
      </p:pic>
      <p:sp>
        <p:nvSpPr>
          <p:cNvPr id="24" name="Shape 20"/>
          <p:cNvSpPr/>
          <p:nvPr/>
        </p:nvSpPr>
        <p:spPr>
          <a:xfrm>
            <a:off x="7589520" y="4617720"/>
            <a:ext cx="1627632" cy="768096"/>
          </a:xfrm>
          <a:prstGeom prst="roundRect">
            <a:avLst>
              <a:gd name="adj" fmla="val 11905"/>
            </a:avLst>
          </a:prstGeom>
          <a:solidFill>
            <a:srgbClr val="FFFFFF"/>
          </a:solidFill>
          <a:ln w="10160">
            <a:solidFill>
              <a:srgbClr val="D9E3EE"/>
            </a:solidFill>
            <a:prstDash val="solid"/>
          </a:ln>
        </p:spPr>
      </p:sp>
      <p:sp>
        <p:nvSpPr>
          <p:cNvPr id="25" name="Shape 21"/>
          <p:cNvSpPr/>
          <p:nvPr/>
        </p:nvSpPr>
        <p:spPr>
          <a:xfrm>
            <a:off x="7589520" y="4617720"/>
            <a:ext cx="54864" cy="768096"/>
          </a:xfrm>
          <a:prstGeom prst="rect">
            <a:avLst/>
          </a:prstGeom>
          <a:solidFill>
            <a:srgbClr val="D95555"/>
          </a:solidFill>
          <a:ln w="12700">
            <a:solidFill>
              <a:srgbClr val="D95555"/>
            </a:solidFill>
            <a:prstDash val="solid"/>
          </a:ln>
        </p:spPr>
      </p:sp>
      <p:sp>
        <p:nvSpPr>
          <p:cNvPr id="26" name="Text 22"/>
          <p:cNvSpPr/>
          <p:nvPr/>
        </p:nvSpPr>
        <p:spPr>
          <a:xfrm>
            <a:off x="7754112" y="4736592"/>
            <a:ext cx="1371600"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Times New Roman" panose="02020603050405020304" pitchFamily="18" charset="0"/>
                <a:ea typeface="Aptos" pitchFamily="34" charset="-122"/>
                <a:cs typeface="Times New Roman" panose="02020603050405020304" pitchFamily="18" charset="0"/>
              </a:rPr>
              <a:t>MEDIAN BGR</a:t>
            </a:r>
            <a:endParaRPr lang="en-US" sz="850" dirty="0">
              <a:latin typeface="Times New Roman" panose="02020603050405020304" pitchFamily="18" charset="0"/>
              <a:cs typeface="Times New Roman" panose="02020603050405020304" pitchFamily="18" charset="0"/>
            </a:endParaRPr>
          </a:p>
        </p:txBody>
      </p:sp>
      <p:sp>
        <p:nvSpPr>
          <p:cNvPr id="27" name="Text 23"/>
          <p:cNvSpPr/>
          <p:nvPr/>
        </p:nvSpPr>
        <p:spPr>
          <a:xfrm>
            <a:off x="7754112" y="4919472"/>
            <a:ext cx="1371600" cy="274320"/>
          </a:xfrm>
          <a:prstGeom prst="rect">
            <a:avLst/>
          </a:prstGeom>
          <a:noFill/>
          <a:ln/>
        </p:spPr>
        <p:txBody>
          <a:bodyPr wrap="square" lIns="0" tIns="0" rIns="0" bIns="0" rtlCol="0" anchor="t">
            <a:normAutofit/>
          </a:bodyPr>
          <a:lstStyle/>
          <a:p>
            <a:pPr marL="0" indent="0" algn="l">
              <a:buNone/>
            </a:pPr>
            <a:r>
              <a:rPr lang="en-US" sz="1800" b="1" dirty="0">
                <a:solidFill>
                  <a:srgbClr val="D95555"/>
                </a:solidFill>
                <a:latin typeface="Times New Roman" panose="02020603050405020304" pitchFamily="18" charset="0"/>
                <a:ea typeface="Aptos" pitchFamily="34" charset="-122"/>
                <a:cs typeface="Times New Roman" panose="02020603050405020304" pitchFamily="18" charset="0"/>
              </a:rPr>
              <a:t>143,5</a:t>
            </a:r>
            <a:endParaRPr lang="en-US" sz="1800" dirty="0">
              <a:latin typeface="Times New Roman" panose="02020603050405020304" pitchFamily="18" charset="0"/>
              <a:cs typeface="Times New Roman" panose="02020603050405020304" pitchFamily="18" charset="0"/>
            </a:endParaRPr>
          </a:p>
        </p:txBody>
      </p:sp>
      <p:sp>
        <p:nvSpPr>
          <p:cNvPr id="28" name="Text 24"/>
          <p:cNvSpPr/>
          <p:nvPr/>
        </p:nvSpPr>
        <p:spPr>
          <a:xfrm>
            <a:off x="7754112" y="5212080"/>
            <a:ext cx="1371600" cy="128016"/>
          </a:xfrm>
          <a:prstGeom prst="rect">
            <a:avLst/>
          </a:prstGeom>
          <a:noFill/>
          <a:ln/>
        </p:spPr>
        <p:txBody>
          <a:bodyPr wrap="square" lIns="0" tIns="0" rIns="0" bIns="0" rtlCol="0" anchor="t">
            <a:normAutofit/>
          </a:bodyPr>
          <a:lstStyle/>
          <a:p>
            <a:pPr marL="0" indent="0" algn="l">
              <a:buNone/>
            </a:pPr>
            <a:r>
              <a:rPr lang="en-US" sz="770" dirty="0">
                <a:solidFill>
                  <a:srgbClr val="63758A"/>
                </a:solidFill>
                <a:latin typeface="Times New Roman" panose="02020603050405020304" pitchFamily="18" charset="0"/>
                <a:ea typeface="Aptos" pitchFamily="34" charset="-122"/>
                <a:cs typeface="Times New Roman" panose="02020603050405020304" pitchFamily="18" charset="0"/>
              </a:rPr>
              <a:t>CKD</a:t>
            </a:r>
            <a:endParaRPr lang="en-US" sz="770" dirty="0">
              <a:latin typeface="Times New Roman" panose="02020603050405020304" pitchFamily="18" charset="0"/>
              <a:cs typeface="Times New Roman" panose="02020603050405020304" pitchFamily="18" charset="0"/>
            </a:endParaRPr>
          </a:p>
        </p:txBody>
      </p:sp>
      <p:sp>
        <p:nvSpPr>
          <p:cNvPr id="29" name="Shape 25"/>
          <p:cNvSpPr/>
          <p:nvPr/>
        </p:nvSpPr>
        <p:spPr>
          <a:xfrm>
            <a:off x="9326880" y="4617720"/>
            <a:ext cx="1627632" cy="768096"/>
          </a:xfrm>
          <a:prstGeom prst="roundRect">
            <a:avLst>
              <a:gd name="adj" fmla="val 11905"/>
            </a:avLst>
          </a:prstGeom>
          <a:solidFill>
            <a:srgbClr val="FFFFFF"/>
          </a:solidFill>
          <a:ln w="10160">
            <a:solidFill>
              <a:srgbClr val="D9E3EE"/>
            </a:solidFill>
            <a:prstDash val="solid"/>
          </a:ln>
        </p:spPr>
      </p:sp>
      <p:sp>
        <p:nvSpPr>
          <p:cNvPr id="30" name="Shape 26"/>
          <p:cNvSpPr/>
          <p:nvPr/>
        </p:nvSpPr>
        <p:spPr>
          <a:xfrm>
            <a:off x="9326880" y="4617720"/>
            <a:ext cx="54864" cy="768096"/>
          </a:xfrm>
          <a:prstGeom prst="rect">
            <a:avLst/>
          </a:prstGeom>
          <a:solidFill>
            <a:srgbClr val="2457D6"/>
          </a:solidFill>
          <a:ln w="12700">
            <a:solidFill>
              <a:srgbClr val="2457D6"/>
            </a:solidFill>
            <a:prstDash val="solid"/>
          </a:ln>
        </p:spPr>
      </p:sp>
      <p:sp>
        <p:nvSpPr>
          <p:cNvPr id="31" name="Text 27"/>
          <p:cNvSpPr/>
          <p:nvPr/>
        </p:nvSpPr>
        <p:spPr>
          <a:xfrm>
            <a:off x="9491472" y="4736592"/>
            <a:ext cx="1371600"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Times New Roman" panose="02020603050405020304" pitchFamily="18" charset="0"/>
                <a:ea typeface="Aptos" pitchFamily="34" charset="-122"/>
                <a:cs typeface="Times New Roman" panose="02020603050405020304" pitchFamily="18" charset="0"/>
              </a:rPr>
              <a:t>MEDIAN HEMO</a:t>
            </a:r>
            <a:endParaRPr lang="en-US" sz="850" dirty="0">
              <a:latin typeface="Times New Roman" panose="02020603050405020304" pitchFamily="18" charset="0"/>
              <a:cs typeface="Times New Roman" panose="02020603050405020304" pitchFamily="18" charset="0"/>
            </a:endParaRPr>
          </a:p>
        </p:txBody>
      </p:sp>
      <p:sp>
        <p:nvSpPr>
          <p:cNvPr id="32" name="Text 28"/>
          <p:cNvSpPr/>
          <p:nvPr/>
        </p:nvSpPr>
        <p:spPr>
          <a:xfrm>
            <a:off x="9491472" y="4919472"/>
            <a:ext cx="1371600" cy="274320"/>
          </a:xfrm>
          <a:prstGeom prst="rect">
            <a:avLst/>
          </a:prstGeom>
          <a:noFill/>
          <a:ln/>
        </p:spPr>
        <p:txBody>
          <a:bodyPr wrap="square" lIns="0" tIns="0" rIns="0" bIns="0" rtlCol="0" anchor="t">
            <a:normAutofit/>
          </a:bodyPr>
          <a:lstStyle/>
          <a:p>
            <a:pPr marL="0" indent="0" algn="l">
              <a:buNone/>
            </a:pPr>
            <a:r>
              <a:rPr lang="en-US" sz="1800" b="1" dirty="0">
                <a:solidFill>
                  <a:srgbClr val="2457D6"/>
                </a:solidFill>
                <a:latin typeface="Times New Roman" panose="02020603050405020304" pitchFamily="18" charset="0"/>
                <a:ea typeface="Aptos" pitchFamily="34" charset="-122"/>
                <a:cs typeface="Times New Roman" panose="02020603050405020304" pitchFamily="18" charset="0"/>
              </a:rPr>
              <a:t>10,9</a:t>
            </a:r>
            <a:endParaRPr lang="en-US" sz="1800" dirty="0">
              <a:latin typeface="Times New Roman" panose="02020603050405020304" pitchFamily="18" charset="0"/>
              <a:cs typeface="Times New Roman" panose="02020603050405020304" pitchFamily="18" charset="0"/>
            </a:endParaRPr>
          </a:p>
        </p:txBody>
      </p:sp>
      <p:sp>
        <p:nvSpPr>
          <p:cNvPr id="33" name="Text 29"/>
          <p:cNvSpPr/>
          <p:nvPr/>
        </p:nvSpPr>
        <p:spPr>
          <a:xfrm>
            <a:off x="9491472" y="5212080"/>
            <a:ext cx="1371600" cy="128016"/>
          </a:xfrm>
          <a:prstGeom prst="rect">
            <a:avLst/>
          </a:prstGeom>
          <a:noFill/>
          <a:ln/>
        </p:spPr>
        <p:txBody>
          <a:bodyPr wrap="square" lIns="0" tIns="0" rIns="0" bIns="0" rtlCol="0" anchor="t">
            <a:normAutofit/>
          </a:bodyPr>
          <a:lstStyle/>
          <a:p>
            <a:pPr marL="0" indent="0" algn="l">
              <a:buNone/>
            </a:pPr>
            <a:r>
              <a:rPr lang="en-US" sz="770" dirty="0">
                <a:solidFill>
                  <a:srgbClr val="63758A"/>
                </a:solidFill>
                <a:latin typeface="Times New Roman" panose="02020603050405020304" pitchFamily="18" charset="0"/>
                <a:ea typeface="Aptos" pitchFamily="34" charset="-122"/>
                <a:cs typeface="Times New Roman" panose="02020603050405020304" pitchFamily="18" charset="0"/>
              </a:rPr>
              <a:t>CKD</a:t>
            </a:r>
            <a:endParaRPr lang="en-US" sz="770" dirty="0">
              <a:latin typeface="Times New Roman" panose="02020603050405020304" pitchFamily="18" charset="0"/>
              <a:cs typeface="Times New Roman" panose="02020603050405020304" pitchFamily="18" charset="0"/>
            </a:endParaRPr>
          </a:p>
        </p:txBody>
      </p:sp>
      <p:sp>
        <p:nvSpPr>
          <p:cNvPr id="34" name="Text 30"/>
          <p:cNvSpPr/>
          <p:nvPr/>
        </p:nvSpPr>
        <p:spPr>
          <a:xfrm>
            <a:off x="7616952" y="5513832"/>
            <a:ext cx="3246120" cy="228600"/>
          </a:xfrm>
          <a:prstGeom prst="rect">
            <a:avLst/>
          </a:prstGeom>
          <a:noFill/>
          <a:ln/>
        </p:spPr>
        <p:txBody>
          <a:bodyPr wrap="square" lIns="0" tIns="0" rIns="0" bIns="0" rtlCol="0" anchor="t">
            <a:normAutofit/>
          </a:bodyPr>
          <a:lstStyle/>
          <a:p>
            <a:pPr marL="0" indent="0" algn="l">
              <a:buNone/>
            </a:pPr>
            <a:r>
              <a:rPr lang="en-US" sz="1000" b="1" dirty="0">
                <a:solidFill>
                  <a:srgbClr val="63758A"/>
                </a:solidFill>
                <a:latin typeface="Times New Roman" panose="02020603050405020304" pitchFamily="18" charset="0"/>
                <a:ea typeface="Aptos" pitchFamily="34" charset="-122"/>
                <a:cs typeface="Times New Roman" panose="02020603050405020304" pitchFamily="18" charset="0"/>
              </a:rPr>
              <a:t>NOTCKD: bgr 107,5  •  hemo 15,0</a:t>
            </a:r>
            <a:endParaRPr lang="en-US" sz="1000" dirty="0">
              <a:latin typeface="Times New Roman" panose="02020603050405020304" pitchFamily="18" charset="0"/>
              <a:cs typeface="Times New Roman" panose="02020603050405020304" pitchFamily="18" charset="0"/>
            </a:endParaRPr>
          </a:p>
        </p:txBody>
      </p:sp>
      <p:sp>
        <p:nvSpPr>
          <p:cNvPr id="35" name="Text 31"/>
          <p:cNvSpPr/>
          <p:nvPr/>
        </p:nvSpPr>
        <p:spPr>
          <a:xfrm>
            <a:off x="640080" y="6291072"/>
            <a:ext cx="9875520" cy="182880"/>
          </a:xfrm>
          <a:prstGeom prst="rect">
            <a:avLst/>
          </a:prstGeom>
          <a:noFill/>
          <a:ln/>
        </p:spPr>
        <p:txBody>
          <a:bodyPr wrap="square" lIns="0" tIns="0" rIns="0" bIns="0" rtlCol="0" anchor="t">
            <a:normAutofit/>
          </a:bodyPr>
          <a:lstStyle/>
          <a:p>
            <a:pPr marL="0" indent="0" algn="l">
              <a:buNone/>
            </a:pPr>
            <a:r>
              <a:rPr lang="en-US" sz="860" dirty="0">
                <a:solidFill>
                  <a:srgbClr val="63758A"/>
                </a:solidFill>
                <a:latin typeface="Times New Roman" panose="02020603050405020304" pitchFamily="18" charset="0"/>
                <a:ea typeface="Aptos" pitchFamily="34" charset="-122"/>
                <a:cs typeface="Times New Roman" panose="02020603050405020304" pitchFamily="18" charset="0"/>
              </a:rPr>
              <a:t>bgr có xu hướng cao hơn ở CKD, trong khi hemo thấp hơn rõ rệt — hai feature giúp tách lớp tốt.</a:t>
            </a:r>
            <a:endParaRPr lang="en-US" sz="860" dirty="0">
              <a:latin typeface="Times New Roman" panose="02020603050405020304" pitchFamily="18" charset="0"/>
              <a:cs typeface="Times New Roman" panose="02020603050405020304" pitchFamily="18" charset="0"/>
            </a:endParaRPr>
          </a:p>
        </p:txBody>
      </p:sp>
      <p:sp>
        <p:nvSpPr>
          <p:cNvPr id="36"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pic>
        <p:nvPicPr>
          <p:cNvPr id="20" name="Picture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113" y="1984248"/>
            <a:ext cx="4836667" cy="3950208"/>
          </a:xfrm>
          <a:prstGeom prst="rect">
            <a:avLst/>
          </a:prstGeom>
        </p:spPr>
      </p:pic>
      <p:sp>
        <p:nvSpPr>
          <p:cNvPr id="37"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05</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latin typeface="Times New Roman" panose="02020603050405020304" pitchFamily="18" charset="0"/>
                <a:cs typeface="Times New Roman" panose="02020603050405020304" pitchFamily="18" charset="0"/>
              </a:rPr>
              <a:t>Kết luận EDA &amp; định hướng xử lý</a:t>
            </a:r>
            <a:endParaRPr lang="en-US" sz="2500" dirty="0">
              <a:latin typeface="Times New Roman" panose="02020603050405020304" pitchFamily="18" charset="0"/>
              <a:cs typeface="Times New Roman" panose="02020603050405020304" pitchFamily="18" charset="0"/>
            </a:endParaRPr>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latin typeface="Times New Roman" panose="02020603050405020304" pitchFamily="18" charset="0"/>
                <a:cs typeface="Times New Roman" panose="02020603050405020304" pitchFamily="18" charset="0"/>
              </a:rPr>
              <a:t>Chuyển các phát hiện trong dữ liệu thành quyết định kỹ thuật cụ thể</a:t>
            </a:r>
            <a:endParaRPr lang="en-US" sz="1080" dirty="0">
              <a:latin typeface="Times New Roman" panose="02020603050405020304" pitchFamily="18" charset="0"/>
              <a:cs typeface="Times New Roman" panose="02020603050405020304" pitchFamily="18" charset="0"/>
            </a:endParaRPr>
          </a:p>
        </p:txBody>
      </p:sp>
      <p:graphicFrame>
        <p:nvGraphicFramePr>
          <p:cNvPr id="7" name="Table 0"/>
          <p:cNvGraphicFramePr>
            <a:graphicFrameLocks noGrp="1"/>
          </p:cNvGraphicFramePr>
          <p:nvPr>
            <p:extLst>
              <p:ext uri="{D42A27DB-BD31-4B8C-83A1-F6EECF244321}">
                <p14:modId xmlns:p14="http://schemas.microsoft.com/office/powerpoint/2010/main" val="4002214392"/>
              </p:ext>
            </p:extLst>
          </p:nvPr>
        </p:nvGraphicFramePr>
        <p:xfrm>
          <a:off x="777240" y="1664208"/>
          <a:ext cx="10698480" cy="3931920"/>
        </p:xfrm>
        <a:graphic>
          <a:graphicData uri="http://schemas.openxmlformats.org/drawingml/2006/table">
            <a:tbl>
              <a:tblPr/>
              <a:tblGrid>
                <a:gridCol w="2743200">
                  <a:extLst>
                    <a:ext uri="{9D8B030D-6E8A-4147-A177-3AD203B41FA5}">
                      <a16:colId xmlns:a16="http://schemas.microsoft.com/office/drawing/2014/main" val="20000"/>
                    </a:ext>
                  </a:extLst>
                </a:gridCol>
                <a:gridCol w="3127248">
                  <a:extLst>
                    <a:ext uri="{9D8B030D-6E8A-4147-A177-3AD203B41FA5}">
                      <a16:colId xmlns:a16="http://schemas.microsoft.com/office/drawing/2014/main" val="20001"/>
                    </a:ext>
                  </a:extLst>
                </a:gridCol>
                <a:gridCol w="4828032">
                  <a:extLst>
                    <a:ext uri="{9D8B030D-6E8A-4147-A177-3AD203B41FA5}">
                      <a16:colId xmlns:a16="http://schemas.microsoft.com/office/drawing/2014/main" val="20002"/>
                    </a:ext>
                  </a:extLst>
                </a:gridCol>
              </a:tblGrid>
              <a:tr h="393192">
                <a:tc>
                  <a:txBody>
                    <a:bodyPr/>
                    <a:lstStyle/>
                    <a:p>
                      <a:pPr marL="0" indent="0">
                        <a:buNone/>
                      </a:pPr>
                      <a:r>
                        <a:rPr lang="en-US" sz="1100" b="1" dirty="0">
                          <a:solidFill>
                            <a:schemeClr val="tx1"/>
                          </a:solidFill>
                          <a:latin typeface="Times New Roman" panose="02020603050405020304" pitchFamily="18" charset="0"/>
                          <a:ea typeface="Aptos" pitchFamily="34" charset="-122"/>
                          <a:cs typeface="Times New Roman" panose="02020603050405020304" pitchFamily="18" charset="0"/>
                        </a:rPr>
                        <a:t>VẤN ĐỀ PHÁT HIỆN</a:t>
                      </a:r>
                      <a:endParaRPr lang="en-US" sz="1100" dirty="0">
                        <a:solidFill>
                          <a:schemeClr val="tx1"/>
                        </a:solidFill>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b="1" dirty="0">
                          <a:solidFill>
                            <a:schemeClr val="tx1"/>
                          </a:solidFill>
                          <a:latin typeface="Times New Roman" panose="02020603050405020304" pitchFamily="18" charset="0"/>
                          <a:ea typeface="Aptos" pitchFamily="34" charset="-122"/>
                          <a:cs typeface="Times New Roman" panose="02020603050405020304" pitchFamily="18" charset="0"/>
                        </a:rPr>
                        <a:t>QUYẾT ĐỊNH XỬ LÝ</a:t>
                      </a:r>
                      <a:endParaRPr lang="en-US" sz="1100" dirty="0">
                        <a:solidFill>
                          <a:schemeClr val="tx1"/>
                        </a:solidFill>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b="1" dirty="0">
                          <a:solidFill>
                            <a:schemeClr val="tx1"/>
                          </a:solidFill>
                          <a:latin typeface="Times New Roman" panose="02020603050405020304" pitchFamily="18" charset="0"/>
                          <a:ea typeface="Aptos" pitchFamily="34" charset="-122"/>
                          <a:cs typeface="Times New Roman" panose="02020603050405020304" pitchFamily="18" charset="0"/>
                        </a:rPr>
                        <a:t>LÝ DO</a:t>
                      </a:r>
                      <a:endParaRPr lang="en-US" sz="1100" dirty="0">
                        <a:solidFill>
                          <a:schemeClr val="tx1"/>
                        </a:solidFill>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93192">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Dataset 400 mẫu</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Giữ toàn bộ dữ liệu hợp lệ</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Quy mô nhỏ, hạn chế mất mẫu</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Cột id</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Loại khỏi feature</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Không mang ý nghĩa lâm sàng</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3192">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14 numeric + 10 categorical</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Tách thành hai pipeline</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Mỗi kiểu dữ liệu cần biến đổi khác nhau</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Missing nhiều</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Median / Most Frequent</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Tận dụng dữ liệu, giảm ảnh hưởng outlier</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3192">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263 outlier theo IQR</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Không xóa tự động</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Giá trị cực trị có thể là tín hiệu bệnh</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Thang đo khác nhau</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StandardScaler cho numeric</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Quan trọng với LR / SVC / KNN</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3192">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Hai lớp 62,5% / 37,5%</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Stratified Split</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Bảo toàn tỷ lệ lớp</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3192">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Một số cặp tương quan cao</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Không xóa cảm tính</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Dùng regularization + CV để đánh giá</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93192">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Dataset nhỏ</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80/20 + 5-fold CV</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Tăng độ tin cậy khi chọn model</a:t>
                      </a:r>
                      <a:endParaRPr lang="en-US" sz="1100" dirty="0">
                        <a:latin typeface="Times New Roman" panose="02020603050405020304" pitchFamily="18" charset="0"/>
                        <a:ea typeface="Aptos" charset="0"/>
                        <a:cs typeface="Times New Roman" panose="02020603050405020304" pitchFamily="18" charset="0"/>
                      </a:endParaRPr>
                    </a:p>
                  </a:txBody>
                  <a:tcPr marL="73152" marR="73152" marT="73152" marB="73152">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hape 3"/>
          <p:cNvSpPr/>
          <p:nvPr/>
        </p:nvSpPr>
        <p:spPr>
          <a:xfrm>
            <a:off x="777240" y="5486400"/>
            <a:ext cx="10698480" cy="475488"/>
          </a:xfrm>
          <a:prstGeom prst="roundRect">
            <a:avLst>
              <a:gd name="adj" fmla="val 15385"/>
            </a:avLst>
          </a:prstGeom>
          <a:solidFill>
            <a:srgbClr val="EDF4FF"/>
          </a:solidFill>
          <a:ln w="10160">
            <a:solidFill>
              <a:srgbClr val="EDF4FF"/>
            </a:solidFill>
            <a:prstDash val="solid"/>
          </a:ln>
        </p:spPr>
      </p:sp>
      <p:sp>
        <p:nvSpPr>
          <p:cNvPr id="5" name="Text 4"/>
          <p:cNvSpPr/>
          <p:nvPr/>
        </p:nvSpPr>
        <p:spPr>
          <a:xfrm>
            <a:off x="1005840" y="5614416"/>
            <a:ext cx="10149840" cy="219456"/>
          </a:xfrm>
          <a:prstGeom prst="rect">
            <a:avLst/>
          </a:prstGeom>
          <a:noFill/>
          <a:ln/>
        </p:spPr>
        <p:txBody>
          <a:bodyPr wrap="square" lIns="0" tIns="0" rIns="0" bIns="0" rtlCol="0" anchor="t">
            <a:normAutofit/>
          </a:bodyPr>
          <a:lstStyle/>
          <a:p>
            <a:pPr marL="0" indent="0" algn="ctr">
              <a:buNone/>
            </a:pPr>
            <a:r>
              <a:rPr lang="en-US" sz="1150" b="1" dirty="0">
                <a:solidFill>
                  <a:srgbClr val="2457D6"/>
                </a:solidFill>
                <a:latin typeface="Times New Roman" panose="02020603050405020304" pitchFamily="18" charset="0"/>
                <a:ea typeface="Aptos" pitchFamily="34" charset="-122"/>
                <a:cs typeface="Times New Roman" panose="02020603050405020304" pitchFamily="18" charset="0"/>
              </a:rPr>
              <a:t>Nguyên tắc xuyên suốt: tách Train/Test trước khi học các thống kê tiền xử lý → tránh Data Leakage.</a:t>
            </a:r>
            <a:endParaRPr lang="en-US" sz="115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9"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rPr>
              <a:t>06</a:t>
            </a:r>
            <a:endParaRPr lang="en-US" sz="1200" dirty="0"/>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rPr>
              <a:t>Quy trình tiền xử lý &amp; kiểm soát Data Leakage</a:t>
            </a:r>
            <a:endParaRPr lang="en-US" sz="2500" dirty="0"/>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rPr>
              <a:t>Pipeline tái sử dụng nhất quán ở huấn luyện, đánh giá và inference</a:t>
            </a:r>
            <a:endParaRPr lang="en-US" sz="1080" dirty="0"/>
          </a:p>
        </p:txBody>
      </p:sp>
      <p:sp>
        <p:nvSpPr>
          <p:cNvPr id="5" name="Shape 3"/>
          <p:cNvSpPr/>
          <p:nvPr/>
        </p:nvSpPr>
        <p:spPr>
          <a:xfrm>
            <a:off x="658368" y="1783080"/>
            <a:ext cx="1664208" cy="1298448"/>
          </a:xfrm>
          <a:prstGeom prst="roundRect">
            <a:avLst>
              <a:gd name="adj" fmla="val 7042"/>
            </a:avLst>
          </a:prstGeom>
          <a:solidFill>
            <a:srgbClr val="FFFFFF"/>
          </a:solidFill>
          <a:ln w="10160">
            <a:solidFill>
              <a:srgbClr val="D9E3EE"/>
            </a:solidFill>
            <a:prstDash val="solid"/>
          </a:ln>
        </p:spPr>
      </p:sp>
      <p:sp>
        <p:nvSpPr>
          <p:cNvPr id="6" name="Text 4"/>
          <p:cNvSpPr/>
          <p:nvPr/>
        </p:nvSpPr>
        <p:spPr>
          <a:xfrm>
            <a:off x="795528" y="1938528"/>
            <a:ext cx="402336" cy="237744"/>
          </a:xfrm>
          <a:prstGeom prst="rect">
            <a:avLst/>
          </a:prstGeom>
          <a:noFill/>
          <a:ln/>
        </p:spPr>
        <p:txBody>
          <a:bodyPr wrap="square" lIns="0" tIns="0" rIns="0" bIns="0" rtlCol="0" anchor="t">
            <a:normAutofit/>
          </a:bodyPr>
          <a:lstStyle/>
          <a:p>
            <a:pPr marL="0" indent="0" algn="l">
              <a:buNone/>
            </a:pPr>
            <a:r>
              <a:rPr lang="en-US" sz="1100" b="1" dirty="0">
                <a:solidFill>
                  <a:srgbClr val="2457D6"/>
                </a:solidFill>
                <a:latin typeface="Aptos" pitchFamily="34" charset="0"/>
                <a:ea typeface="Aptos" pitchFamily="34" charset="-122"/>
                <a:cs typeface="Aptos" pitchFamily="34" charset="-120"/>
              </a:rPr>
              <a:t>01</a:t>
            </a:r>
            <a:endParaRPr lang="en-US" sz="1100" dirty="0"/>
          </a:p>
        </p:txBody>
      </p:sp>
      <p:sp>
        <p:nvSpPr>
          <p:cNvPr id="7" name="Text 5"/>
          <p:cNvSpPr/>
          <p:nvPr/>
        </p:nvSpPr>
        <p:spPr>
          <a:xfrm>
            <a:off x="795528" y="2258568"/>
            <a:ext cx="1325880" cy="228600"/>
          </a:xfrm>
          <a:prstGeom prst="rect">
            <a:avLst/>
          </a:prstGeom>
          <a:noFill/>
          <a:ln/>
        </p:spPr>
        <p:txBody>
          <a:bodyPr wrap="square" lIns="0" tIns="0" rIns="0" bIns="0" rtlCol="0" anchor="t">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Làm sạch</a:t>
            </a:r>
            <a:endParaRPr lang="en-US" sz="1200" dirty="0"/>
          </a:p>
        </p:txBody>
      </p:sp>
      <p:sp>
        <p:nvSpPr>
          <p:cNvPr id="8" name="Text 6"/>
          <p:cNvSpPr/>
          <p:nvPr/>
        </p:nvSpPr>
        <p:spPr>
          <a:xfrm>
            <a:off x="795528" y="2551176"/>
            <a:ext cx="1325880" cy="347472"/>
          </a:xfrm>
          <a:prstGeom prst="rect">
            <a:avLst/>
          </a:prstGeom>
          <a:noFill/>
          <a:ln/>
        </p:spPr>
        <p:txBody>
          <a:bodyPr wrap="square" lIns="0" tIns="0" rIns="0" bIns="0" rtlCol="0" anchor="t">
            <a:normAutofit/>
          </a:bodyPr>
          <a:lstStyle/>
          <a:p>
            <a:pPr marL="0" indent="0" algn="l">
              <a:buNone/>
            </a:pPr>
            <a:r>
              <a:rPr lang="en-US" sz="940" dirty="0">
                <a:solidFill>
                  <a:srgbClr val="63758A"/>
                </a:solidFill>
                <a:latin typeface="Aptos" pitchFamily="34" charset="0"/>
                <a:ea typeface="Aptos" pitchFamily="34" charset="-122"/>
                <a:cs typeface="Aptos" pitchFamily="34" charset="-120"/>
              </a:rPr>
              <a:t>trim text, “?” → NaN</a:t>
            </a:r>
            <a:endParaRPr lang="en-US" sz="940" dirty="0"/>
          </a:p>
        </p:txBody>
      </p:sp>
      <p:sp>
        <p:nvSpPr>
          <p:cNvPr id="9" name="Text 7"/>
          <p:cNvSpPr/>
          <p:nvPr/>
        </p:nvSpPr>
        <p:spPr>
          <a:xfrm>
            <a:off x="2340864" y="2240280"/>
            <a:ext cx="201168" cy="256032"/>
          </a:xfrm>
          <a:prstGeom prst="rect">
            <a:avLst/>
          </a:prstGeom>
          <a:noFill/>
          <a:ln/>
        </p:spPr>
        <p:txBody>
          <a:bodyPr wrap="square" lIns="0" tIns="0" rIns="0" bIns="0" rtlCol="0" anchor="t">
            <a:normAutofit lnSpcReduction="10000"/>
          </a:bodyPr>
          <a:lstStyle/>
          <a:p>
            <a:pPr marL="0" indent="0" algn="ctr">
              <a:buNone/>
            </a:pPr>
            <a:r>
              <a:rPr lang="en-US" sz="1700" b="1" dirty="0">
                <a:solidFill>
                  <a:srgbClr val="2457D6"/>
                </a:solidFill>
                <a:latin typeface="Aptos" pitchFamily="34" charset="0"/>
                <a:ea typeface="Aptos" pitchFamily="34" charset="-122"/>
                <a:cs typeface="Aptos" pitchFamily="34" charset="-120"/>
              </a:rPr>
              <a:t>→</a:t>
            </a:r>
            <a:endParaRPr lang="en-US" sz="1700" dirty="0"/>
          </a:p>
        </p:txBody>
      </p:sp>
      <p:sp>
        <p:nvSpPr>
          <p:cNvPr id="10" name="Shape 8"/>
          <p:cNvSpPr/>
          <p:nvPr/>
        </p:nvSpPr>
        <p:spPr>
          <a:xfrm>
            <a:off x="2560320" y="1783080"/>
            <a:ext cx="1664208" cy="1298448"/>
          </a:xfrm>
          <a:prstGeom prst="roundRect">
            <a:avLst>
              <a:gd name="adj" fmla="val 7042"/>
            </a:avLst>
          </a:prstGeom>
          <a:solidFill>
            <a:srgbClr val="FFFFFF"/>
          </a:solidFill>
          <a:ln w="10160">
            <a:solidFill>
              <a:srgbClr val="D9E3EE"/>
            </a:solidFill>
            <a:prstDash val="solid"/>
          </a:ln>
        </p:spPr>
      </p:sp>
      <p:sp>
        <p:nvSpPr>
          <p:cNvPr id="11" name="Text 9"/>
          <p:cNvSpPr/>
          <p:nvPr/>
        </p:nvSpPr>
        <p:spPr>
          <a:xfrm>
            <a:off x="2697480" y="1938528"/>
            <a:ext cx="402336" cy="237744"/>
          </a:xfrm>
          <a:prstGeom prst="rect">
            <a:avLst/>
          </a:prstGeom>
          <a:noFill/>
          <a:ln/>
        </p:spPr>
        <p:txBody>
          <a:bodyPr wrap="square" lIns="0" tIns="0" rIns="0" bIns="0" rtlCol="0" anchor="t">
            <a:normAutofit/>
          </a:bodyPr>
          <a:lstStyle/>
          <a:p>
            <a:pPr marL="0" indent="0" algn="l">
              <a:buNone/>
            </a:pPr>
            <a:r>
              <a:rPr lang="en-US" sz="1100" b="1" dirty="0">
                <a:solidFill>
                  <a:srgbClr val="2457D6"/>
                </a:solidFill>
                <a:latin typeface="Aptos" pitchFamily="34" charset="0"/>
                <a:ea typeface="Aptos" pitchFamily="34" charset="-122"/>
                <a:cs typeface="Aptos" pitchFamily="34" charset="-120"/>
              </a:rPr>
              <a:t>02</a:t>
            </a:r>
            <a:endParaRPr lang="en-US" sz="1100" dirty="0"/>
          </a:p>
        </p:txBody>
      </p:sp>
      <p:sp>
        <p:nvSpPr>
          <p:cNvPr id="12" name="Text 10"/>
          <p:cNvSpPr/>
          <p:nvPr/>
        </p:nvSpPr>
        <p:spPr>
          <a:xfrm>
            <a:off x="2697480" y="2258568"/>
            <a:ext cx="1325880" cy="228600"/>
          </a:xfrm>
          <a:prstGeom prst="rect">
            <a:avLst/>
          </a:prstGeom>
          <a:noFill/>
          <a:ln/>
        </p:spPr>
        <p:txBody>
          <a:bodyPr wrap="square" lIns="0" tIns="0" rIns="0" bIns="0" rtlCol="0" anchor="t">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Chuẩn kiểu</a:t>
            </a:r>
            <a:endParaRPr lang="en-US" sz="1200" dirty="0"/>
          </a:p>
        </p:txBody>
      </p:sp>
      <p:sp>
        <p:nvSpPr>
          <p:cNvPr id="13" name="Text 11"/>
          <p:cNvSpPr/>
          <p:nvPr/>
        </p:nvSpPr>
        <p:spPr>
          <a:xfrm>
            <a:off x="2697480" y="2551176"/>
            <a:ext cx="1325880" cy="347472"/>
          </a:xfrm>
          <a:prstGeom prst="rect">
            <a:avLst/>
          </a:prstGeom>
          <a:noFill/>
          <a:ln/>
        </p:spPr>
        <p:txBody>
          <a:bodyPr wrap="square" lIns="0" tIns="0" rIns="0" bIns="0" rtlCol="0" anchor="t">
            <a:normAutofit/>
          </a:bodyPr>
          <a:lstStyle/>
          <a:p>
            <a:pPr marL="0" indent="0" algn="l">
              <a:buNone/>
            </a:pPr>
            <a:r>
              <a:rPr lang="en-US" sz="940" dirty="0">
                <a:solidFill>
                  <a:srgbClr val="63758A"/>
                </a:solidFill>
                <a:latin typeface="Aptos" pitchFamily="34" charset="0"/>
                <a:ea typeface="Aptos" pitchFamily="34" charset="-122"/>
                <a:cs typeface="Aptos" pitchFamily="34" charset="-120"/>
              </a:rPr>
              <a:t>14 feature numeric</a:t>
            </a:r>
            <a:endParaRPr lang="en-US" sz="940" dirty="0"/>
          </a:p>
        </p:txBody>
      </p:sp>
      <p:sp>
        <p:nvSpPr>
          <p:cNvPr id="14" name="Text 12"/>
          <p:cNvSpPr/>
          <p:nvPr/>
        </p:nvSpPr>
        <p:spPr>
          <a:xfrm>
            <a:off x="4242816" y="2240280"/>
            <a:ext cx="201168" cy="256032"/>
          </a:xfrm>
          <a:prstGeom prst="rect">
            <a:avLst/>
          </a:prstGeom>
          <a:noFill/>
          <a:ln/>
        </p:spPr>
        <p:txBody>
          <a:bodyPr wrap="square" lIns="0" tIns="0" rIns="0" bIns="0" rtlCol="0" anchor="t">
            <a:normAutofit lnSpcReduction="10000"/>
          </a:bodyPr>
          <a:lstStyle/>
          <a:p>
            <a:pPr marL="0" indent="0" algn="ctr">
              <a:buNone/>
            </a:pPr>
            <a:r>
              <a:rPr lang="en-US" sz="1700" b="1" dirty="0">
                <a:solidFill>
                  <a:srgbClr val="2457D6"/>
                </a:solidFill>
                <a:latin typeface="Aptos" pitchFamily="34" charset="0"/>
                <a:ea typeface="Aptos" pitchFamily="34" charset="-122"/>
                <a:cs typeface="Aptos" pitchFamily="34" charset="-120"/>
              </a:rPr>
              <a:t>→</a:t>
            </a:r>
            <a:endParaRPr lang="en-US" sz="1700" dirty="0"/>
          </a:p>
        </p:txBody>
      </p:sp>
      <p:sp>
        <p:nvSpPr>
          <p:cNvPr id="15" name="Shape 13"/>
          <p:cNvSpPr/>
          <p:nvPr/>
        </p:nvSpPr>
        <p:spPr>
          <a:xfrm>
            <a:off x="4462272" y="1783080"/>
            <a:ext cx="1664208" cy="1298448"/>
          </a:xfrm>
          <a:prstGeom prst="roundRect">
            <a:avLst>
              <a:gd name="adj" fmla="val 7042"/>
            </a:avLst>
          </a:prstGeom>
          <a:solidFill>
            <a:srgbClr val="FFFFFF"/>
          </a:solidFill>
          <a:ln w="10160">
            <a:solidFill>
              <a:srgbClr val="D9E3EE"/>
            </a:solidFill>
            <a:prstDash val="solid"/>
          </a:ln>
        </p:spPr>
      </p:sp>
      <p:sp>
        <p:nvSpPr>
          <p:cNvPr id="16" name="Text 14"/>
          <p:cNvSpPr/>
          <p:nvPr/>
        </p:nvSpPr>
        <p:spPr>
          <a:xfrm>
            <a:off x="4599432" y="1938528"/>
            <a:ext cx="402336" cy="237744"/>
          </a:xfrm>
          <a:prstGeom prst="rect">
            <a:avLst/>
          </a:prstGeom>
          <a:noFill/>
          <a:ln/>
        </p:spPr>
        <p:txBody>
          <a:bodyPr wrap="square" lIns="0" tIns="0" rIns="0" bIns="0" rtlCol="0" anchor="t">
            <a:normAutofit/>
          </a:bodyPr>
          <a:lstStyle/>
          <a:p>
            <a:pPr marL="0" indent="0" algn="l">
              <a:buNone/>
            </a:pPr>
            <a:r>
              <a:rPr lang="en-US" sz="1100" b="1" dirty="0">
                <a:solidFill>
                  <a:srgbClr val="2457D6"/>
                </a:solidFill>
                <a:latin typeface="Aptos" pitchFamily="34" charset="0"/>
                <a:ea typeface="Aptos" pitchFamily="34" charset="-122"/>
                <a:cs typeface="Aptos" pitchFamily="34" charset="-120"/>
              </a:rPr>
              <a:t>03</a:t>
            </a:r>
            <a:endParaRPr lang="en-US" sz="1100" dirty="0"/>
          </a:p>
        </p:txBody>
      </p:sp>
      <p:sp>
        <p:nvSpPr>
          <p:cNvPr id="17" name="Text 15"/>
          <p:cNvSpPr/>
          <p:nvPr/>
        </p:nvSpPr>
        <p:spPr>
          <a:xfrm>
            <a:off x="4599432" y="2258568"/>
            <a:ext cx="1325880" cy="228600"/>
          </a:xfrm>
          <a:prstGeom prst="rect">
            <a:avLst/>
          </a:prstGeom>
          <a:noFill/>
          <a:ln/>
        </p:spPr>
        <p:txBody>
          <a:bodyPr wrap="square" lIns="0" tIns="0" rIns="0" bIns="0" rtlCol="0" anchor="t">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Loại id</a:t>
            </a:r>
            <a:endParaRPr lang="en-US" sz="1200" dirty="0"/>
          </a:p>
        </p:txBody>
      </p:sp>
      <p:sp>
        <p:nvSpPr>
          <p:cNvPr id="18" name="Text 16"/>
          <p:cNvSpPr/>
          <p:nvPr/>
        </p:nvSpPr>
        <p:spPr>
          <a:xfrm>
            <a:off x="4599432" y="2551176"/>
            <a:ext cx="1325880" cy="347472"/>
          </a:xfrm>
          <a:prstGeom prst="rect">
            <a:avLst/>
          </a:prstGeom>
          <a:noFill/>
          <a:ln/>
        </p:spPr>
        <p:txBody>
          <a:bodyPr wrap="square" lIns="0" tIns="0" rIns="0" bIns="0" rtlCol="0" anchor="t">
            <a:normAutofit/>
          </a:bodyPr>
          <a:lstStyle/>
          <a:p>
            <a:pPr marL="0" indent="0" algn="l">
              <a:buNone/>
            </a:pPr>
            <a:r>
              <a:rPr lang="en-US" sz="940" dirty="0">
                <a:solidFill>
                  <a:srgbClr val="63758A"/>
                </a:solidFill>
                <a:latin typeface="Aptos" pitchFamily="34" charset="0"/>
                <a:ea typeface="Aptos" pitchFamily="34" charset="-122"/>
                <a:cs typeface="Aptos" pitchFamily="34" charset="-120"/>
              </a:rPr>
              <a:t>X = 24 features</a:t>
            </a:r>
            <a:endParaRPr lang="en-US" sz="940" dirty="0"/>
          </a:p>
        </p:txBody>
      </p:sp>
      <p:sp>
        <p:nvSpPr>
          <p:cNvPr id="19" name="Text 17"/>
          <p:cNvSpPr/>
          <p:nvPr/>
        </p:nvSpPr>
        <p:spPr>
          <a:xfrm>
            <a:off x="6144768" y="2240280"/>
            <a:ext cx="201168" cy="256032"/>
          </a:xfrm>
          <a:prstGeom prst="rect">
            <a:avLst/>
          </a:prstGeom>
          <a:noFill/>
          <a:ln/>
        </p:spPr>
        <p:txBody>
          <a:bodyPr wrap="square" lIns="0" tIns="0" rIns="0" bIns="0" rtlCol="0" anchor="t">
            <a:normAutofit lnSpcReduction="10000"/>
          </a:bodyPr>
          <a:lstStyle/>
          <a:p>
            <a:pPr marL="0" indent="0" algn="ctr">
              <a:buNone/>
            </a:pPr>
            <a:r>
              <a:rPr lang="en-US" sz="1700" b="1" dirty="0">
                <a:solidFill>
                  <a:srgbClr val="2457D6"/>
                </a:solidFill>
                <a:latin typeface="Aptos" pitchFamily="34" charset="0"/>
                <a:ea typeface="Aptos" pitchFamily="34" charset="-122"/>
                <a:cs typeface="Aptos" pitchFamily="34" charset="-120"/>
              </a:rPr>
              <a:t>→</a:t>
            </a:r>
            <a:endParaRPr lang="en-US" sz="1700" dirty="0"/>
          </a:p>
        </p:txBody>
      </p:sp>
      <p:sp>
        <p:nvSpPr>
          <p:cNvPr id="20" name="Shape 18"/>
          <p:cNvSpPr/>
          <p:nvPr/>
        </p:nvSpPr>
        <p:spPr>
          <a:xfrm>
            <a:off x="6364224" y="1783080"/>
            <a:ext cx="1664208" cy="1298448"/>
          </a:xfrm>
          <a:prstGeom prst="roundRect">
            <a:avLst>
              <a:gd name="adj" fmla="val 7042"/>
            </a:avLst>
          </a:prstGeom>
          <a:solidFill>
            <a:srgbClr val="FFFFFF"/>
          </a:solidFill>
          <a:ln w="10160">
            <a:solidFill>
              <a:srgbClr val="D9E3EE"/>
            </a:solidFill>
            <a:prstDash val="solid"/>
          </a:ln>
        </p:spPr>
      </p:sp>
      <p:sp>
        <p:nvSpPr>
          <p:cNvPr id="21" name="Text 19"/>
          <p:cNvSpPr/>
          <p:nvPr/>
        </p:nvSpPr>
        <p:spPr>
          <a:xfrm>
            <a:off x="6501384" y="1938528"/>
            <a:ext cx="402336" cy="237744"/>
          </a:xfrm>
          <a:prstGeom prst="rect">
            <a:avLst/>
          </a:prstGeom>
          <a:noFill/>
          <a:ln/>
        </p:spPr>
        <p:txBody>
          <a:bodyPr wrap="square" lIns="0" tIns="0" rIns="0" bIns="0" rtlCol="0" anchor="t">
            <a:normAutofit/>
          </a:bodyPr>
          <a:lstStyle/>
          <a:p>
            <a:pPr marL="0" indent="0" algn="l">
              <a:buNone/>
            </a:pPr>
            <a:r>
              <a:rPr lang="en-US" sz="1100" b="1" dirty="0">
                <a:solidFill>
                  <a:srgbClr val="2457D6"/>
                </a:solidFill>
                <a:latin typeface="Aptos" pitchFamily="34" charset="0"/>
                <a:ea typeface="Aptos" pitchFamily="34" charset="-122"/>
                <a:cs typeface="Aptos" pitchFamily="34" charset="-120"/>
              </a:rPr>
              <a:t>04</a:t>
            </a:r>
            <a:endParaRPr lang="en-US" sz="1100" dirty="0"/>
          </a:p>
        </p:txBody>
      </p:sp>
      <p:sp>
        <p:nvSpPr>
          <p:cNvPr id="22" name="Text 20"/>
          <p:cNvSpPr/>
          <p:nvPr/>
        </p:nvSpPr>
        <p:spPr>
          <a:xfrm>
            <a:off x="6501384" y="2258568"/>
            <a:ext cx="1325880" cy="228600"/>
          </a:xfrm>
          <a:prstGeom prst="rect">
            <a:avLst/>
          </a:prstGeom>
          <a:noFill/>
          <a:ln/>
        </p:spPr>
        <p:txBody>
          <a:bodyPr wrap="square" lIns="0" tIns="0" rIns="0" bIns="0" rtlCol="0" anchor="t">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Split</a:t>
            </a:r>
            <a:endParaRPr lang="en-US" sz="1200" dirty="0"/>
          </a:p>
        </p:txBody>
      </p:sp>
      <p:sp>
        <p:nvSpPr>
          <p:cNvPr id="23" name="Text 21"/>
          <p:cNvSpPr/>
          <p:nvPr/>
        </p:nvSpPr>
        <p:spPr>
          <a:xfrm>
            <a:off x="6501384" y="2551176"/>
            <a:ext cx="1325880" cy="347472"/>
          </a:xfrm>
          <a:prstGeom prst="rect">
            <a:avLst/>
          </a:prstGeom>
          <a:noFill/>
          <a:ln/>
        </p:spPr>
        <p:txBody>
          <a:bodyPr wrap="square" lIns="0" tIns="0" rIns="0" bIns="0" rtlCol="0" anchor="t">
            <a:normAutofit/>
          </a:bodyPr>
          <a:lstStyle/>
          <a:p>
            <a:pPr marL="0" indent="0" algn="l">
              <a:buNone/>
            </a:pPr>
            <a:r>
              <a:rPr lang="en-US" sz="940" dirty="0">
                <a:solidFill>
                  <a:srgbClr val="63758A"/>
                </a:solidFill>
                <a:latin typeface="Aptos" pitchFamily="34" charset="0"/>
                <a:ea typeface="Aptos" pitchFamily="34" charset="-122"/>
                <a:cs typeface="Aptos" pitchFamily="34" charset="-120"/>
              </a:rPr>
              <a:t>320 Train / 80 Test</a:t>
            </a:r>
            <a:endParaRPr lang="en-US" sz="940" dirty="0"/>
          </a:p>
        </p:txBody>
      </p:sp>
      <p:sp>
        <p:nvSpPr>
          <p:cNvPr id="24" name="Text 22"/>
          <p:cNvSpPr/>
          <p:nvPr/>
        </p:nvSpPr>
        <p:spPr>
          <a:xfrm>
            <a:off x="8046720" y="2240280"/>
            <a:ext cx="201168" cy="256032"/>
          </a:xfrm>
          <a:prstGeom prst="rect">
            <a:avLst/>
          </a:prstGeom>
          <a:noFill/>
          <a:ln/>
        </p:spPr>
        <p:txBody>
          <a:bodyPr wrap="square" lIns="0" tIns="0" rIns="0" bIns="0" rtlCol="0" anchor="t">
            <a:normAutofit lnSpcReduction="10000"/>
          </a:bodyPr>
          <a:lstStyle/>
          <a:p>
            <a:pPr marL="0" indent="0" algn="ctr">
              <a:buNone/>
            </a:pPr>
            <a:r>
              <a:rPr lang="en-US" sz="1700" b="1" dirty="0">
                <a:solidFill>
                  <a:srgbClr val="2457D6"/>
                </a:solidFill>
                <a:latin typeface="Aptos" pitchFamily="34" charset="0"/>
                <a:ea typeface="Aptos" pitchFamily="34" charset="-122"/>
                <a:cs typeface="Aptos" pitchFamily="34" charset="-120"/>
              </a:rPr>
              <a:t>→</a:t>
            </a:r>
            <a:endParaRPr lang="en-US" sz="1700" dirty="0"/>
          </a:p>
        </p:txBody>
      </p:sp>
      <p:sp>
        <p:nvSpPr>
          <p:cNvPr id="25" name="Shape 23"/>
          <p:cNvSpPr/>
          <p:nvPr/>
        </p:nvSpPr>
        <p:spPr>
          <a:xfrm>
            <a:off x="8266176" y="1783080"/>
            <a:ext cx="1664208" cy="1298448"/>
          </a:xfrm>
          <a:prstGeom prst="roundRect">
            <a:avLst>
              <a:gd name="adj" fmla="val 7042"/>
            </a:avLst>
          </a:prstGeom>
          <a:solidFill>
            <a:srgbClr val="EAF8F7"/>
          </a:solidFill>
          <a:ln w="10160">
            <a:solidFill>
              <a:srgbClr val="0E9F9A"/>
            </a:solidFill>
            <a:prstDash val="solid"/>
          </a:ln>
        </p:spPr>
      </p:sp>
      <p:sp>
        <p:nvSpPr>
          <p:cNvPr id="26" name="Text 24"/>
          <p:cNvSpPr/>
          <p:nvPr/>
        </p:nvSpPr>
        <p:spPr>
          <a:xfrm>
            <a:off x="8403336" y="1938528"/>
            <a:ext cx="402336" cy="237744"/>
          </a:xfrm>
          <a:prstGeom prst="rect">
            <a:avLst/>
          </a:prstGeom>
          <a:noFill/>
          <a:ln/>
        </p:spPr>
        <p:txBody>
          <a:bodyPr wrap="square" lIns="0" tIns="0" rIns="0" bIns="0" rtlCol="0" anchor="t">
            <a:normAutofit/>
          </a:bodyPr>
          <a:lstStyle/>
          <a:p>
            <a:pPr marL="0" indent="0" algn="l">
              <a:buNone/>
            </a:pPr>
            <a:r>
              <a:rPr lang="en-US" sz="1100" b="1" dirty="0">
                <a:solidFill>
                  <a:srgbClr val="0E9F9A"/>
                </a:solidFill>
                <a:latin typeface="Aptos" pitchFamily="34" charset="0"/>
                <a:ea typeface="Aptos" pitchFamily="34" charset="-122"/>
                <a:cs typeface="Aptos" pitchFamily="34" charset="-120"/>
              </a:rPr>
              <a:t>05</a:t>
            </a:r>
            <a:endParaRPr lang="en-US" sz="1100" dirty="0"/>
          </a:p>
        </p:txBody>
      </p:sp>
      <p:sp>
        <p:nvSpPr>
          <p:cNvPr id="27" name="Text 25"/>
          <p:cNvSpPr/>
          <p:nvPr/>
        </p:nvSpPr>
        <p:spPr>
          <a:xfrm>
            <a:off x="8403336" y="2258568"/>
            <a:ext cx="1325880" cy="228600"/>
          </a:xfrm>
          <a:prstGeom prst="rect">
            <a:avLst/>
          </a:prstGeom>
          <a:noFill/>
          <a:ln/>
        </p:spPr>
        <p:txBody>
          <a:bodyPr wrap="square" lIns="0" tIns="0" rIns="0" bIns="0" rtlCol="0" anchor="t">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Transform</a:t>
            </a:r>
            <a:endParaRPr lang="en-US" sz="1200" dirty="0"/>
          </a:p>
        </p:txBody>
      </p:sp>
      <p:sp>
        <p:nvSpPr>
          <p:cNvPr id="28" name="Text 26"/>
          <p:cNvSpPr/>
          <p:nvPr/>
        </p:nvSpPr>
        <p:spPr>
          <a:xfrm>
            <a:off x="8403336" y="2551176"/>
            <a:ext cx="1325880" cy="347472"/>
          </a:xfrm>
          <a:prstGeom prst="rect">
            <a:avLst/>
          </a:prstGeom>
          <a:noFill/>
          <a:ln/>
        </p:spPr>
        <p:txBody>
          <a:bodyPr wrap="square" lIns="0" tIns="0" rIns="0" bIns="0" rtlCol="0" anchor="t">
            <a:normAutofit/>
          </a:bodyPr>
          <a:lstStyle/>
          <a:p>
            <a:pPr marL="0" indent="0" algn="l">
              <a:buNone/>
            </a:pPr>
            <a:r>
              <a:rPr lang="en-US" sz="940" dirty="0">
                <a:solidFill>
                  <a:srgbClr val="63758A"/>
                </a:solidFill>
                <a:latin typeface="Aptos" pitchFamily="34" charset="0"/>
                <a:ea typeface="Aptos" pitchFamily="34" charset="-122"/>
                <a:cs typeface="Aptos" pitchFamily="34" charset="-120"/>
              </a:rPr>
              <a:t>Impute + Encode + Scale</a:t>
            </a:r>
            <a:endParaRPr lang="en-US" sz="940" dirty="0"/>
          </a:p>
        </p:txBody>
      </p:sp>
      <p:sp>
        <p:nvSpPr>
          <p:cNvPr id="29" name="Text 27"/>
          <p:cNvSpPr/>
          <p:nvPr/>
        </p:nvSpPr>
        <p:spPr>
          <a:xfrm>
            <a:off x="9948672" y="2240280"/>
            <a:ext cx="201168" cy="256032"/>
          </a:xfrm>
          <a:prstGeom prst="rect">
            <a:avLst/>
          </a:prstGeom>
          <a:noFill/>
          <a:ln/>
        </p:spPr>
        <p:txBody>
          <a:bodyPr wrap="square" lIns="0" tIns="0" rIns="0" bIns="0" rtlCol="0" anchor="t">
            <a:normAutofit lnSpcReduction="10000"/>
          </a:bodyPr>
          <a:lstStyle/>
          <a:p>
            <a:pPr marL="0" indent="0" algn="ctr">
              <a:buNone/>
            </a:pPr>
            <a:r>
              <a:rPr lang="en-US" sz="1700" b="1" dirty="0">
                <a:solidFill>
                  <a:srgbClr val="2457D6"/>
                </a:solidFill>
                <a:latin typeface="Aptos" pitchFamily="34" charset="0"/>
                <a:ea typeface="Aptos" pitchFamily="34" charset="-122"/>
                <a:cs typeface="Aptos" pitchFamily="34" charset="-120"/>
              </a:rPr>
              <a:t>→</a:t>
            </a:r>
            <a:endParaRPr lang="en-US" sz="1700" dirty="0"/>
          </a:p>
        </p:txBody>
      </p:sp>
      <p:sp>
        <p:nvSpPr>
          <p:cNvPr id="30" name="Shape 28"/>
          <p:cNvSpPr/>
          <p:nvPr/>
        </p:nvSpPr>
        <p:spPr>
          <a:xfrm>
            <a:off x="10168128" y="1783080"/>
            <a:ext cx="1664208" cy="1298448"/>
          </a:xfrm>
          <a:prstGeom prst="roundRect">
            <a:avLst>
              <a:gd name="adj" fmla="val 7042"/>
            </a:avLst>
          </a:prstGeom>
          <a:solidFill>
            <a:srgbClr val="FFFFFF"/>
          </a:solidFill>
          <a:ln w="10160">
            <a:solidFill>
              <a:srgbClr val="D9E3EE"/>
            </a:solidFill>
            <a:prstDash val="solid"/>
          </a:ln>
        </p:spPr>
      </p:sp>
      <p:sp>
        <p:nvSpPr>
          <p:cNvPr id="31" name="Text 29"/>
          <p:cNvSpPr/>
          <p:nvPr/>
        </p:nvSpPr>
        <p:spPr>
          <a:xfrm>
            <a:off x="10305288" y="1938528"/>
            <a:ext cx="402336" cy="237744"/>
          </a:xfrm>
          <a:prstGeom prst="rect">
            <a:avLst/>
          </a:prstGeom>
          <a:noFill/>
          <a:ln/>
        </p:spPr>
        <p:txBody>
          <a:bodyPr wrap="square" lIns="0" tIns="0" rIns="0" bIns="0" rtlCol="0" anchor="t">
            <a:normAutofit/>
          </a:bodyPr>
          <a:lstStyle/>
          <a:p>
            <a:pPr marL="0" indent="0" algn="l">
              <a:buNone/>
            </a:pPr>
            <a:r>
              <a:rPr lang="en-US" sz="1100" b="1" dirty="0">
                <a:solidFill>
                  <a:srgbClr val="2457D6"/>
                </a:solidFill>
                <a:latin typeface="Aptos" pitchFamily="34" charset="0"/>
                <a:ea typeface="Aptos" pitchFamily="34" charset="-122"/>
                <a:cs typeface="Aptos" pitchFamily="34" charset="-120"/>
              </a:rPr>
              <a:t>06</a:t>
            </a:r>
            <a:endParaRPr lang="en-US" sz="1100" dirty="0"/>
          </a:p>
        </p:txBody>
      </p:sp>
      <p:sp>
        <p:nvSpPr>
          <p:cNvPr id="32" name="Text 30"/>
          <p:cNvSpPr/>
          <p:nvPr/>
        </p:nvSpPr>
        <p:spPr>
          <a:xfrm>
            <a:off x="10305288" y="2258568"/>
            <a:ext cx="1325880" cy="228600"/>
          </a:xfrm>
          <a:prstGeom prst="rect">
            <a:avLst/>
          </a:prstGeom>
          <a:noFill/>
          <a:ln/>
        </p:spPr>
        <p:txBody>
          <a:bodyPr wrap="square" lIns="0" tIns="0" rIns="0" bIns="0" rtlCol="0" anchor="t">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Pipeline</a:t>
            </a:r>
            <a:endParaRPr lang="en-US" sz="1200" dirty="0"/>
          </a:p>
        </p:txBody>
      </p:sp>
      <p:sp>
        <p:nvSpPr>
          <p:cNvPr id="33" name="Text 31"/>
          <p:cNvSpPr/>
          <p:nvPr/>
        </p:nvSpPr>
        <p:spPr>
          <a:xfrm>
            <a:off x="10305288" y="2551176"/>
            <a:ext cx="1325880" cy="347472"/>
          </a:xfrm>
          <a:prstGeom prst="rect">
            <a:avLst/>
          </a:prstGeom>
          <a:noFill/>
          <a:ln/>
        </p:spPr>
        <p:txBody>
          <a:bodyPr wrap="square" lIns="0" tIns="0" rIns="0" bIns="0" rtlCol="0" anchor="t">
            <a:normAutofit/>
          </a:bodyPr>
          <a:lstStyle/>
          <a:p>
            <a:pPr marL="0" indent="0" algn="l">
              <a:buNone/>
            </a:pPr>
            <a:r>
              <a:rPr lang="en-US" sz="940" dirty="0">
                <a:solidFill>
                  <a:srgbClr val="63758A"/>
                </a:solidFill>
                <a:latin typeface="Aptos" pitchFamily="34" charset="0"/>
                <a:ea typeface="Aptos" pitchFamily="34" charset="-122"/>
                <a:cs typeface="Aptos" pitchFamily="34" charset="-120"/>
              </a:rPr>
              <a:t>ColumnTransformer → Model</a:t>
            </a:r>
            <a:endParaRPr lang="en-US" sz="940" dirty="0"/>
          </a:p>
        </p:txBody>
      </p:sp>
      <p:sp>
        <p:nvSpPr>
          <p:cNvPr id="34" name="Shape 32"/>
          <p:cNvSpPr/>
          <p:nvPr/>
        </p:nvSpPr>
        <p:spPr>
          <a:xfrm>
            <a:off x="658368" y="3419856"/>
            <a:ext cx="3657600" cy="2240280"/>
          </a:xfrm>
          <a:prstGeom prst="roundRect">
            <a:avLst>
              <a:gd name="adj" fmla="val 4898"/>
            </a:avLst>
          </a:prstGeom>
          <a:solidFill>
            <a:srgbClr val="FFFFFF"/>
          </a:solidFill>
          <a:ln w="10160">
            <a:solidFill>
              <a:srgbClr val="D9E3EE"/>
            </a:solidFill>
            <a:prstDash val="solid"/>
          </a:ln>
          <a:effectLst>
            <a:outerShdw algn="bl" rotWithShape="0">
              <a:srgbClr val="000000">
                <a:alpha val="0"/>
              </a:srgbClr>
            </a:outerShdw>
          </a:effectLst>
        </p:spPr>
      </p:sp>
      <p:sp>
        <p:nvSpPr>
          <p:cNvPr id="35" name="Shape 33"/>
          <p:cNvSpPr/>
          <p:nvPr/>
        </p:nvSpPr>
        <p:spPr>
          <a:xfrm>
            <a:off x="914400" y="3685032"/>
            <a:ext cx="1572768" cy="310896"/>
          </a:xfrm>
          <a:prstGeom prst="roundRect">
            <a:avLst/>
          </a:prstGeom>
          <a:solidFill>
            <a:srgbClr val="EDF4FF"/>
          </a:solidFill>
          <a:ln w="12700">
            <a:solidFill>
              <a:srgbClr val="EDF4FF"/>
            </a:solidFill>
            <a:prstDash val="solid"/>
          </a:ln>
        </p:spPr>
      </p:sp>
      <p:sp>
        <p:nvSpPr>
          <p:cNvPr id="36" name="Text 34"/>
          <p:cNvSpPr/>
          <p:nvPr/>
        </p:nvSpPr>
        <p:spPr>
          <a:xfrm>
            <a:off x="914400" y="3712464"/>
            <a:ext cx="1572768" cy="246888"/>
          </a:xfrm>
          <a:prstGeom prst="rect">
            <a:avLst/>
          </a:prstGeom>
          <a:noFill/>
          <a:ln/>
        </p:spPr>
        <p:txBody>
          <a:bodyPr wrap="square" lIns="0" tIns="0" rIns="0" bIns="0" rtlCol="0" anchor="ctr">
            <a:normAutofit/>
          </a:bodyPr>
          <a:lstStyle/>
          <a:p>
            <a:pPr marL="0" indent="0" algn="ctr">
              <a:buNone/>
            </a:pPr>
            <a:r>
              <a:rPr lang="en-US" sz="900" b="1" dirty="0">
                <a:solidFill>
                  <a:srgbClr val="2457D6"/>
                </a:solidFill>
                <a:latin typeface="Aptos" pitchFamily="34" charset="0"/>
                <a:ea typeface="Aptos" pitchFamily="34" charset="-122"/>
                <a:cs typeface="Aptos" pitchFamily="34" charset="-120"/>
              </a:rPr>
              <a:t>NUMERIC PIPELINE</a:t>
            </a:r>
            <a:endParaRPr lang="en-US" sz="900" dirty="0"/>
          </a:p>
        </p:txBody>
      </p:sp>
      <p:sp>
        <p:nvSpPr>
          <p:cNvPr id="37" name="Text 35"/>
          <p:cNvSpPr/>
          <p:nvPr/>
        </p:nvSpPr>
        <p:spPr>
          <a:xfrm>
            <a:off x="914400" y="4187952"/>
            <a:ext cx="3108960" cy="256032"/>
          </a:xfrm>
          <a:prstGeom prst="rect">
            <a:avLst/>
          </a:prstGeom>
          <a:noFill/>
          <a:ln/>
        </p:spPr>
        <p:txBody>
          <a:bodyPr wrap="square" lIns="0" tIns="0" rIns="0" bIns="0" rtlCol="0" anchor="t">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SimpleImputer(strategy="median")</a:t>
            </a:r>
            <a:endParaRPr lang="en-US" sz="1200" dirty="0"/>
          </a:p>
        </p:txBody>
      </p:sp>
      <p:sp>
        <p:nvSpPr>
          <p:cNvPr id="38" name="Text 36"/>
          <p:cNvSpPr/>
          <p:nvPr/>
        </p:nvSpPr>
        <p:spPr>
          <a:xfrm>
            <a:off x="2267712" y="4480560"/>
            <a:ext cx="201168" cy="256032"/>
          </a:xfrm>
          <a:prstGeom prst="rect">
            <a:avLst/>
          </a:prstGeom>
          <a:noFill/>
          <a:ln/>
        </p:spPr>
        <p:txBody>
          <a:bodyPr wrap="square" lIns="0" tIns="0" rIns="0" bIns="0" rtlCol="0" anchor="t">
            <a:normAutofit/>
          </a:bodyPr>
          <a:lstStyle/>
          <a:p>
            <a:pPr marL="0" indent="0" algn="ctr">
              <a:buNone/>
            </a:pPr>
            <a:r>
              <a:rPr lang="en-US" sz="1600" b="1" dirty="0">
                <a:solidFill>
                  <a:srgbClr val="2457D6"/>
                </a:solidFill>
                <a:latin typeface="Aptos" pitchFamily="34" charset="0"/>
                <a:ea typeface="Aptos" pitchFamily="34" charset="-122"/>
                <a:cs typeface="Aptos" pitchFamily="34" charset="-120"/>
              </a:rPr>
              <a:t>↓</a:t>
            </a:r>
            <a:endParaRPr lang="en-US" sz="1600" dirty="0"/>
          </a:p>
        </p:txBody>
      </p:sp>
      <p:sp>
        <p:nvSpPr>
          <p:cNvPr id="39" name="Text 37"/>
          <p:cNvSpPr/>
          <p:nvPr/>
        </p:nvSpPr>
        <p:spPr>
          <a:xfrm>
            <a:off x="914400" y="4828032"/>
            <a:ext cx="3108960" cy="256032"/>
          </a:xfrm>
          <a:prstGeom prst="rect">
            <a:avLst/>
          </a:prstGeom>
          <a:noFill/>
          <a:ln/>
        </p:spPr>
        <p:txBody>
          <a:bodyPr wrap="square" lIns="0" tIns="0" rIns="0" bIns="0" rtlCol="0" anchor="t">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StandardScaler()</a:t>
            </a:r>
            <a:endParaRPr lang="en-US" sz="1200" dirty="0"/>
          </a:p>
        </p:txBody>
      </p:sp>
      <p:sp>
        <p:nvSpPr>
          <p:cNvPr id="40" name="Text 38"/>
          <p:cNvSpPr/>
          <p:nvPr/>
        </p:nvSpPr>
        <p:spPr>
          <a:xfrm>
            <a:off x="914400" y="5239512"/>
            <a:ext cx="3127248" cy="256032"/>
          </a:xfrm>
          <a:prstGeom prst="rect">
            <a:avLst/>
          </a:prstGeom>
          <a:noFill/>
          <a:ln/>
        </p:spPr>
        <p:txBody>
          <a:bodyPr wrap="square" lIns="0" tIns="0" rIns="0" bIns="0" rtlCol="0" anchor="t">
            <a:normAutofit/>
          </a:bodyPr>
          <a:lstStyle/>
          <a:p>
            <a:pPr marL="0" indent="0" algn="l">
              <a:buNone/>
            </a:pPr>
            <a:r>
              <a:rPr lang="en-US" sz="1020" dirty="0">
                <a:solidFill>
                  <a:srgbClr val="63758A"/>
                </a:solidFill>
                <a:latin typeface="Aptos" pitchFamily="34" charset="0"/>
                <a:ea typeface="Aptos" pitchFamily="34" charset="-122"/>
                <a:cs typeface="Aptos" pitchFamily="34" charset="-120"/>
              </a:rPr>
              <a:t>Median chỉ được học trên X_train.</a:t>
            </a:r>
            <a:endParaRPr lang="en-US" sz="1020" dirty="0"/>
          </a:p>
        </p:txBody>
      </p:sp>
      <p:sp>
        <p:nvSpPr>
          <p:cNvPr id="41" name="Shape 39"/>
          <p:cNvSpPr/>
          <p:nvPr/>
        </p:nvSpPr>
        <p:spPr>
          <a:xfrm>
            <a:off x="4526280" y="3419856"/>
            <a:ext cx="3657600" cy="2240280"/>
          </a:xfrm>
          <a:prstGeom prst="roundRect">
            <a:avLst>
              <a:gd name="adj" fmla="val 4898"/>
            </a:avLst>
          </a:prstGeom>
          <a:solidFill>
            <a:srgbClr val="FFFFFF"/>
          </a:solidFill>
          <a:ln w="10160">
            <a:solidFill>
              <a:srgbClr val="D9E3EE"/>
            </a:solidFill>
            <a:prstDash val="solid"/>
          </a:ln>
          <a:effectLst>
            <a:outerShdw algn="bl" rotWithShape="0">
              <a:srgbClr val="000000">
                <a:alpha val="0"/>
              </a:srgbClr>
            </a:outerShdw>
          </a:effectLst>
        </p:spPr>
      </p:sp>
      <p:sp>
        <p:nvSpPr>
          <p:cNvPr id="42" name="Shape 40"/>
          <p:cNvSpPr/>
          <p:nvPr/>
        </p:nvSpPr>
        <p:spPr>
          <a:xfrm>
            <a:off x="4782312" y="3685032"/>
            <a:ext cx="1847088" cy="310896"/>
          </a:xfrm>
          <a:prstGeom prst="roundRect">
            <a:avLst/>
          </a:prstGeom>
          <a:solidFill>
            <a:srgbClr val="EAF8F7"/>
          </a:solidFill>
          <a:ln w="12700">
            <a:solidFill>
              <a:srgbClr val="EAF8F7"/>
            </a:solidFill>
            <a:prstDash val="solid"/>
          </a:ln>
        </p:spPr>
      </p:sp>
      <p:sp>
        <p:nvSpPr>
          <p:cNvPr id="43" name="Text 41"/>
          <p:cNvSpPr/>
          <p:nvPr/>
        </p:nvSpPr>
        <p:spPr>
          <a:xfrm>
            <a:off x="4782312" y="3712464"/>
            <a:ext cx="1847088" cy="246888"/>
          </a:xfrm>
          <a:prstGeom prst="rect">
            <a:avLst/>
          </a:prstGeom>
          <a:noFill/>
          <a:ln/>
        </p:spPr>
        <p:txBody>
          <a:bodyPr wrap="square" lIns="0" tIns="0" rIns="0" bIns="0" rtlCol="0" anchor="ctr">
            <a:normAutofit/>
          </a:bodyPr>
          <a:lstStyle/>
          <a:p>
            <a:pPr marL="0" indent="0" algn="ctr">
              <a:buNone/>
            </a:pPr>
            <a:r>
              <a:rPr lang="en-US" sz="900" b="1" dirty="0">
                <a:solidFill>
                  <a:srgbClr val="0E9F9A"/>
                </a:solidFill>
                <a:latin typeface="Aptos" pitchFamily="34" charset="0"/>
                <a:ea typeface="Aptos" pitchFamily="34" charset="-122"/>
                <a:cs typeface="Aptos" pitchFamily="34" charset="-120"/>
              </a:rPr>
              <a:t>CATEGORICAL PIPELINE</a:t>
            </a:r>
            <a:endParaRPr lang="en-US" sz="900" dirty="0"/>
          </a:p>
        </p:txBody>
      </p:sp>
      <p:sp>
        <p:nvSpPr>
          <p:cNvPr id="44" name="Text 42"/>
          <p:cNvSpPr/>
          <p:nvPr/>
        </p:nvSpPr>
        <p:spPr>
          <a:xfrm>
            <a:off x="4782312" y="4187952"/>
            <a:ext cx="3154680" cy="256032"/>
          </a:xfrm>
          <a:prstGeom prst="rect">
            <a:avLst/>
          </a:prstGeom>
          <a:noFill/>
          <a:ln/>
        </p:spPr>
        <p:txBody>
          <a:bodyPr wrap="square" lIns="0" tIns="0" rIns="0" bIns="0" rtlCol="0" anchor="t">
            <a:normAutofit/>
          </a:bodyPr>
          <a:lstStyle/>
          <a:p>
            <a:pPr marL="0" indent="0" algn="l">
              <a:buNone/>
            </a:pPr>
            <a:r>
              <a:rPr lang="en-US" sz="1160" b="1" dirty="0">
                <a:solidFill>
                  <a:srgbClr val="102A43"/>
                </a:solidFill>
                <a:latin typeface="Aptos" pitchFamily="34" charset="0"/>
                <a:ea typeface="Aptos" pitchFamily="34" charset="-122"/>
                <a:cs typeface="Aptos" pitchFamily="34" charset="-120"/>
              </a:rPr>
              <a:t>SimpleImputer(strategy="most_frequent")</a:t>
            </a:r>
            <a:endParaRPr lang="en-US" sz="1160" dirty="0"/>
          </a:p>
        </p:txBody>
      </p:sp>
      <p:sp>
        <p:nvSpPr>
          <p:cNvPr id="45" name="Text 43"/>
          <p:cNvSpPr/>
          <p:nvPr/>
        </p:nvSpPr>
        <p:spPr>
          <a:xfrm>
            <a:off x="6144768" y="4480560"/>
            <a:ext cx="201168" cy="256032"/>
          </a:xfrm>
          <a:prstGeom prst="rect">
            <a:avLst/>
          </a:prstGeom>
          <a:noFill/>
          <a:ln/>
        </p:spPr>
        <p:txBody>
          <a:bodyPr wrap="square" lIns="0" tIns="0" rIns="0" bIns="0" rtlCol="0" anchor="t">
            <a:normAutofit/>
          </a:bodyPr>
          <a:lstStyle/>
          <a:p>
            <a:pPr marL="0" indent="0" algn="ctr">
              <a:buNone/>
            </a:pPr>
            <a:r>
              <a:rPr lang="en-US" sz="1600" b="1" dirty="0">
                <a:solidFill>
                  <a:srgbClr val="0E9F9A"/>
                </a:solidFill>
                <a:latin typeface="Aptos" pitchFamily="34" charset="0"/>
                <a:ea typeface="Aptos" pitchFamily="34" charset="-122"/>
                <a:cs typeface="Aptos" pitchFamily="34" charset="-120"/>
              </a:rPr>
              <a:t>↓</a:t>
            </a:r>
            <a:endParaRPr lang="en-US" sz="1600" dirty="0"/>
          </a:p>
        </p:txBody>
      </p:sp>
      <p:sp>
        <p:nvSpPr>
          <p:cNvPr id="46" name="Text 44"/>
          <p:cNvSpPr/>
          <p:nvPr/>
        </p:nvSpPr>
        <p:spPr>
          <a:xfrm>
            <a:off x="4782312" y="4828032"/>
            <a:ext cx="3154680" cy="256032"/>
          </a:xfrm>
          <a:prstGeom prst="rect">
            <a:avLst/>
          </a:prstGeom>
          <a:noFill/>
          <a:ln/>
        </p:spPr>
        <p:txBody>
          <a:bodyPr wrap="square" lIns="0" tIns="0" rIns="0" bIns="0" rtlCol="0" anchor="t">
            <a:normAutofit/>
          </a:bodyPr>
          <a:lstStyle/>
          <a:p>
            <a:pPr marL="0" indent="0" algn="l">
              <a:buNone/>
            </a:pPr>
            <a:r>
              <a:rPr lang="en-US" sz="1140" b="1" dirty="0">
                <a:solidFill>
                  <a:srgbClr val="102A43"/>
                </a:solidFill>
                <a:latin typeface="Aptos" pitchFamily="34" charset="0"/>
                <a:ea typeface="Aptos" pitchFamily="34" charset="-122"/>
                <a:cs typeface="Aptos" pitchFamily="34" charset="-120"/>
              </a:rPr>
              <a:t>OneHotEncoder(handle_unknown="ignore")</a:t>
            </a:r>
            <a:endParaRPr lang="en-US" sz="1140" dirty="0"/>
          </a:p>
        </p:txBody>
      </p:sp>
      <p:sp>
        <p:nvSpPr>
          <p:cNvPr id="47" name="Text 45"/>
          <p:cNvSpPr/>
          <p:nvPr/>
        </p:nvSpPr>
        <p:spPr>
          <a:xfrm>
            <a:off x="4782312" y="5239512"/>
            <a:ext cx="3127248" cy="256032"/>
          </a:xfrm>
          <a:prstGeom prst="rect">
            <a:avLst/>
          </a:prstGeom>
          <a:noFill/>
          <a:ln/>
        </p:spPr>
        <p:txBody>
          <a:bodyPr wrap="square" lIns="0" tIns="0" rIns="0" bIns="0" rtlCol="0" anchor="t">
            <a:normAutofit/>
          </a:bodyPr>
          <a:lstStyle/>
          <a:p>
            <a:pPr marL="0" indent="0" algn="l">
              <a:buNone/>
            </a:pPr>
            <a:r>
              <a:rPr lang="en-US" sz="1020" dirty="0">
                <a:solidFill>
                  <a:srgbClr val="63758A"/>
                </a:solidFill>
                <a:latin typeface="Aptos" pitchFamily="34" charset="0"/>
                <a:ea typeface="Aptos" pitchFamily="34" charset="-122"/>
                <a:cs typeface="Aptos" pitchFamily="34" charset="-120"/>
              </a:rPr>
              <a:t>Mode chỉ được học trên X_train.</a:t>
            </a:r>
            <a:endParaRPr lang="en-US" sz="1020" dirty="0"/>
          </a:p>
        </p:txBody>
      </p:sp>
      <p:sp>
        <p:nvSpPr>
          <p:cNvPr id="48" name="Shape 46"/>
          <p:cNvSpPr/>
          <p:nvPr/>
        </p:nvSpPr>
        <p:spPr>
          <a:xfrm>
            <a:off x="8394192" y="3419856"/>
            <a:ext cx="3154680" cy="2240280"/>
          </a:xfrm>
          <a:prstGeom prst="roundRect">
            <a:avLst>
              <a:gd name="adj" fmla="val 4898"/>
            </a:avLst>
          </a:prstGeom>
          <a:solidFill>
            <a:srgbClr val="FFF7E6"/>
          </a:solidFill>
          <a:ln w="10160">
            <a:solidFill>
              <a:srgbClr val="FFF7E6"/>
            </a:solidFill>
            <a:prstDash val="solid"/>
          </a:ln>
          <a:effectLst>
            <a:outerShdw algn="bl" rotWithShape="0">
              <a:srgbClr val="000000">
                <a:alpha val="0"/>
              </a:srgbClr>
            </a:outerShdw>
          </a:effectLst>
        </p:spPr>
      </p:sp>
      <p:sp>
        <p:nvSpPr>
          <p:cNvPr id="49" name="Shape 47"/>
          <p:cNvSpPr/>
          <p:nvPr/>
        </p:nvSpPr>
        <p:spPr>
          <a:xfrm>
            <a:off x="8650224" y="3685032"/>
            <a:ext cx="1389888" cy="310896"/>
          </a:xfrm>
          <a:prstGeom prst="roundRect">
            <a:avLst/>
          </a:prstGeom>
          <a:solidFill>
            <a:srgbClr val="EDF4FF"/>
          </a:solidFill>
          <a:ln w="12700">
            <a:solidFill>
              <a:srgbClr val="EDF4FF"/>
            </a:solidFill>
            <a:prstDash val="solid"/>
          </a:ln>
        </p:spPr>
      </p:sp>
      <p:sp>
        <p:nvSpPr>
          <p:cNvPr id="50" name="Text 48"/>
          <p:cNvSpPr/>
          <p:nvPr/>
        </p:nvSpPr>
        <p:spPr>
          <a:xfrm>
            <a:off x="8650224" y="3712464"/>
            <a:ext cx="1389888" cy="246888"/>
          </a:xfrm>
          <a:prstGeom prst="rect">
            <a:avLst/>
          </a:prstGeom>
          <a:noFill/>
          <a:ln/>
        </p:spPr>
        <p:txBody>
          <a:bodyPr wrap="square" lIns="0" tIns="0" rIns="0" bIns="0" rtlCol="0" anchor="ctr">
            <a:normAutofit/>
          </a:bodyPr>
          <a:lstStyle/>
          <a:p>
            <a:pPr marL="0" indent="0" algn="ctr">
              <a:buNone/>
            </a:pPr>
            <a:r>
              <a:rPr lang="en-US" sz="900" b="1" dirty="0">
                <a:solidFill>
                  <a:srgbClr val="E7A61A"/>
                </a:solidFill>
                <a:latin typeface="Aptos" pitchFamily="34" charset="0"/>
                <a:ea typeface="Aptos" pitchFamily="34" charset="-122"/>
                <a:cs typeface="Aptos" pitchFamily="34" charset="-120"/>
              </a:rPr>
              <a:t>ANTI-LEAKAGE</a:t>
            </a:r>
            <a:endParaRPr lang="en-US" sz="900" dirty="0"/>
          </a:p>
        </p:txBody>
      </p:sp>
      <p:sp>
        <p:nvSpPr>
          <p:cNvPr id="51" name="Text 49"/>
          <p:cNvSpPr/>
          <p:nvPr/>
        </p:nvSpPr>
        <p:spPr>
          <a:xfrm>
            <a:off x="8668512" y="4187952"/>
            <a:ext cx="2578608" cy="1152144"/>
          </a:xfrm>
          <a:prstGeom prst="rect">
            <a:avLst/>
          </a:prstGeom>
          <a:noFill/>
          <a:ln/>
        </p:spPr>
        <p:txBody>
          <a:bodyPr wrap="square" lIns="0" tIns="0" rIns="0" bIns="0" rtlCol="0" anchor="ctr">
            <a:normAutofit/>
          </a:bodyPr>
          <a:lstStyle/>
          <a:p>
            <a:pPr marL="0" indent="0">
              <a:buNone/>
            </a:pPr>
            <a:r>
              <a:rPr lang="en-US" sz="1080" b="1" dirty="0">
                <a:solidFill>
                  <a:srgbClr val="E7A61A"/>
                </a:solidFill>
                <a:latin typeface="Aptos" pitchFamily="34" charset="0"/>
                <a:ea typeface="Aptos" pitchFamily="34" charset="-122"/>
                <a:cs typeface="Aptos" pitchFamily="34" charset="-120"/>
              </a:rPr>
              <a:t>• </a:t>
            </a:r>
            <a:r>
              <a:rPr lang="en-US" sz="1080" dirty="0">
                <a:solidFill>
                  <a:srgbClr val="243B53"/>
                </a:solidFill>
                <a:latin typeface="Aptos" pitchFamily="34" charset="0"/>
                <a:ea typeface="Aptos" pitchFamily="34" charset="-122"/>
                <a:cs typeface="Aptos" pitchFamily="34" charset="-120"/>
              </a:rPr>
              <a:t>Không impute trước khi split.</a:t>
            </a:r>
            <a:r>
              <a:rPr lang="en-US" sz="1080" dirty="0">
                <a:solidFill>
                  <a:srgbClr val="000000"/>
                </a:solidFill>
                <a:latin typeface="Aptos" pitchFamily="34" charset="0"/>
                <a:ea typeface="Aptos" pitchFamily="34" charset="-122"/>
                <a:cs typeface="Aptos" pitchFamily="34" charset="-120"/>
              </a:rPr>
              <a:t>
</a:t>
            </a:r>
            <a:endParaRPr lang="en-US" sz="1080" dirty="0"/>
          </a:p>
          <a:p>
            <a:pPr marL="0" indent="0">
              <a:buNone/>
            </a:pPr>
            <a:r>
              <a:rPr lang="en-US" sz="1080" b="1" dirty="0">
                <a:solidFill>
                  <a:srgbClr val="E7A61A"/>
                </a:solidFill>
                <a:latin typeface="Aptos" pitchFamily="34" charset="0"/>
                <a:ea typeface="Aptos" pitchFamily="34" charset="-122"/>
                <a:cs typeface="Aptos" pitchFamily="34" charset="-120"/>
              </a:rPr>
              <a:t>• </a:t>
            </a:r>
            <a:r>
              <a:rPr lang="en-US" sz="1080" dirty="0">
                <a:solidFill>
                  <a:srgbClr val="243B53"/>
                </a:solidFill>
                <a:latin typeface="Aptos" pitchFamily="34" charset="0"/>
                <a:ea typeface="Aptos" pitchFamily="34" charset="-122"/>
                <a:cs typeface="Aptos" pitchFamily="34" charset="-120"/>
              </a:rPr>
              <a:t>Không scale toàn dataset.</a:t>
            </a:r>
            <a:r>
              <a:rPr lang="en-US" sz="1080" dirty="0">
                <a:solidFill>
                  <a:srgbClr val="000000"/>
                </a:solidFill>
                <a:latin typeface="Aptos" pitchFamily="34" charset="0"/>
                <a:ea typeface="Aptos" pitchFamily="34" charset="-122"/>
                <a:cs typeface="Aptos" pitchFamily="34" charset="-120"/>
              </a:rPr>
              <a:t>
</a:t>
            </a:r>
            <a:endParaRPr lang="en-US" sz="1080" dirty="0"/>
          </a:p>
          <a:p>
            <a:pPr marL="0" indent="0">
              <a:buNone/>
            </a:pPr>
            <a:r>
              <a:rPr lang="en-US" sz="1080" b="1" dirty="0">
                <a:solidFill>
                  <a:srgbClr val="E7A61A"/>
                </a:solidFill>
                <a:latin typeface="Aptos" pitchFamily="34" charset="0"/>
                <a:ea typeface="Aptos" pitchFamily="34" charset="-122"/>
                <a:cs typeface="Aptos" pitchFamily="34" charset="-120"/>
              </a:rPr>
              <a:t>• </a:t>
            </a:r>
            <a:r>
              <a:rPr lang="en-US" sz="1080" dirty="0">
                <a:solidFill>
                  <a:srgbClr val="243B53"/>
                </a:solidFill>
                <a:latin typeface="Aptos" pitchFamily="34" charset="0"/>
                <a:ea typeface="Aptos" pitchFamily="34" charset="-122"/>
                <a:cs typeface="Aptos" pitchFamily="34" charset="-120"/>
              </a:rPr>
              <a:t>GridSearchCV fit cả preprocessing + estimator trên từng fold.</a:t>
            </a:r>
            <a:endParaRPr lang="en-US" sz="1080" dirty="0"/>
          </a:p>
        </p:txBody>
      </p:sp>
      <p:sp>
        <p:nvSpPr>
          <p:cNvPr id="52" name="Text 50"/>
          <p:cNvSpPr/>
          <p:nvPr/>
        </p:nvSpPr>
        <p:spPr>
          <a:xfrm>
            <a:off x="640080" y="6291072"/>
            <a:ext cx="9875520" cy="182880"/>
          </a:xfrm>
          <a:prstGeom prst="rect">
            <a:avLst/>
          </a:prstGeom>
          <a:noFill/>
          <a:ln/>
        </p:spPr>
        <p:txBody>
          <a:bodyPr wrap="square" lIns="0" tIns="0" rIns="0" bIns="0" rtlCol="0" anchor="t">
            <a:normAutofit/>
          </a:bodyPr>
          <a:lstStyle/>
          <a:p>
            <a:pPr marL="0" indent="0" algn="l">
              <a:buNone/>
            </a:pPr>
            <a:r>
              <a:rPr lang="en-US" sz="860" dirty="0">
                <a:solidFill>
                  <a:srgbClr val="63758A"/>
                </a:solidFill>
                <a:latin typeface="Aptos" pitchFamily="34" charset="0"/>
                <a:ea typeface="Aptos" pitchFamily="34" charset="-122"/>
                <a:cs typeface="Aptos" pitchFamily="34" charset="-120"/>
              </a:rPr>
              <a:t>Kết quả split: Train 320 mẫu (200 CKD / 120 NOTCKD) • Test 80 mẫu (50 / 30) • random_state=42.</a:t>
            </a:r>
            <a:endParaRPr lang="en-US" sz="860" dirty="0"/>
          </a:p>
        </p:txBody>
      </p:sp>
      <p:sp>
        <p:nvSpPr>
          <p:cNvPr id="53"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t>8</a:t>
            </a:fld>
            <a:endParaRPr lang="en-US"/>
          </a:p>
        </p:txBody>
      </p:sp>
      <p:sp>
        <p:nvSpPr>
          <p:cNvPr id="54"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rPr>
              <a:t>07</a:t>
            </a:r>
            <a:endParaRPr lang="en-US" sz="1200" dirty="0"/>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rPr>
              <a:t>Các mô hình &amp; không gian siêu tham số</a:t>
            </a:r>
            <a:endParaRPr lang="en-US" sz="2500" dirty="0"/>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rPr>
              <a:t>1 baseline + 4 mô hình chính; GridSearchCV 5-fold tối ưu F1 của lớp CKD</a:t>
            </a:r>
            <a:endParaRPr lang="en-US" sz="1080" dirty="0"/>
          </a:p>
        </p:txBody>
      </p:sp>
      <p:sp>
        <p:nvSpPr>
          <p:cNvPr id="5" name="Shape 3"/>
          <p:cNvSpPr/>
          <p:nvPr/>
        </p:nvSpPr>
        <p:spPr>
          <a:xfrm>
            <a:off x="658368" y="1664208"/>
            <a:ext cx="5303520" cy="1865376"/>
          </a:xfrm>
          <a:prstGeom prst="roundRect">
            <a:avLst>
              <a:gd name="adj" fmla="val 5882"/>
            </a:avLst>
          </a:prstGeom>
          <a:solidFill>
            <a:srgbClr val="FFFFFF"/>
          </a:solidFill>
          <a:ln w="10160">
            <a:solidFill>
              <a:srgbClr val="D9E3EE"/>
            </a:solidFill>
            <a:prstDash val="solid"/>
          </a:ln>
          <a:effectLst>
            <a:outerShdw algn="bl" rotWithShape="0">
              <a:srgbClr val="000000">
                <a:alpha val="0"/>
              </a:srgbClr>
            </a:outerShdw>
          </a:effectLst>
        </p:spPr>
      </p:sp>
      <p:sp>
        <p:nvSpPr>
          <p:cNvPr id="6" name="Shape 4"/>
          <p:cNvSpPr/>
          <p:nvPr/>
        </p:nvSpPr>
        <p:spPr>
          <a:xfrm>
            <a:off x="914400" y="1920240"/>
            <a:ext cx="1261872" cy="310896"/>
          </a:xfrm>
          <a:prstGeom prst="roundRect">
            <a:avLst/>
          </a:prstGeom>
          <a:solidFill>
            <a:srgbClr val="EDF4FF"/>
          </a:solidFill>
          <a:ln w="12700">
            <a:solidFill>
              <a:srgbClr val="EDF4FF"/>
            </a:solidFill>
            <a:prstDash val="solid"/>
          </a:ln>
        </p:spPr>
      </p:sp>
      <p:sp>
        <p:nvSpPr>
          <p:cNvPr id="7" name="Text 5"/>
          <p:cNvSpPr/>
          <p:nvPr/>
        </p:nvSpPr>
        <p:spPr>
          <a:xfrm>
            <a:off x="914400" y="1947672"/>
            <a:ext cx="1261872" cy="246888"/>
          </a:xfrm>
          <a:prstGeom prst="rect">
            <a:avLst/>
          </a:prstGeom>
          <a:noFill/>
          <a:ln/>
        </p:spPr>
        <p:txBody>
          <a:bodyPr wrap="square" lIns="0" tIns="0" rIns="0" bIns="0" rtlCol="0" anchor="ctr">
            <a:normAutofit/>
          </a:bodyPr>
          <a:lstStyle/>
          <a:p>
            <a:pPr marL="0" indent="0" algn="ctr">
              <a:buNone/>
            </a:pPr>
            <a:r>
              <a:rPr lang="en-US" sz="900" b="1" dirty="0">
                <a:solidFill>
                  <a:srgbClr val="2457D6"/>
                </a:solidFill>
                <a:latin typeface="Aptos" pitchFamily="34" charset="0"/>
                <a:ea typeface="Aptos" pitchFamily="34" charset="-122"/>
                <a:cs typeface="Aptos" pitchFamily="34" charset="-120"/>
              </a:rPr>
              <a:t>TUYẾN TÍNH</a:t>
            </a:r>
            <a:endParaRPr lang="en-US" sz="900" dirty="0"/>
          </a:p>
        </p:txBody>
      </p:sp>
      <p:sp>
        <p:nvSpPr>
          <p:cNvPr id="8" name="Text 6"/>
          <p:cNvSpPr/>
          <p:nvPr/>
        </p:nvSpPr>
        <p:spPr>
          <a:xfrm>
            <a:off x="2359152" y="1911096"/>
            <a:ext cx="3364992" cy="274320"/>
          </a:xfrm>
          <a:prstGeom prst="rect">
            <a:avLst/>
          </a:prstGeom>
          <a:noFill/>
          <a:ln/>
        </p:spPr>
        <p:txBody>
          <a:bodyPr wrap="square" lIns="0" tIns="0" rIns="0" bIns="0" rtlCol="0" anchor="t">
            <a:normAutofit/>
          </a:bodyPr>
          <a:lstStyle/>
          <a:p>
            <a:pPr marL="0" indent="0" algn="l">
              <a:buNone/>
            </a:pPr>
            <a:r>
              <a:rPr lang="en-US" sz="1500" b="1" dirty="0">
                <a:solidFill>
                  <a:srgbClr val="102A43"/>
                </a:solidFill>
                <a:latin typeface="Aptos" pitchFamily="34" charset="0"/>
                <a:ea typeface="Aptos" pitchFamily="34" charset="-122"/>
                <a:cs typeface="Aptos" pitchFamily="34" charset="-120"/>
              </a:rPr>
              <a:t>Logistic Regression</a:t>
            </a:r>
            <a:endParaRPr lang="en-US" sz="1500" dirty="0"/>
          </a:p>
        </p:txBody>
      </p:sp>
      <p:sp>
        <p:nvSpPr>
          <p:cNvPr id="9" name="Text 7"/>
          <p:cNvSpPr/>
          <p:nvPr/>
        </p:nvSpPr>
        <p:spPr>
          <a:xfrm>
            <a:off x="932688" y="2450592"/>
            <a:ext cx="4773168" cy="841248"/>
          </a:xfrm>
          <a:prstGeom prst="rect">
            <a:avLst/>
          </a:prstGeom>
          <a:noFill/>
          <a:ln/>
        </p:spPr>
        <p:txBody>
          <a:bodyPr wrap="square" lIns="0" tIns="0" rIns="0" bIns="0" rtlCol="0" anchor="ctr">
            <a:normAutofit/>
          </a:bodyPr>
          <a:lstStyle/>
          <a:p>
            <a:pPr marL="0" indent="0">
              <a:buNone/>
            </a:pPr>
            <a:r>
              <a:rPr lang="en-US" sz="1060" b="1" dirty="0">
                <a:solidFill>
                  <a:srgbClr val="2457D6"/>
                </a:solidFill>
                <a:latin typeface="Aptos" pitchFamily="34" charset="0"/>
                <a:ea typeface="Aptos" pitchFamily="34" charset="-122"/>
                <a:cs typeface="Aptos" pitchFamily="34" charset="-120"/>
              </a:rPr>
              <a:t>• </a:t>
            </a:r>
            <a:r>
              <a:rPr lang="en-US" sz="1060" dirty="0">
                <a:solidFill>
                  <a:srgbClr val="243B53"/>
                </a:solidFill>
                <a:latin typeface="Aptos" pitchFamily="34" charset="0"/>
                <a:ea typeface="Aptos" pitchFamily="34" charset="-122"/>
                <a:cs typeface="Aptos" pitchFamily="34" charset="-120"/>
              </a:rPr>
              <a:t>C: 0.01 / 0.1 / 1 / 10</a:t>
            </a:r>
            <a:r>
              <a:rPr lang="en-US" sz="1060" dirty="0">
                <a:solidFill>
                  <a:srgbClr val="000000"/>
                </a:solidFill>
                <a:latin typeface="Aptos" pitchFamily="34" charset="0"/>
                <a:ea typeface="Aptos" pitchFamily="34" charset="-122"/>
                <a:cs typeface="Aptos" pitchFamily="34" charset="-120"/>
              </a:rPr>
              <a:t>
</a:t>
            </a:r>
            <a:endParaRPr lang="en-US" sz="1060" dirty="0"/>
          </a:p>
          <a:p>
            <a:pPr marL="0" indent="0">
              <a:buNone/>
            </a:pPr>
            <a:r>
              <a:rPr lang="en-US" sz="1060" b="1" dirty="0">
                <a:solidFill>
                  <a:srgbClr val="2457D6"/>
                </a:solidFill>
                <a:latin typeface="Aptos" pitchFamily="34" charset="0"/>
                <a:ea typeface="Aptos" pitchFamily="34" charset="-122"/>
                <a:cs typeface="Aptos" pitchFamily="34" charset="-120"/>
              </a:rPr>
              <a:t>• </a:t>
            </a:r>
            <a:r>
              <a:rPr lang="en-US" sz="1060" dirty="0">
                <a:solidFill>
                  <a:srgbClr val="243B53"/>
                </a:solidFill>
                <a:latin typeface="Aptos" pitchFamily="34" charset="0"/>
                <a:ea typeface="Aptos" pitchFamily="34" charset="-122"/>
                <a:cs typeface="Aptos" pitchFamily="34" charset="-120"/>
              </a:rPr>
              <a:t>class_weight: None / balanced</a:t>
            </a:r>
            <a:r>
              <a:rPr lang="en-US" sz="1060" dirty="0">
                <a:solidFill>
                  <a:srgbClr val="000000"/>
                </a:solidFill>
                <a:latin typeface="Aptos" pitchFamily="34" charset="0"/>
                <a:ea typeface="Aptos" pitchFamily="34" charset="-122"/>
                <a:cs typeface="Aptos" pitchFamily="34" charset="-120"/>
              </a:rPr>
              <a:t>
</a:t>
            </a:r>
            <a:endParaRPr lang="en-US" sz="1060" dirty="0"/>
          </a:p>
          <a:p>
            <a:pPr marL="0" indent="0">
              <a:buNone/>
            </a:pPr>
            <a:r>
              <a:rPr lang="en-US" sz="1060" b="1" dirty="0">
                <a:solidFill>
                  <a:srgbClr val="2457D6"/>
                </a:solidFill>
                <a:latin typeface="Aptos" pitchFamily="34" charset="0"/>
                <a:ea typeface="Aptos" pitchFamily="34" charset="-122"/>
                <a:cs typeface="Aptos" pitchFamily="34" charset="-120"/>
              </a:rPr>
              <a:t>• </a:t>
            </a:r>
            <a:r>
              <a:rPr lang="en-US" sz="1060" dirty="0">
                <a:solidFill>
                  <a:srgbClr val="243B53"/>
                </a:solidFill>
                <a:latin typeface="Aptos" pitchFamily="34" charset="0"/>
                <a:ea typeface="Aptos" pitchFamily="34" charset="-122"/>
                <a:cs typeface="Aptos" pitchFamily="34" charset="-120"/>
              </a:rPr>
              <a:t>Best: C = 1, class_weight = None</a:t>
            </a:r>
            <a:endParaRPr lang="en-US" sz="1060" dirty="0"/>
          </a:p>
        </p:txBody>
      </p:sp>
      <p:sp>
        <p:nvSpPr>
          <p:cNvPr id="10" name="Shape 8"/>
          <p:cNvSpPr/>
          <p:nvPr/>
        </p:nvSpPr>
        <p:spPr>
          <a:xfrm>
            <a:off x="6199632" y="1664208"/>
            <a:ext cx="5349240" cy="1865376"/>
          </a:xfrm>
          <a:prstGeom prst="roundRect">
            <a:avLst>
              <a:gd name="adj" fmla="val 5882"/>
            </a:avLst>
          </a:prstGeom>
          <a:solidFill>
            <a:srgbClr val="FFFFFF"/>
          </a:solidFill>
          <a:ln w="10160">
            <a:solidFill>
              <a:srgbClr val="D9E3EE"/>
            </a:solidFill>
            <a:prstDash val="solid"/>
          </a:ln>
          <a:effectLst>
            <a:outerShdw algn="bl" rotWithShape="0">
              <a:srgbClr val="000000">
                <a:alpha val="0"/>
              </a:srgbClr>
            </a:outerShdw>
          </a:effectLst>
        </p:spPr>
      </p:sp>
      <p:sp>
        <p:nvSpPr>
          <p:cNvPr id="11" name="Shape 9"/>
          <p:cNvSpPr/>
          <p:nvPr/>
        </p:nvSpPr>
        <p:spPr>
          <a:xfrm>
            <a:off x="6455664" y="1920240"/>
            <a:ext cx="1261872" cy="310896"/>
          </a:xfrm>
          <a:prstGeom prst="roundRect">
            <a:avLst/>
          </a:prstGeom>
          <a:solidFill>
            <a:srgbClr val="EAF8F7"/>
          </a:solidFill>
          <a:ln w="12700">
            <a:solidFill>
              <a:srgbClr val="EAF8F7"/>
            </a:solidFill>
            <a:prstDash val="solid"/>
          </a:ln>
        </p:spPr>
      </p:sp>
      <p:sp>
        <p:nvSpPr>
          <p:cNvPr id="12" name="Text 10"/>
          <p:cNvSpPr/>
          <p:nvPr/>
        </p:nvSpPr>
        <p:spPr>
          <a:xfrm>
            <a:off x="6455664" y="1947672"/>
            <a:ext cx="1261872" cy="246888"/>
          </a:xfrm>
          <a:prstGeom prst="rect">
            <a:avLst/>
          </a:prstGeom>
          <a:noFill/>
          <a:ln/>
        </p:spPr>
        <p:txBody>
          <a:bodyPr wrap="square" lIns="0" tIns="0" rIns="0" bIns="0" rtlCol="0" anchor="ctr">
            <a:normAutofit/>
          </a:bodyPr>
          <a:lstStyle/>
          <a:p>
            <a:pPr marL="0" indent="0" algn="ctr">
              <a:buNone/>
            </a:pPr>
            <a:r>
              <a:rPr lang="en-US" sz="900" b="1" dirty="0">
                <a:solidFill>
                  <a:srgbClr val="0E9F9A"/>
                </a:solidFill>
                <a:latin typeface="Aptos" pitchFamily="34" charset="0"/>
                <a:ea typeface="Aptos" pitchFamily="34" charset="-122"/>
                <a:cs typeface="Aptos" pitchFamily="34" charset="-120"/>
              </a:rPr>
              <a:t>MARGIN</a:t>
            </a:r>
            <a:endParaRPr lang="en-US" sz="900" dirty="0"/>
          </a:p>
        </p:txBody>
      </p:sp>
      <p:sp>
        <p:nvSpPr>
          <p:cNvPr id="13" name="Text 11"/>
          <p:cNvSpPr/>
          <p:nvPr/>
        </p:nvSpPr>
        <p:spPr>
          <a:xfrm>
            <a:off x="7900416" y="1911096"/>
            <a:ext cx="3410712" cy="274320"/>
          </a:xfrm>
          <a:prstGeom prst="rect">
            <a:avLst/>
          </a:prstGeom>
          <a:noFill/>
          <a:ln/>
        </p:spPr>
        <p:txBody>
          <a:bodyPr wrap="square" lIns="0" tIns="0" rIns="0" bIns="0" rtlCol="0" anchor="t">
            <a:normAutofit/>
          </a:bodyPr>
          <a:lstStyle/>
          <a:p>
            <a:pPr marL="0" indent="0" algn="l">
              <a:buNone/>
            </a:pPr>
            <a:r>
              <a:rPr lang="en-US" sz="1500" b="1" dirty="0">
                <a:solidFill>
                  <a:srgbClr val="102A43"/>
                </a:solidFill>
                <a:latin typeface="Aptos" pitchFamily="34" charset="0"/>
                <a:ea typeface="Aptos" pitchFamily="34" charset="-122"/>
                <a:cs typeface="Aptos" pitchFamily="34" charset="-120"/>
              </a:rPr>
              <a:t>Support Vector Classifier</a:t>
            </a:r>
            <a:endParaRPr lang="en-US" sz="1500" dirty="0"/>
          </a:p>
        </p:txBody>
      </p:sp>
      <p:sp>
        <p:nvSpPr>
          <p:cNvPr id="14" name="Text 12"/>
          <p:cNvSpPr/>
          <p:nvPr/>
        </p:nvSpPr>
        <p:spPr>
          <a:xfrm>
            <a:off x="6473952" y="2450592"/>
            <a:ext cx="4818888" cy="841248"/>
          </a:xfrm>
          <a:prstGeom prst="rect">
            <a:avLst/>
          </a:prstGeom>
          <a:noFill/>
          <a:ln/>
        </p:spPr>
        <p:txBody>
          <a:bodyPr wrap="square" lIns="0" tIns="0" rIns="0" bIns="0" rtlCol="0" anchor="ctr">
            <a:normAutofit/>
          </a:bodyPr>
          <a:lstStyle/>
          <a:p>
            <a:pPr marL="0" indent="0">
              <a:buNone/>
            </a:pPr>
            <a:r>
              <a:rPr lang="en-US" sz="1060" b="1" dirty="0">
                <a:solidFill>
                  <a:srgbClr val="0E9F9A"/>
                </a:solidFill>
                <a:latin typeface="Aptos" pitchFamily="34" charset="0"/>
                <a:ea typeface="Aptos" pitchFamily="34" charset="-122"/>
                <a:cs typeface="Aptos" pitchFamily="34" charset="-120"/>
              </a:rPr>
              <a:t>• </a:t>
            </a:r>
            <a:r>
              <a:rPr lang="en-US" sz="1060" dirty="0">
                <a:solidFill>
                  <a:srgbClr val="243B53"/>
                </a:solidFill>
                <a:latin typeface="Aptos" pitchFamily="34" charset="0"/>
                <a:ea typeface="Aptos" pitchFamily="34" charset="-122"/>
                <a:cs typeface="Aptos" pitchFamily="34" charset="-120"/>
              </a:rPr>
              <a:t>C: 0.1 / 1 / 10</a:t>
            </a:r>
            <a:r>
              <a:rPr lang="en-US" sz="1060" dirty="0">
                <a:solidFill>
                  <a:srgbClr val="000000"/>
                </a:solidFill>
                <a:latin typeface="Aptos" pitchFamily="34" charset="0"/>
                <a:ea typeface="Aptos" pitchFamily="34" charset="-122"/>
                <a:cs typeface="Aptos" pitchFamily="34" charset="-120"/>
              </a:rPr>
              <a:t>
</a:t>
            </a:r>
            <a:endParaRPr lang="en-US" sz="1060" dirty="0"/>
          </a:p>
          <a:p>
            <a:pPr marL="0" indent="0">
              <a:buNone/>
            </a:pPr>
            <a:r>
              <a:rPr lang="en-US" sz="1060" b="1" dirty="0">
                <a:solidFill>
                  <a:srgbClr val="0E9F9A"/>
                </a:solidFill>
                <a:latin typeface="Aptos" pitchFamily="34" charset="0"/>
                <a:ea typeface="Aptos" pitchFamily="34" charset="-122"/>
                <a:cs typeface="Aptos" pitchFamily="34" charset="-120"/>
              </a:rPr>
              <a:t>• </a:t>
            </a:r>
            <a:r>
              <a:rPr lang="en-US" sz="1060" dirty="0">
                <a:solidFill>
                  <a:srgbClr val="243B53"/>
                </a:solidFill>
                <a:latin typeface="Aptos" pitchFamily="34" charset="0"/>
                <a:ea typeface="Aptos" pitchFamily="34" charset="-122"/>
                <a:cs typeface="Aptos" pitchFamily="34" charset="-120"/>
              </a:rPr>
              <a:t>kernel: linear / rbf • gamma: scale / auto</a:t>
            </a:r>
            <a:r>
              <a:rPr lang="en-US" sz="1060" dirty="0">
                <a:solidFill>
                  <a:srgbClr val="000000"/>
                </a:solidFill>
                <a:latin typeface="Aptos" pitchFamily="34" charset="0"/>
                <a:ea typeface="Aptos" pitchFamily="34" charset="-122"/>
                <a:cs typeface="Aptos" pitchFamily="34" charset="-120"/>
              </a:rPr>
              <a:t>
</a:t>
            </a:r>
            <a:endParaRPr lang="en-US" sz="1060" dirty="0"/>
          </a:p>
          <a:p>
            <a:pPr marL="0" indent="0">
              <a:buNone/>
            </a:pPr>
            <a:r>
              <a:rPr lang="en-US" sz="1060" b="1" dirty="0">
                <a:solidFill>
                  <a:srgbClr val="0E9F9A"/>
                </a:solidFill>
                <a:latin typeface="Aptos" pitchFamily="34" charset="0"/>
                <a:ea typeface="Aptos" pitchFamily="34" charset="-122"/>
                <a:cs typeface="Aptos" pitchFamily="34" charset="-120"/>
              </a:rPr>
              <a:t>• </a:t>
            </a:r>
            <a:r>
              <a:rPr lang="en-US" sz="1060" dirty="0">
                <a:solidFill>
                  <a:srgbClr val="243B53"/>
                </a:solidFill>
                <a:latin typeface="Aptos" pitchFamily="34" charset="0"/>
                <a:ea typeface="Aptos" pitchFamily="34" charset="-122"/>
                <a:cs typeface="Aptos" pitchFamily="34" charset="-120"/>
              </a:rPr>
              <a:t>Best: C = 0.1, linear, gamma = scale</a:t>
            </a:r>
            <a:endParaRPr lang="en-US" sz="1060" dirty="0"/>
          </a:p>
        </p:txBody>
      </p:sp>
      <p:sp>
        <p:nvSpPr>
          <p:cNvPr id="15" name="Shape 13"/>
          <p:cNvSpPr/>
          <p:nvPr/>
        </p:nvSpPr>
        <p:spPr>
          <a:xfrm>
            <a:off x="658368" y="3767328"/>
            <a:ext cx="5303520" cy="1865376"/>
          </a:xfrm>
          <a:prstGeom prst="roundRect">
            <a:avLst>
              <a:gd name="adj" fmla="val 5882"/>
            </a:avLst>
          </a:prstGeom>
          <a:solidFill>
            <a:srgbClr val="FFFFFF"/>
          </a:solidFill>
          <a:ln w="10160">
            <a:solidFill>
              <a:srgbClr val="D9E3EE"/>
            </a:solidFill>
            <a:prstDash val="solid"/>
          </a:ln>
          <a:effectLst>
            <a:outerShdw algn="bl" rotWithShape="0">
              <a:srgbClr val="000000">
                <a:alpha val="0"/>
              </a:srgbClr>
            </a:outerShdw>
          </a:effectLst>
        </p:spPr>
      </p:sp>
      <p:sp>
        <p:nvSpPr>
          <p:cNvPr id="16" name="Shape 14"/>
          <p:cNvSpPr/>
          <p:nvPr/>
        </p:nvSpPr>
        <p:spPr>
          <a:xfrm>
            <a:off x="914400" y="4023360"/>
            <a:ext cx="1261872" cy="310896"/>
          </a:xfrm>
          <a:prstGeom prst="roundRect">
            <a:avLst/>
          </a:prstGeom>
          <a:solidFill>
            <a:srgbClr val="FFF7E6"/>
          </a:solidFill>
          <a:ln w="12700">
            <a:solidFill>
              <a:srgbClr val="FFF7E6"/>
            </a:solidFill>
            <a:prstDash val="solid"/>
          </a:ln>
        </p:spPr>
      </p:sp>
      <p:sp>
        <p:nvSpPr>
          <p:cNvPr id="17" name="Text 15"/>
          <p:cNvSpPr/>
          <p:nvPr/>
        </p:nvSpPr>
        <p:spPr>
          <a:xfrm>
            <a:off x="914400" y="4050792"/>
            <a:ext cx="1261872" cy="246888"/>
          </a:xfrm>
          <a:prstGeom prst="rect">
            <a:avLst/>
          </a:prstGeom>
          <a:noFill/>
          <a:ln/>
        </p:spPr>
        <p:txBody>
          <a:bodyPr wrap="square" lIns="0" tIns="0" rIns="0" bIns="0" rtlCol="0" anchor="ctr">
            <a:normAutofit/>
          </a:bodyPr>
          <a:lstStyle/>
          <a:p>
            <a:pPr marL="0" indent="0" algn="ctr">
              <a:buNone/>
            </a:pPr>
            <a:r>
              <a:rPr lang="en-US" sz="900" b="1" dirty="0">
                <a:solidFill>
                  <a:srgbClr val="E7A61A"/>
                </a:solidFill>
                <a:latin typeface="Aptos" pitchFamily="34" charset="0"/>
                <a:ea typeface="Aptos" pitchFamily="34" charset="-122"/>
                <a:cs typeface="Aptos" pitchFamily="34" charset="-120"/>
              </a:rPr>
              <a:t>KHOẢNG CÁCH</a:t>
            </a:r>
            <a:endParaRPr lang="en-US" sz="900" dirty="0"/>
          </a:p>
        </p:txBody>
      </p:sp>
      <p:sp>
        <p:nvSpPr>
          <p:cNvPr id="18" name="Text 16"/>
          <p:cNvSpPr/>
          <p:nvPr/>
        </p:nvSpPr>
        <p:spPr>
          <a:xfrm>
            <a:off x="2359152" y="4014216"/>
            <a:ext cx="3364992" cy="274320"/>
          </a:xfrm>
          <a:prstGeom prst="rect">
            <a:avLst/>
          </a:prstGeom>
          <a:noFill/>
          <a:ln/>
        </p:spPr>
        <p:txBody>
          <a:bodyPr wrap="square" lIns="0" tIns="0" rIns="0" bIns="0" rtlCol="0" anchor="t">
            <a:normAutofit/>
          </a:bodyPr>
          <a:lstStyle/>
          <a:p>
            <a:pPr marL="0" indent="0" algn="l">
              <a:buNone/>
            </a:pPr>
            <a:r>
              <a:rPr lang="en-US" sz="1500" b="1" dirty="0">
                <a:solidFill>
                  <a:srgbClr val="102A43"/>
                </a:solidFill>
                <a:latin typeface="Aptos" pitchFamily="34" charset="0"/>
                <a:ea typeface="Aptos" pitchFamily="34" charset="-122"/>
                <a:cs typeface="Aptos" pitchFamily="34" charset="-120"/>
              </a:rPr>
              <a:t>K-Nearest Neighbors</a:t>
            </a:r>
            <a:endParaRPr lang="en-US" sz="1500" dirty="0"/>
          </a:p>
        </p:txBody>
      </p:sp>
      <p:sp>
        <p:nvSpPr>
          <p:cNvPr id="19" name="Text 17"/>
          <p:cNvSpPr/>
          <p:nvPr/>
        </p:nvSpPr>
        <p:spPr>
          <a:xfrm>
            <a:off x="932688" y="4553712"/>
            <a:ext cx="4773168" cy="841248"/>
          </a:xfrm>
          <a:prstGeom prst="rect">
            <a:avLst/>
          </a:prstGeom>
          <a:noFill/>
          <a:ln/>
        </p:spPr>
        <p:txBody>
          <a:bodyPr wrap="square" lIns="0" tIns="0" rIns="0" bIns="0" rtlCol="0" anchor="ctr">
            <a:normAutofit/>
          </a:bodyPr>
          <a:lstStyle/>
          <a:p>
            <a:pPr marL="0" indent="0">
              <a:buNone/>
            </a:pPr>
            <a:r>
              <a:rPr lang="en-US" sz="1060" b="1" dirty="0">
                <a:solidFill>
                  <a:srgbClr val="E7A61A"/>
                </a:solidFill>
                <a:latin typeface="Aptos" pitchFamily="34" charset="0"/>
                <a:ea typeface="Aptos" pitchFamily="34" charset="-122"/>
                <a:cs typeface="Aptos" pitchFamily="34" charset="-120"/>
              </a:rPr>
              <a:t>• </a:t>
            </a:r>
            <a:r>
              <a:rPr lang="en-US" sz="1060" dirty="0">
                <a:solidFill>
                  <a:srgbClr val="243B53"/>
                </a:solidFill>
                <a:latin typeface="Aptos" pitchFamily="34" charset="0"/>
                <a:ea typeface="Aptos" pitchFamily="34" charset="-122"/>
                <a:cs typeface="Aptos" pitchFamily="34" charset="-120"/>
              </a:rPr>
              <a:t>n_neighbors: 3 / 5 / 7 / 9</a:t>
            </a:r>
            <a:r>
              <a:rPr lang="en-US" sz="1060" dirty="0">
                <a:solidFill>
                  <a:srgbClr val="000000"/>
                </a:solidFill>
                <a:latin typeface="Aptos" pitchFamily="34" charset="0"/>
                <a:ea typeface="Aptos" pitchFamily="34" charset="-122"/>
                <a:cs typeface="Aptos" pitchFamily="34" charset="-120"/>
              </a:rPr>
              <a:t>
</a:t>
            </a:r>
            <a:endParaRPr lang="en-US" sz="1060" dirty="0"/>
          </a:p>
          <a:p>
            <a:pPr marL="0" indent="0">
              <a:buNone/>
            </a:pPr>
            <a:r>
              <a:rPr lang="en-US" sz="1060" b="1" dirty="0">
                <a:solidFill>
                  <a:srgbClr val="E7A61A"/>
                </a:solidFill>
                <a:latin typeface="Aptos" pitchFamily="34" charset="0"/>
                <a:ea typeface="Aptos" pitchFamily="34" charset="-122"/>
                <a:cs typeface="Aptos" pitchFamily="34" charset="-120"/>
              </a:rPr>
              <a:t>• </a:t>
            </a:r>
            <a:r>
              <a:rPr lang="en-US" sz="1060" dirty="0">
                <a:solidFill>
                  <a:srgbClr val="243B53"/>
                </a:solidFill>
                <a:latin typeface="Aptos" pitchFamily="34" charset="0"/>
                <a:ea typeface="Aptos" pitchFamily="34" charset="-122"/>
                <a:cs typeface="Aptos" pitchFamily="34" charset="-120"/>
              </a:rPr>
              <a:t>weights: uniform / distance • p: 1 / 2</a:t>
            </a:r>
            <a:r>
              <a:rPr lang="en-US" sz="1060" dirty="0">
                <a:solidFill>
                  <a:srgbClr val="000000"/>
                </a:solidFill>
                <a:latin typeface="Aptos" pitchFamily="34" charset="0"/>
                <a:ea typeface="Aptos" pitchFamily="34" charset="-122"/>
                <a:cs typeface="Aptos" pitchFamily="34" charset="-120"/>
              </a:rPr>
              <a:t>
</a:t>
            </a:r>
            <a:endParaRPr lang="en-US" sz="1060" dirty="0"/>
          </a:p>
          <a:p>
            <a:pPr marL="0" indent="0">
              <a:buNone/>
            </a:pPr>
            <a:r>
              <a:rPr lang="en-US" sz="1060" b="1" dirty="0">
                <a:solidFill>
                  <a:srgbClr val="E7A61A"/>
                </a:solidFill>
                <a:latin typeface="Aptos" pitchFamily="34" charset="0"/>
                <a:ea typeface="Aptos" pitchFamily="34" charset="-122"/>
                <a:cs typeface="Aptos" pitchFamily="34" charset="-120"/>
              </a:rPr>
              <a:t>• </a:t>
            </a:r>
            <a:r>
              <a:rPr lang="en-US" sz="1060" dirty="0">
                <a:solidFill>
                  <a:srgbClr val="243B53"/>
                </a:solidFill>
                <a:latin typeface="Aptos" pitchFamily="34" charset="0"/>
                <a:ea typeface="Aptos" pitchFamily="34" charset="-122"/>
                <a:cs typeface="Aptos" pitchFamily="34" charset="-120"/>
              </a:rPr>
              <a:t>Best: k = 5, p = 1, weights = distance</a:t>
            </a:r>
            <a:endParaRPr lang="en-US" sz="1060" dirty="0"/>
          </a:p>
        </p:txBody>
      </p:sp>
      <p:sp>
        <p:nvSpPr>
          <p:cNvPr id="20" name="Shape 18"/>
          <p:cNvSpPr/>
          <p:nvPr/>
        </p:nvSpPr>
        <p:spPr>
          <a:xfrm>
            <a:off x="6199632" y="3767328"/>
            <a:ext cx="5349240" cy="1865376"/>
          </a:xfrm>
          <a:prstGeom prst="roundRect">
            <a:avLst>
              <a:gd name="adj" fmla="val 5882"/>
            </a:avLst>
          </a:prstGeom>
          <a:solidFill>
            <a:srgbClr val="FFFFFF"/>
          </a:solidFill>
          <a:ln w="10160">
            <a:solidFill>
              <a:srgbClr val="D9E3EE"/>
            </a:solidFill>
            <a:prstDash val="solid"/>
          </a:ln>
          <a:effectLst>
            <a:outerShdw algn="bl" rotWithShape="0">
              <a:srgbClr val="000000">
                <a:alpha val="0"/>
              </a:srgbClr>
            </a:outerShdw>
          </a:effectLst>
        </p:spPr>
      </p:sp>
      <p:sp>
        <p:nvSpPr>
          <p:cNvPr id="21" name="Shape 19"/>
          <p:cNvSpPr/>
          <p:nvPr/>
        </p:nvSpPr>
        <p:spPr>
          <a:xfrm>
            <a:off x="6455664" y="4023360"/>
            <a:ext cx="1261872" cy="310896"/>
          </a:xfrm>
          <a:prstGeom prst="roundRect">
            <a:avLst/>
          </a:prstGeom>
          <a:solidFill>
            <a:srgbClr val="EAF8F0"/>
          </a:solidFill>
          <a:ln w="12700">
            <a:solidFill>
              <a:srgbClr val="EAF8F0"/>
            </a:solidFill>
            <a:prstDash val="solid"/>
          </a:ln>
        </p:spPr>
      </p:sp>
      <p:sp>
        <p:nvSpPr>
          <p:cNvPr id="22" name="Text 20"/>
          <p:cNvSpPr/>
          <p:nvPr/>
        </p:nvSpPr>
        <p:spPr>
          <a:xfrm>
            <a:off x="6455664" y="4050792"/>
            <a:ext cx="1261872" cy="246888"/>
          </a:xfrm>
          <a:prstGeom prst="rect">
            <a:avLst/>
          </a:prstGeom>
          <a:noFill/>
          <a:ln/>
        </p:spPr>
        <p:txBody>
          <a:bodyPr wrap="square" lIns="0" tIns="0" rIns="0" bIns="0" rtlCol="0" anchor="ctr">
            <a:normAutofit/>
          </a:bodyPr>
          <a:lstStyle/>
          <a:p>
            <a:pPr marL="0" indent="0" algn="ctr">
              <a:buNone/>
            </a:pPr>
            <a:r>
              <a:rPr lang="en-US" sz="900" b="1" dirty="0">
                <a:solidFill>
                  <a:srgbClr val="1FA971"/>
                </a:solidFill>
                <a:latin typeface="Aptos" pitchFamily="34" charset="0"/>
                <a:ea typeface="Aptos" pitchFamily="34" charset="-122"/>
                <a:cs typeface="Aptos" pitchFamily="34" charset="-120"/>
              </a:rPr>
              <a:t>ENSEMBLE</a:t>
            </a:r>
            <a:endParaRPr lang="en-US" sz="900" dirty="0"/>
          </a:p>
        </p:txBody>
      </p:sp>
      <p:sp>
        <p:nvSpPr>
          <p:cNvPr id="23" name="Text 21"/>
          <p:cNvSpPr/>
          <p:nvPr/>
        </p:nvSpPr>
        <p:spPr>
          <a:xfrm>
            <a:off x="7900416" y="4014216"/>
            <a:ext cx="3410712" cy="274320"/>
          </a:xfrm>
          <a:prstGeom prst="rect">
            <a:avLst/>
          </a:prstGeom>
          <a:noFill/>
          <a:ln/>
        </p:spPr>
        <p:txBody>
          <a:bodyPr wrap="square" lIns="0" tIns="0" rIns="0" bIns="0" rtlCol="0" anchor="t">
            <a:normAutofit/>
          </a:bodyPr>
          <a:lstStyle/>
          <a:p>
            <a:pPr marL="0" indent="0" algn="l">
              <a:buNone/>
            </a:pPr>
            <a:r>
              <a:rPr lang="en-US" sz="1500" b="1" dirty="0">
                <a:solidFill>
                  <a:srgbClr val="102A43"/>
                </a:solidFill>
                <a:latin typeface="Aptos" pitchFamily="34" charset="0"/>
                <a:ea typeface="Aptos" pitchFamily="34" charset="-122"/>
                <a:cs typeface="Aptos" pitchFamily="34" charset="-120"/>
              </a:rPr>
              <a:t>Random Forest</a:t>
            </a:r>
            <a:endParaRPr lang="en-US" sz="1500" dirty="0"/>
          </a:p>
        </p:txBody>
      </p:sp>
      <p:sp>
        <p:nvSpPr>
          <p:cNvPr id="24" name="Text 22"/>
          <p:cNvSpPr/>
          <p:nvPr/>
        </p:nvSpPr>
        <p:spPr>
          <a:xfrm>
            <a:off x="6473952" y="4553712"/>
            <a:ext cx="4818888" cy="841248"/>
          </a:xfrm>
          <a:prstGeom prst="rect">
            <a:avLst/>
          </a:prstGeom>
          <a:noFill/>
          <a:ln/>
        </p:spPr>
        <p:txBody>
          <a:bodyPr wrap="square" lIns="0" tIns="0" rIns="0" bIns="0" rtlCol="0" anchor="ctr">
            <a:normAutofit/>
          </a:bodyPr>
          <a:lstStyle/>
          <a:p>
            <a:pPr marL="0" indent="0">
              <a:buNone/>
            </a:pPr>
            <a:r>
              <a:rPr lang="en-US" sz="1060" b="1" dirty="0">
                <a:solidFill>
                  <a:srgbClr val="1FA971"/>
                </a:solidFill>
                <a:latin typeface="Aptos" pitchFamily="34" charset="0"/>
                <a:ea typeface="Aptos" pitchFamily="34" charset="-122"/>
                <a:cs typeface="Aptos" pitchFamily="34" charset="-120"/>
              </a:rPr>
              <a:t>• </a:t>
            </a:r>
            <a:r>
              <a:rPr lang="en-US" sz="1060" dirty="0">
                <a:solidFill>
                  <a:srgbClr val="243B53"/>
                </a:solidFill>
                <a:latin typeface="Aptos" pitchFamily="34" charset="0"/>
                <a:ea typeface="Aptos" pitchFamily="34" charset="-122"/>
                <a:cs typeface="Aptos" pitchFamily="34" charset="-120"/>
              </a:rPr>
              <a:t>n_estimators = 100 • max_depth: None / 10</a:t>
            </a:r>
            <a:r>
              <a:rPr lang="en-US" sz="1060" dirty="0">
                <a:solidFill>
                  <a:srgbClr val="000000"/>
                </a:solidFill>
                <a:latin typeface="Aptos" pitchFamily="34" charset="0"/>
                <a:ea typeface="Aptos" pitchFamily="34" charset="-122"/>
                <a:cs typeface="Aptos" pitchFamily="34" charset="-120"/>
              </a:rPr>
              <a:t>
</a:t>
            </a:r>
            <a:endParaRPr lang="en-US" sz="1060" dirty="0"/>
          </a:p>
          <a:p>
            <a:pPr marL="0" indent="0">
              <a:buNone/>
            </a:pPr>
            <a:r>
              <a:rPr lang="en-US" sz="1060" b="1" dirty="0">
                <a:solidFill>
                  <a:srgbClr val="1FA971"/>
                </a:solidFill>
                <a:latin typeface="Aptos" pitchFamily="34" charset="0"/>
                <a:ea typeface="Aptos" pitchFamily="34" charset="-122"/>
                <a:cs typeface="Aptos" pitchFamily="34" charset="-120"/>
              </a:rPr>
              <a:t>• </a:t>
            </a:r>
            <a:r>
              <a:rPr lang="en-US" sz="1060" dirty="0">
                <a:solidFill>
                  <a:srgbClr val="243B53"/>
                </a:solidFill>
                <a:latin typeface="Aptos" pitchFamily="34" charset="0"/>
                <a:ea typeface="Aptos" pitchFamily="34" charset="-122"/>
                <a:cs typeface="Aptos" pitchFamily="34" charset="-120"/>
              </a:rPr>
              <a:t>min_samples_split: 2 / 5</a:t>
            </a:r>
            <a:r>
              <a:rPr lang="en-US" sz="1060" dirty="0">
                <a:solidFill>
                  <a:srgbClr val="000000"/>
                </a:solidFill>
                <a:latin typeface="Aptos" pitchFamily="34" charset="0"/>
                <a:ea typeface="Aptos" pitchFamily="34" charset="-122"/>
                <a:cs typeface="Aptos" pitchFamily="34" charset="-120"/>
              </a:rPr>
              <a:t>
</a:t>
            </a:r>
            <a:endParaRPr lang="en-US" sz="1060" dirty="0"/>
          </a:p>
          <a:p>
            <a:pPr marL="0" indent="0">
              <a:buNone/>
            </a:pPr>
            <a:r>
              <a:rPr lang="en-US" sz="1060" b="1" dirty="0">
                <a:solidFill>
                  <a:srgbClr val="1FA971"/>
                </a:solidFill>
                <a:latin typeface="Aptos" pitchFamily="34" charset="0"/>
                <a:ea typeface="Aptos" pitchFamily="34" charset="-122"/>
                <a:cs typeface="Aptos" pitchFamily="34" charset="-120"/>
              </a:rPr>
              <a:t>• </a:t>
            </a:r>
            <a:r>
              <a:rPr lang="en-US" sz="1060" dirty="0">
                <a:solidFill>
                  <a:srgbClr val="243B53"/>
                </a:solidFill>
                <a:latin typeface="Aptos" pitchFamily="34" charset="0"/>
                <a:ea typeface="Aptos" pitchFamily="34" charset="-122"/>
                <a:cs typeface="Aptos" pitchFamily="34" charset="-120"/>
              </a:rPr>
              <a:t>Best: depth None, split 2, class_weight = balanced</a:t>
            </a:r>
            <a:endParaRPr lang="en-US" sz="1060" dirty="0"/>
          </a:p>
        </p:txBody>
      </p:sp>
      <p:sp>
        <p:nvSpPr>
          <p:cNvPr id="25" name="Shape 23"/>
          <p:cNvSpPr/>
          <p:nvPr/>
        </p:nvSpPr>
        <p:spPr>
          <a:xfrm>
            <a:off x="4005072" y="5870448"/>
            <a:ext cx="4187952" cy="310896"/>
          </a:xfrm>
          <a:prstGeom prst="roundRect">
            <a:avLst/>
          </a:prstGeom>
          <a:solidFill>
            <a:srgbClr val="EEF2F6"/>
          </a:solidFill>
          <a:ln w="12700">
            <a:solidFill>
              <a:srgbClr val="EEF2F6"/>
            </a:solidFill>
            <a:prstDash val="solid"/>
          </a:ln>
        </p:spPr>
      </p:sp>
      <p:sp>
        <p:nvSpPr>
          <p:cNvPr id="26" name="Text 24"/>
          <p:cNvSpPr/>
          <p:nvPr/>
        </p:nvSpPr>
        <p:spPr>
          <a:xfrm>
            <a:off x="4005072" y="5897880"/>
            <a:ext cx="4187952" cy="246888"/>
          </a:xfrm>
          <a:prstGeom prst="rect">
            <a:avLst/>
          </a:prstGeom>
          <a:noFill/>
          <a:ln/>
        </p:spPr>
        <p:txBody>
          <a:bodyPr wrap="square" lIns="0" tIns="0" rIns="0" bIns="0" rtlCol="0" anchor="ctr">
            <a:normAutofit/>
          </a:bodyPr>
          <a:lstStyle/>
          <a:p>
            <a:pPr marL="0" indent="0" algn="ctr">
              <a:buNone/>
            </a:pPr>
            <a:r>
              <a:rPr lang="en-US" sz="900" b="1" dirty="0">
                <a:solidFill>
                  <a:srgbClr val="63758A"/>
                </a:solidFill>
                <a:latin typeface="Aptos" pitchFamily="34" charset="0"/>
                <a:ea typeface="Aptos" pitchFamily="34" charset="-122"/>
                <a:cs typeface="Aptos" pitchFamily="34" charset="-120"/>
              </a:rPr>
              <a:t>Dummy Classifier • baseline lớp phổ biến</a:t>
            </a:r>
            <a:endParaRPr lang="en-US" sz="900" dirty="0"/>
          </a:p>
        </p:txBody>
      </p:sp>
      <p:sp>
        <p:nvSpPr>
          <p:cNvPr id="27"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t>9</a:t>
            </a:fld>
            <a:endParaRPr lang="en-US"/>
          </a:p>
        </p:txBody>
      </p:sp>
      <p:sp>
        <p:nvSpPr>
          <p:cNvPr id="28" name="Shape 4"/>
          <p:cNvSpPr/>
          <p:nvPr/>
        </p:nvSpPr>
        <p:spPr>
          <a:xfrm>
            <a:off x="0" y="1930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rPr>
              <a:t>08</a:t>
            </a:r>
            <a:endParaRPr lang="en-US" sz="1200" dirty="0"/>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rPr>
              <a:t>Kết quả tuning &amp; Cross-Validation</a:t>
            </a:r>
            <a:endParaRPr lang="en-US" sz="2500" dirty="0"/>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rPr>
              <a:t>CV F1 và độ lệch giữa Train–CV giúp theo dõi khả năng tổng quát hóa</a:t>
            </a:r>
            <a:endParaRPr lang="en-US" sz="1080" dirty="0"/>
          </a:p>
        </p:txBody>
      </p:sp>
      <p:graphicFrame>
        <p:nvGraphicFramePr>
          <p:cNvPr id="10" name="Table 0"/>
          <p:cNvGraphicFramePr>
            <a:graphicFrameLocks noGrp="1"/>
          </p:cNvGraphicFramePr>
          <p:nvPr>
            <p:extLst>
              <p:ext uri="{D42A27DB-BD31-4B8C-83A1-F6EECF244321}">
                <p14:modId xmlns:p14="http://schemas.microsoft.com/office/powerpoint/2010/main" val="294435787"/>
              </p:ext>
            </p:extLst>
          </p:nvPr>
        </p:nvGraphicFramePr>
        <p:xfrm>
          <a:off x="658368" y="1691640"/>
          <a:ext cx="9555480" cy="2852928"/>
        </p:xfrm>
        <a:graphic>
          <a:graphicData uri="http://schemas.openxmlformats.org/drawingml/2006/table">
            <a:tbl>
              <a:tblPr/>
              <a:tblGrid>
                <a:gridCol w="201168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tblGrid>
              <a:tr h="475488">
                <a:tc>
                  <a:txBody>
                    <a:bodyPr/>
                    <a:lstStyle/>
                    <a:p>
                      <a:pPr marL="0" indent="0">
                        <a:buNone/>
                      </a:pPr>
                      <a:r>
                        <a:rPr lang="en-US" sz="1050" b="1" dirty="0">
                          <a:solidFill>
                            <a:schemeClr val="tx1"/>
                          </a:solidFill>
                          <a:latin typeface="Aptos" pitchFamily="34" charset="0"/>
                          <a:ea typeface="Aptos" pitchFamily="34" charset="-122"/>
                          <a:cs typeface="Aptos" pitchFamily="34" charset="-120"/>
                        </a:rPr>
                        <a:t>MODEL</a:t>
                      </a:r>
                      <a:endParaRPr lang="en-US" sz="1050" dirty="0">
                        <a:solidFill>
                          <a:schemeClr val="tx1"/>
                        </a:solidFill>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b="1" dirty="0">
                          <a:solidFill>
                            <a:schemeClr val="tx1"/>
                          </a:solidFill>
                          <a:latin typeface="Aptos" pitchFamily="34" charset="0"/>
                          <a:ea typeface="Aptos" pitchFamily="34" charset="-122"/>
                          <a:cs typeface="Aptos" pitchFamily="34" charset="-120"/>
                        </a:rPr>
                        <a:t>BEST PARAMS</a:t>
                      </a:r>
                      <a:endParaRPr lang="en-US" sz="1050" dirty="0">
                        <a:solidFill>
                          <a:schemeClr val="tx1"/>
                        </a:solidFill>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b="1" dirty="0">
                          <a:solidFill>
                            <a:schemeClr val="tx1"/>
                          </a:solidFill>
                          <a:latin typeface="Aptos" pitchFamily="34" charset="0"/>
                          <a:ea typeface="Aptos" pitchFamily="34" charset="-122"/>
                          <a:cs typeface="Aptos" pitchFamily="34" charset="-120"/>
                        </a:rPr>
                        <a:t>CV F1</a:t>
                      </a:r>
                      <a:endParaRPr lang="en-US" sz="1050" dirty="0">
                        <a:solidFill>
                          <a:schemeClr val="tx1"/>
                        </a:solidFill>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b="1" dirty="0">
                          <a:solidFill>
                            <a:schemeClr val="tx1"/>
                          </a:solidFill>
                          <a:latin typeface="Aptos" pitchFamily="34" charset="0"/>
                          <a:ea typeface="Aptos" pitchFamily="34" charset="-122"/>
                          <a:cs typeface="Aptos" pitchFamily="34" charset="-120"/>
                        </a:rPr>
                        <a:t>CV STD</a:t>
                      </a:r>
                      <a:endParaRPr lang="en-US" sz="1050" dirty="0">
                        <a:solidFill>
                          <a:schemeClr val="tx1"/>
                        </a:solidFill>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b="1" dirty="0">
                          <a:solidFill>
                            <a:schemeClr val="tx1"/>
                          </a:solidFill>
                          <a:latin typeface="Aptos" pitchFamily="34" charset="0"/>
                          <a:ea typeface="Aptos" pitchFamily="34" charset="-122"/>
                          <a:cs typeface="Aptos" pitchFamily="34" charset="-120"/>
                        </a:rPr>
                        <a:t>TRAIN F1</a:t>
                      </a:r>
                      <a:endParaRPr lang="en-US" sz="1050" dirty="0">
                        <a:solidFill>
                          <a:schemeClr val="tx1"/>
                        </a:solidFill>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b="1" dirty="0">
                          <a:solidFill>
                            <a:schemeClr val="tx1"/>
                          </a:solidFill>
                          <a:latin typeface="Aptos" pitchFamily="34" charset="0"/>
                          <a:ea typeface="Aptos" pitchFamily="34" charset="-122"/>
                          <a:cs typeface="Aptos" pitchFamily="34" charset="-120"/>
                        </a:rPr>
                        <a:t>GAP</a:t>
                      </a:r>
                      <a:endParaRPr lang="en-US" sz="1050" dirty="0">
                        <a:solidFill>
                          <a:schemeClr val="tx1"/>
                        </a:solidFill>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75488">
                <a:tc>
                  <a:txBody>
                    <a:bodyPr/>
                    <a:lstStyle/>
                    <a:p>
                      <a:pPr marL="0" indent="0">
                        <a:buNone/>
                      </a:pPr>
                      <a:r>
                        <a:rPr lang="en-US" sz="1050" dirty="0">
                          <a:solidFill>
                            <a:srgbClr val="243B53"/>
                          </a:solidFill>
                          <a:latin typeface="Aptos" pitchFamily="34" charset="0"/>
                          <a:ea typeface="Aptos" pitchFamily="34" charset="-122"/>
                          <a:cs typeface="Aptos" pitchFamily="34" charset="-120"/>
                        </a:rPr>
                        <a:t>Logistic Regression</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C=1 • class_weight=None</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1.0000</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0.0000</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1.0000</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0.0000</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050" dirty="0">
                          <a:solidFill>
                            <a:srgbClr val="243B53"/>
                          </a:solidFill>
                          <a:latin typeface="Aptos" pitchFamily="34" charset="0"/>
                          <a:ea typeface="Aptos" pitchFamily="34" charset="-122"/>
                          <a:cs typeface="Aptos" pitchFamily="34" charset="-120"/>
                        </a:rPr>
                        <a:t>Random Forest</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100 trees • balanced</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0.9975</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0.0049</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1.0000</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0.0025</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050" dirty="0">
                          <a:solidFill>
                            <a:srgbClr val="243B53"/>
                          </a:solidFill>
                          <a:latin typeface="Aptos" pitchFamily="34" charset="0"/>
                          <a:ea typeface="Aptos" pitchFamily="34" charset="-122"/>
                          <a:cs typeface="Aptos" pitchFamily="34" charset="-120"/>
                        </a:rPr>
                        <a:t>SVC</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C=0.1 • linear</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0.9975</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0.0051</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0.9994</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≈0.0019</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050" dirty="0">
                          <a:solidFill>
                            <a:srgbClr val="243B53"/>
                          </a:solidFill>
                          <a:latin typeface="Aptos" pitchFamily="34" charset="0"/>
                          <a:ea typeface="Aptos" pitchFamily="34" charset="-122"/>
                          <a:cs typeface="Aptos" pitchFamily="34" charset="-120"/>
                        </a:rPr>
                        <a:t>KNN</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k=5 • p=1 • distance</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0.9743</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0.0083</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1.0000</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≈0.0257</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050" dirty="0">
                          <a:solidFill>
                            <a:srgbClr val="243B53"/>
                          </a:solidFill>
                          <a:latin typeface="Aptos" pitchFamily="34" charset="0"/>
                          <a:ea typeface="Aptos" pitchFamily="34" charset="-122"/>
                          <a:cs typeface="Aptos" pitchFamily="34" charset="-120"/>
                        </a:rPr>
                        <a:t>Dummy</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Không tuning</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0.7692</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0.0000</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0.7692</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050" dirty="0">
                          <a:solidFill>
                            <a:srgbClr val="243B53"/>
                          </a:solidFill>
                          <a:latin typeface="Aptos" pitchFamily="34" charset="0"/>
                          <a:ea typeface="Aptos" pitchFamily="34" charset="-122"/>
                          <a:cs typeface="Aptos" pitchFamily="34" charset="-120"/>
                        </a:rPr>
                        <a:t>0.0000</a:t>
                      </a:r>
                      <a:endParaRPr lang="en-US" sz="1050" dirty="0">
                        <a:latin typeface="Aptos" charset="0"/>
                        <a:ea typeface="Aptos" charset="0"/>
                        <a:cs typeface="Aptos" charset="0"/>
                      </a:endParaRPr>
                    </a:p>
                  </a:txBody>
                  <a:tcPr marL="64008" marR="64008" marT="64008" marB="64008">
                    <a:lnL w="8890" cap="flat" cmpd="sng" algn="ctr">
                      <a:solidFill>
                        <a:srgbClr val="D9E3EE"/>
                      </a:solidFill>
                      <a:prstDash val="solid"/>
                      <a:round/>
                      <a:headEnd type="none" w="med" len="med"/>
                      <a:tailEnd type="none" w="med" len="med"/>
                    </a:lnL>
                    <a:lnR w="8890" cap="flat" cmpd="sng" algn="ctr">
                      <a:solidFill>
                        <a:srgbClr val="D9E3EE"/>
                      </a:solidFill>
                      <a:prstDash val="solid"/>
                      <a:round/>
                      <a:headEnd type="none" w="med" len="med"/>
                      <a:tailEnd type="none" w="med" len="med"/>
                    </a:lnR>
                    <a:lnT w="8890" cap="flat" cmpd="sng" algn="ctr">
                      <a:solidFill>
                        <a:srgbClr val="D9E3EE"/>
                      </a:solidFill>
                      <a:prstDash val="solid"/>
                      <a:round/>
                      <a:headEnd type="none" w="med" len="med"/>
                      <a:tailEnd type="none" w="med" len="med"/>
                    </a:lnT>
                    <a:lnB w="889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713232" y="5074920"/>
            <a:ext cx="2395728" cy="768096"/>
          </a:xfrm>
          <a:prstGeom prst="roundRect">
            <a:avLst>
              <a:gd name="adj" fmla="val 11905"/>
            </a:avLst>
          </a:prstGeom>
          <a:solidFill>
            <a:srgbClr val="FFFFFF"/>
          </a:solidFill>
          <a:ln w="10160">
            <a:solidFill>
              <a:srgbClr val="D9E3EE"/>
            </a:solidFill>
            <a:prstDash val="solid"/>
          </a:ln>
        </p:spPr>
      </p:sp>
      <p:sp>
        <p:nvSpPr>
          <p:cNvPr id="7" name="Shape 4"/>
          <p:cNvSpPr/>
          <p:nvPr/>
        </p:nvSpPr>
        <p:spPr>
          <a:xfrm>
            <a:off x="713232" y="5074920"/>
            <a:ext cx="54864" cy="768096"/>
          </a:xfrm>
          <a:prstGeom prst="rect">
            <a:avLst/>
          </a:prstGeom>
          <a:solidFill>
            <a:srgbClr val="2457D6"/>
          </a:solidFill>
          <a:ln w="12700">
            <a:solidFill>
              <a:srgbClr val="2457D6"/>
            </a:solidFill>
            <a:prstDash val="solid"/>
          </a:ln>
        </p:spPr>
      </p:sp>
      <p:sp>
        <p:nvSpPr>
          <p:cNvPr id="8" name="Text 5"/>
          <p:cNvSpPr/>
          <p:nvPr/>
        </p:nvSpPr>
        <p:spPr>
          <a:xfrm>
            <a:off x="877824" y="5193792"/>
            <a:ext cx="2139696"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Aptos" pitchFamily="34" charset="0"/>
                <a:ea typeface="Aptos" pitchFamily="34" charset="-122"/>
                <a:cs typeface="Aptos" pitchFamily="34" charset="-120"/>
              </a:rPr>
              <a:t>LOGISTIC REGRESSION</a:t>
            </a:r>
            <a:endParaRPr lang="en-US" sz="850" dirty="0"/>
          </a:p>
        </p:txBody>
      </p:sp>
      <p:sp>
        <p:nvSpPr>
          <p:cNvPr id="9" name="Text 6"/>
          <p:cNvSpPr/>
          <p:nvPr/>
        </p:nvSpPr>
        <p:spPr>
          <a:xfrm>
            <a:off x="877824" y="5376672"/>
            <a:ext cx="2139696" cy="274320"/>
          </a:xfrm>
          <a:prstGeom prst="rect">
            <a:avLst/>
          </a:prstGeom>
          <a:noFill/>
          <a:ln/>
        </p:spPr>
        <p:txBody>
          <a:bodyPr wrap="square" lIns="0" tIns="0" rIns="0" bIns="0" rtlCol="0" anchor="t">
            <a:normAutofit/>
          </a:bodyPr>
          <a:lstStyle/>
          <a:p>
            <a:pPr marL="0" indent="0" algn="l">
              <a:buNone/>
            </a:pPr>
            <a:r>
              <a:rPr lang="en-US" sz="1800" b="1" dirty="0">
                <a:solidFill>
                  <a:srgbClr val="2457D6"/>
                </a:solidFill>
                <a:latin typeface="Aptos" pitchFamily="34" charset="0"/>
                <a:ea typeface="Aptos" pitchFamily="34" charset="-122"/>
                <a:cs typeface="Aptos" pitchFamily="34" charset="-120"/>
              </a:rPr>
              <a:t>CV F1 = 1.0000</a:t>
            </a:r>
            <a:endParaRPr lang="en-US" sz="1800" dirty="0"/>
          </a:p>
        </p:txBody>
      </p:sp>
      <p:sp>
        <p:nvSpPr>
          <p:cNvPr id="5" name="Text 7"/>
          <p:cNvSpPr/>
          <p:nvPr/>
        </p:nvSpPr>
        <p:spPr>
          <a:xfrm>
            <a:off x="877824" y="5669280"/>
            <a:ext cx="2139696" cy="128016"/>
          </a:xfrm>
          <a:prstGeom prst="rect">
            <a:avLst/>
          </a:prstGeom>
          <a:noFill/>
          <a:ln/>
        </p:spPr>
        <p:txBody>
          <a:bodyPr wrap="square" lIns="0" tIns="0" rIns="0" bIns="0" rtlCol="0" anchor="t">
            <a:normAutofit/>
          </a:bodyPr>
          <a:lstStyle/>
          <a:p>
            <a:pPr marL="0" indent="0" algn="l">
              <a:buNone/>
            </a:pPr>
            <a:r>
              <a:rPr lang="en-US" sz="770" dirty="0">
                <a:solidFill>
                  <a:srgbClr val="63758A"/>
                </a:solidFill>
                <a:latin typeface="Aptos" pitchFamily="34" charset="0"/>
                <a:ea typeface="Aptos" pitchFamily="34" charset="-122"/>
                <a:cs typeface="Aptos" pitchFamily="34" charset="-120"/>
              </a:rPr>
              <a:t>ổn định 5/5 fold</a:t>
            </a:r>
            <a:endParaRPr lang="en-US" sz="770" dirty="0"/>
          </a:p>
        </p:txBody>
      </p:sp>
      <p:sp>
        <p:nvSpPr>
          <p:cNvPr id="11" name="Shape 8"/>
          <p:cNvSpPr/>
          <p:nvPr/>
        </p:nvSpPr>
        <p:spPr>
          <a:xfrm>
            <a:off x="3291840" y="5074920"/>
            <a:ext cx="2395728" cy="768096"/>
          </a:xfrm>
          <a:prstGeom prst="roundRect">
            <a:avLst>
              <a:gd name="adj" fmla="val 11905"/>
            </a:avLst>
          </a:prstGeom>
          <a:solidFill>
            <a:srgbClr val="FFFFFF"/>
          </a:solidFill>
          <a:ln w="10160">
            <a:solidFill>
              <a:srgbClr val="D9E3EE"/>
            </a:solidFill>
            <a:prstDash val="solid"/>
          </a:ln>
        </p:spPr>
      </p:sp>
      <p:sp>
        <p:nvSpPr>
          <p:cNvPr id="12" name="Shape 9"/>
          <p:cNvSpPr/>
          <p:nvPr/>
        </p:nvSpPr>
        <p:spPr>
          <a:xfrm>
            <a:off x="3291840" y="5074920"/>
            <a:ext cx="54864" cy="768096"/>
          </a:xfrm>
          <a:prstGeom prst="rect">
            <a:avLst/>
          </a:prstGeom>
          <a:solidFill>
            <a:srgbClr val="1FA971"/>
          </a:solidFill>
          <a:ln w="12700">
            <a:solidFill>
              <a:srgbClr val="1FA971"/>
            </a:solidFill>
            <a:prstDash val="solid"/>
          </a:ln>
        </p:spPr>
      </p:sp>
      <p:sp>
        <p:nvSpPr>
          <p:cNvPr id="13" name="Text 10"/>
          <p:cNvSpPr/>
          <p:nvPr/>
        </p:nvSpPr>
        <p:spPr>
          <a:xfrm>
            <a:off x="3456432" y="5193792"/>
            <a:ext cx="2139696"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Aptos" pitchFamily="34" charset="0"/>
                <a:ea typeface="Aptos" pitchFamily="34" charset="-122"/>
                <a:cs typeface="Aptos" pitchFamily="34" charset="-120"/>
              </a:rPr>
              <a:t>RANDOM FOREST</a:t>
            </a:r>
            <a:endParaRPr lang="en-US" sz="850" dirty="0"/>
          </a:p>
        </p:txBody>
      </p:sp>
      <p:sp>
        <p:nvSpPr>
          <p:cNvPr id="14" name="Text 11"/>
          <p:cNvSpPr/>
          <p:nvPr/>
        </p:nvSpPr>
        <p:spPr>
          <a:xfrm>
            <a:off x="3456432" y="5376672"/>
            <a:ext cx="2139696" cy="274320"/>
          </a:xfrm>
          <a:prstGeom prst="rect">
            <a:avLst/>
          </a:prstGeom>
          <a:noFill/>
          <a:ln/>
        </p:spPr>
        <p:txBody>
          <a:bodyPr wrap="square" lIns="0" tIns="0" rIns="0" bIns="0" rtlCol="0" anchor="t">
            <a:normAutofit/>
          </a:bodyPr>
          <a:lstStyle/>
          <a:p>
            <a:pPr marL="0" indent="0" algn="l">
              <a:buNone/>
            </a:pPr>
            <a:r>
              <a:rPr lang="en-US" sz="1800" b="1" dirty="0">
                <a:solidFill>
                  <a:srgbClr val="1FA971"/>
                </a:solidFill>
                <a:latin typeface="Aptos" pitchFamily="34" charset="0"/>
                <a:ea typeface="Aptos" pitchFamily="34" charset="-122"/>
                <a:cs typeface="Aptos" pitchFamily="34" charset="-120"/>
              </a:rPr>
              <a:t>CV F1 = 0.9975</a:t>
            </a:r>
            <a:endParaRPr lang="en-US" sz="1800" dirty="0"/>
          </a:p>
        </p:txBody>
      </p:sp>
      <p:sp>
        <p:nvSpPr>
          <p:cNvPr id="15" name="Text 12"/>
          <p:cNvSpPr/>
          <p:nvPr/>
        </p:nvSpPr>
        <p:spPr>
          <a:xfrm>
            <a:off x="3456432" y="5669280"/>
            <a:ext cx="2139696" cy="128016"/>
          </a:xfrm>
          <a:prstGeom prst="rect">
            <a:avLst/>
          </a:prstGeom>
          <a:noFill/>
          <a:ln/>
        </p:spPr>
        <p:txBody>
          <a:bodyPr wrap="square" lIns="0" tIns="0" rIns="0" bIns="0" rtlCol="0" anchor="t">
            <a:normAutofit/>
          </a:bodyPr>
          <a:lstStyle/>
          <a:p>
            <a:pPr marL="0" indent="0" algn="l">
              <a:buNone/>
            </a:pPr>
            <a:r>
              <a:rPr lang="en-US" sz="770" dirty="0">
                <a:solidFill>
                  <a:srgbClr val="63758A"/>
                </a:solidFill>
                <a:latin typeface="Aptos" pitchFamily="34" charset="0"/>
                <a:ea typeface="Aptos" pitchFamily="34" charset="-122"/>
                <a:cs typeface="Aptos" pitchFamily="34" charset="-120"/>
              </a:rPr>
              <a:t>gap chỉ 0.0025</a:t>
            </a:r>
            <a:endParaRPr lang="en-US" sz="770" dirty="0"/>
          </a:p>
        </p:txBody>
      </p:sp>
      <p:sp>
        <p:nvSpPr>
          <p:cNvPr id="16" name="Shape 13"/>
          <p:cNvSpPr/>
          <p:nvPr/>
        </p:nvSpPr>
        <p:spPr>
          <a:xfrm>
            <a:off x="5870448" y="5074920"/>
            <a:ext cx="2395728" cy="768096"/>
          </a:xfrm>
          <a:prstGeom prst="roundRect">
            <a:avLst>
              <a:gd name="adj" fmla="val 11905"/>
            </a:avLst>
          </a:prstGeom>
          <a:solidFill>
            <a:srgbClr val="FFFFFF"/>
          </a:solidFill>
          <a:ln w="10160">
            <a:solidFill>
              <a:srgbClr val="D9E3EE"/>
            </a:solidFill>
            <a:prstDash val="solid"/>
          </a:ln>
        </p:spPr>
      </p:sp>
      <p:sp>
        <p:nvSpPr>
          <p:cNvPr id="17" name="Shape 14"/>
          <p:cNvSpPr/>
          <p:nvPr/>
        </p:nvSpPr>
        <p:spPr>
          <a:xfrm>
            <a:off x="5870448" y="5074920"/>
            <a:ext cx="54864" cy="768096"/>
          </a:xfrm>
          <a:prstGeom prst="rect">
            <a:avLst/>
          </a:prstGeom>
          <a:solidFill>
            <a:srgbClr val="0E9F9A"/>
          </a:solidFill>
          <a:ln w="12700">
            <a:solidFill>
              <a:srgbClr val="0E9F9A"/>
            </a:solidFill>
            <a:prstDash val="solid"/>
          </a:ln>
        </p:spPr>
      </p:sp>
      <p:sp>
        <p:nvSpPr>
          <p:cNvPr id="18" name="Text 15"/>
          <p:cNvSpPr/>
          <p:nvPr/>
        </p:nvSpPr>
        <p:spPr>
          <a:xfrm>
            <a:off x="6035040" y="5193792"/>
            <a:ext cx="2139696"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Aptos" pitchFamily="34" charset="0"/>
                <a:ea typeface="Aptos" pitchFamily="34" charset="-122"/>
                <a:cs typeface="Aptos" pitchFamily="34" charset="-120"/>
              </a:rPr>
              <a:t>SVC</a:t>
            </a:r>
            <a:endParaRPr lang="en-US" sz="850" dirty="0"/>
          </a:p>
        </p:txBody>
      </p:sp>
      <p:sp>
        <p:nvSpPr>
          <p:cNvPr id="19" name="Text 16"/>
          <p:cNvSpPr/>
          <p:nvPr/>
        </p:nvSpPr>
        <p:spPr>
          <a:xfrm>
            <a:off x="6035040" y="5376672"/>
            <a:ext cx="2139696" cy="274320"/>
          </a:xfrm>
          <a:prstGeom prst="rect">
            <a:avLst/>
          </a:prstGeom>
          <a:noFill/>
          <a:ln/>
        </p:spPr>
        <p:txBody>
          <a:bodyPr wrap="square" lIns="0" tIns="0" rIns="0" bIns="0" rtlCol="0" anchor="t">
            <a:normAutofit/>
          </a:bodyPr>
          <a:lstStyle/>
          <a:p>
            <a:pPr marL="0" indent="0" algn="l">
              <a:buNone/>
            </a:pPr>
            <a:r>
              <a:rPr lang="en-US" sz="1800" b="1" dirty="0">
                <a:solidFill>
                  <a:srgbClr val="0E9F9A"/>
                </a:solidFill>
                <a:latin typeface="Aptos" pitchFamily="34" charset="0"/>
                <a:ea typeface="Aptos" pitchFamily="34" charset="-122"/>
                <a:cs typeface="Aptos" pitchFamily="34" charset="-120"/>
              </a:rPr>
              <a:t>CV F1 = 0.9975</a:t>
            </a:r>
            <a:endParaRPr lang="en-US" sz="1800" dirty="0"/>
          </a:p>
        </p:txBody>
      </p:sp>
      <p:sp>
        <p:nvSpPr>
          <p:cNvPr id="20" name="Text 17"/>
          <p:cNvSpPr/>
          <p:nvPr/>
        </p:nvSpPr>
        <p:spPr>
          <a:xfrm>
            <a:off x="6035040" y="5669280"/>
            <a:ext cx="2139696" cy="128016"/>
          </a:xfrm>
          <a:prstGeom prst="rect">
            <a:avLst/>
          </a:prstGeom>
          <a:noFill/>
          <a:ln/>
        </p:spPr>
        <p:txBody>
          <a:bodyPr wrap="square" lIns="0" tIns="0" rIns="0" bIns="0" rtlCol="0" anchor="t">
            <a:normAutofit/>
          </a:bodyPr>
          <a:lstStyle/>
          <a:p>
            <a:pPr marL="0" indent="0" algn="l">
              <a:buNone/>
            </a:pPr>
            <a:r>
              <a:rPr lang="en-US" sz="770" dirty="0">
                <a:solidFill>
                  <a:srgbClr val="63758A"/>
                </a:solidFill>
                <a:latin typeface="Aptos" pitchFamily="34" charset="0"/>
                <a:ea typeface="Aptos" pitchFamily="34" charset="-122"/>
                <a:cs typeface="Aptos" pitchFamily="34" charset="-120"/>
              </a:rPr>
              <a:t>linear kernel</a:t>
            </a:r>
            <a:endParaRPr lang="en-US" sz="770" dirty="0"/>
          </a:p>
        </p:txBody>
      </p:sp>
      <p:sp>
        <p:nvSpPr>
          <p:cNvPr id="21" name="Shape 18"/>
          <p:cNvSpPr/>
          <p:nvPr/>
        </p:nvSpPr>
        <p:spPr>
          <a:xfrm>
            <a:off x="8449056" y="5074920"/>
            <a:ext cx="2395728" cy="768096"/>
          </a:xfrm>
          <a:prstGeom prst="roundRect">
            <a:avLst>
              <a:gd name="adj" fmla="val 11905"/>
            </a:avLst>
          </a:prstGeom>
          <a:solidFill>
            <a:srgbClr val="FFFFFF"/>
          </a:solidFill>
          <a:ln w="10160">
            <a:solidFill>
              <a:srgbClr val="D9E3EE"/>
            </a:solidFill>
            <a:prstDash val="solid"/>
          </a:ln>
        </p:spPr>
      </p:sp>
      <p:sp>
        <p:nvSpPr>
          <p:cNvPr id="22" name="Shape 19"/>
          <p:cNvSpPr/>
          <p:nvPr/>
        </p:nvSpPr>
        <p:spPr>
          <a:xfrm>
            <a:off x="8449056" y="5074920"/>
            <a:ext cx="54864" cy="768096"/>
          </a:xfrm>
          <a:prstGeom prst="rect">
            <a:avLst/>
          </a:prstGeom>
          <a:solidFill>
            <a:srgbClr val="E7A61A"/>
          </a:solidFill>
          <a:ln w="12700">
            <a:solidFill>
              <a:srgbClr val="E7A61A"/>
            </a:solidFill>
            <a:prstDash val="solid"/>
          </a:ln>
        </p:spPr>
      </p:sp>
      <p:sp>
        <p:nvSpPr>
          <p:cNvPr id="23" name="Text 20"/>
          <p:cNvSpPr/>
          <p:nvPr/>
        </p:nvSpPr>
        <p:spPr>
          <a:xfrm>
            <a:off x="8613648" y="5193792"/>
            <a:ext cx="2139696"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Aptos" pitchFamily="34" charset="0"/>
                <a:ea typeface="Aptos" pitchFamily="34" charset="-122"/>
                <a:cs typeface="Aptos" pitchFamily="34" charset="-120"/>
              </a:rPr>
              <a:t>KNN</a:t>
            </a:r>
            <a:endParaRPr lang="en-US" sz="850" dirty="0"/>
          </a:p>
        </p:txBody>
      </p:sp>
      <p:sp>
        <p:nvSpPr>
          <p:cNvPr id="24" name="Text 21"/>
          <p:cNvSpPr/>
          <p:nvPr/>
        </p:nvSpPr>
        <p:spPr>
          <a:xfrm>
            <a:off x="8613648" y="5376672"/>
            <a:ext cx="2139696" cy="274320"/>
          </a:xfrm>
          <a:prstGeom prst="rect">
            <a:avLst/>
          </a:prstGeom>
          <a:noFill/>
          <a:ln/>
        </p:spPr>
        <p:txBody>
          <a:bodyPr wrap="square" lIns="0" tIns="0" rIns="0" bIns="0" rtlCol="0" anchor="t">
            <a:normAutofit/>
          </a:bodyPr>
          <a:lstStyle/>
          <a:p>
            <a:pPr marL="0" indent="0" algn="l">
              <a:buNone/>
            </a:pPr>
            <a:r>
              <a:rPr lang="en-US" sz="1800" b="1" dirty="0">
                <a:solidFill>
                  <a:srgbClr val="E7A61A"/>
                </a:solidFill>
                <a:latin typeface="Aptos" pitchFamily="34" charset="0"/>
                <a:ea typeface="Aptos" pitchFamily="34" charset="-122"/>
                <a:cs typeface="Aptos" pitchFamily="34" charset="-120"/>
              </a:rPr>
              <a:t>CV F1 = 0.9743</a:t>
            </a:r>
            <a:endParaRPr lang="en-US" sz="1800" dirty="0"/>
          </a:p>
        </p:txBody>
      </p:sp>
      <p:sp>
        <p:nvSpPr>
          <p:cNvPr id="25" name="Text 22"/>
          <p:cNvSpPr/>
          <p:nvPr/>
        </p:nvSpPr>
        <p:spPr>
          <a:xfrm>
            <a:off x="8613648" y="5669280"/>
            <a:ext cx="2139696" cy="128016"/>
          </a:xfrm>
          <a:prstGeom prst="rect">
            <a:avLst/>
          </a:prstGeom>
          <a:noFill/>
          <a:ln/>
        </p:spPr>
        <p:txBody>
          <a:bodyPr wrap="square" lIns="0" tIns="0" rIns="0" bIns="0" rtlCol="0" anchor="t">
            <a:normAutofit/>
          </a:bodyPr>
          <a:lstStyle/>
          <a:p>
            <a:pPr marL="0" indent="0" algn="l">
              <a:buNone/>
            </a:pPr>
            <a:r>
              <a:rPr lang="en-US" sz="770" dirty="0">
                <a:solidFill>
                  <a:srgbClr val="63758A"/>
                </a:solidFill>
                <a:latin typeface="Aptos" pitchFamily="34" charset="0"/>
                <a:ea typeface="Aptos" pitchFamily="34" charset="-122"/>
                <a:cs typeface="Aptos" pitchFamily="34" charset="-120"/>
              </a:rPr>
              <a:t>gap lớn nhất</a:t>
            </a:r>
            <a:endParaRPr lang="en-US" sz="770" dirty="0"/>
          </a:p>
        </p:txBody>
      </p:sp>
      <p:sp>
        <p:nvSpPr>
          <p:cNvPr id="26" name="Text 23"/>
          <p:cNvSpPr/>
          <p:nvPr/>
        </p:nvSpPr>
        <p:spPr>
          <a:xfrm>
            <a:off x="640080" y="6291072"/>
            <a:ext cx="9875520" cy="182880"/>
          </a:xfrm>
          <a:prstGeom prst="rect">
            <a:avLst/>
          </a:prstGeom>
          <a:noFill/>
          <a:ln/>
        </p:spPr>
        <p:txBody>
          <a:bodyPr wrap="square" lIns="0" tIns="0" rIns="0" bIns="0" rtlCol="0" anchor="t">
            <a:normAutofit/>
          </a:bodyPr>
          <a:lstStyle/>
          <a:p>
            <a:pPr marL="0" indent="0" algn="l">
              <a:buNone/>
            </a:pPr>
            <a:r>
              <a:rPr lang="en-US" sz="860" dirty="0">
                <a:solidFill>
                  <a:srgbClr val="63758A"/>
                </a:solidFill>
                <a:latin typeface="Aptos" pitchFamily="34" charset="0"/>
                <a:ea typeface="Aptos" pitchFamily="34" charset="-122"/>
                <a:cs typeface="Aptos" pitchFamily="34" charset="-120"/>
              </a:rPr>
              <a:t>Notebook 03 chỉ tuning; mô hình cuối cùng được quyết định sau khi đánh giá trên tập Test độc lập.</a:t>
            </a:r>
            <a:endParaRPr lang="en-US" sz="860" dirty="0"/>
          </a:p>
        </p:txBody>
      </p:sp>
      <p:sp>
        <p:nvSpPr>
          <p:cNvPr id="27"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t>10</a:t>
            </a:fld>
            <a:endParaRPr lang="en-US"/>
          </a:p>
        </p:txBody>
      </p:sp>
      <p:sp>
        <p:nvSpPr>
          <p:cNvPr id="28"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rPr>
              <a:t>09</a:t>
            </a:r>
            <a:endParaRPr lang="en-US" sz="1200" dirty="0"/>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rPr>
              <a:t>Đánh giá trên Test Set — So sánh metric</a:t>
            </a:r>
            <a:endParaRPr lang="en-US" sz="2500" dirty="0"/>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rPr>
              <a:t>Tập Test gồm 80 mẫu và chỉ được sử dụng ở giai đoạn đánh giá cuối</a:t>
            </a:r>
            <a:endParaRPr lang="en-US" sz="1080" dirty="0"/>
          </a:p>
        </p:txBody>
      </p:sp>
      <p:sp>
        <p:nvSpPr>
          <p:cNvPr id="5" name="Shape 3"/>
          <p:cNvSpPr/>
          <p:nvPr/>
        </p:nvSpPr>
        <p:spPr>
          <a:xfrm>
            <a:off x="658368" y="1572768"/>
            <a:ext cx="8412480" cy="4526280"/>
          </a:xfrm>
          <a:prstGeom prst="roundRect">
            <a:avLst>
              <a:gd name="adj" fmla="val 2424"/>
            </a:avLst>
          </a:prstGeom>
          <a:solidFill>
            <a:srgbClr val="FFFFFF"/>
          </a:solidFill>
          <a:ln w="10160">
            <a:solidFill>
              <a:srgbClr val="D9E3EE"/>
            </a:solidFill>
            <a:prstDash val="solid"/>
          </a:ln>
          <a:effectLst>
            <a:outerShdw algn="bl" rotWithShape="0">
              <a:srgbClr val="000000">
                <a:alpha val="0"/>
              </a:srgbClr>
            </a:outerShdw>
          </a:effectLst>
        </p:spPr>
      </p:sp>
      <p:pic>
        <p:nvPicPr>
          <p:cNvPr id="6" name="Image 0" descr="/mnt/data/model_comparison.png"/>
          <p:cNvPicPr>
            <a:picLocks noChangeAspect="1"/>
          </p:cNvPicPr>
          <p:nvPr/>
        </p:nvPicPr>
        <p:blipFill>
          <a:blip r:embed="rId3"/>
          <a:stretch>
            <a:fillRect/>
          </a:stretch>
        </p:blipFill>
        <p:spPr>
          <a:xfrm>
            <a:off x="877824" y="1902363"/>
            <a:ext cx="7973568" cy="3912810"/>
          </a:xfrm>
          <a:prstGeom prst="rect">
            <a:avLst/>
          </a:prstGeom>
        </p:spPr>
      </p:pic>
      <p:sp>
        <p:nvSpPr>
          <p:cNvPr id="7" name="Shape 4"/>
          <p:cNvSpPr/>
          <p:nvPr/>
        </p:nvSpPr>
        <p:spPr>
          <a:xfrm>
            <a:off x="9281160" y="1572768"/>
            <a:ext cx="2267712" cy="4526280"/>
          </a:xfrm>
          <a:prstGeom prst="roundRect">
            <a:avLst>
              <a:gd name="adj" fmla="val 4839"/>
            </a:avLst>
          </a:prstGeom>
          <a:solidFill>
            <a:srgbClr val="FDFEFF"/>
          </a:solidFill>
          <a:ln w="10160">
            <a:solidFill>
              <a:srgbClr val="D9E3EE"/>
            </a:solidFill>
            <a:prstDash val="solid"/>
          </a:ln>
          <a:effectLst>
            <a:outerShdw algn="bl" rotWithShape="0">
              <a:srgbClr val="000000">
                <a:alpha val="0"/>
              </a:srgbClr>
            </a:outerShdw>
          </a:effectLst>
        </p:spPr>
      </p:sp>
      <p:sp>
        <p:nvSpPr>
          <p:cNvPr id="8" name="Shape 5"/>
          <p:cNvSpPr/>
          <p:nvPr/>
        </p:nvSpPr>
        <p:spPr>
          <a:xfrm>
            <a:off x="9555480" y="1865376"/>
            <a:ext cx="1298448" cy="310896"/>
          </a:xfrm>
          <a:prstGeom prst="roundRect">
            <a:avLst/>
          </a:prstGeom>
          <a:solidFill>
            <a:srgbClr val="EDF4FF"/>
          </a:solidFill>
          <a:ln w="12700">
            <a:solidFill>
              <a:srgbClr val="EDF4FF"/>
            </a:solidFill>
            <a:prstDash val="solid"/>
          </a:ln>
        </p:spPr>
      </p:sp>
      <p:sp>
        <p:nvSpPr>
          <p:cNvPr id="9" name="Text 6"/>
          <p:cNvSpPr/>
          <p:nvPr/>
        </p:nvSpPr>
        <p:spPr>
          <a:xfrm>
            <a:off x="9555480" y="1892808"/>
            <a:ext cx="1298448" cy="246888"/>
          </a:xfrm>
          <a:prstGeom prst="rect">
            <a:avLst/>
          </a:prstGeom>
          <a:noFill/>
          <a:ln/>
        </p:spPr>
        <p:txBody>
          <a:bodyPr wrap="square" lIns="0" tIns="0" rIns="0" bIns="0" rtlCol="0" anchor="ctr">
            <a:normAutofit/>
          </a:bodyPr>
          <a:lstStyle/>
          <a:p>
            <a:pPr marL="0" indent="0" algn="ctr">
              <a:buNone/>
            </a:pPr>
            <a:r>
              <a:rPr lang="en-US" sz="900" b="1" dirty="0">
                <a:solidFill>
                  <a:srgbClr val="2457D6"/>
                </a:solidFill>
                <a:latin typeface="Aptos" pitchFamily="34" charset="0"/>
                <a:ea typeface="Aptos" pitchFamily="34" charset="-122"/>
                <a:cs typeface="Aptos" pitchFamily="34" charset="-120"/>
              </a:rPr>
              <a:t>ĐIỂM NHẤN</a:t>
            </a:r>
            <a:endParaRPr lang="en-US" sz="900" dirty="0"/>
          </a:p>
        </p:txBody>
      </p:sp>
      <p:sp>
        <p:nvSpPr>
          <p:cNvPr id="10" name="Text 7"/>
          <p:cNvSpPr/>
          <p:nvPr/>
        </p:nvSpPr>
        <p:spPr>
          <a:xfrm>
            <a:off x="9555480" y="2359152"/>
            <a:ext cx="1572768" cy="219456"/>
          </a:xfrm>
          <a:prstGeom prst="rect">
            <a:avLst/>
          </a:prstGeom>
          <a:noFill/>
          <a:ln/>
        </p:spPr>
        <p:txBody>
          <a:bodyPr wrap="square" lIns="0" tIns="0" rIns="0" bIns="0" rtlCol="0" anchor="t">
            <a:normAutofit/>
          </a:bodyPr>
          <a:lstStyle/>
          <a:p>
            <a:pPr marL="0" indent="0" algn="l">
              <a:buNone/>
            </a:pPr>
            <a:r>
              <a:rPr lang="en-US" sz="1080" b="1" dirty="0">
                <a:solidFill>
                  <a:srgbClr val="102A43"/>
                </a:solidFill>
                <a:latin typeface="Aptos" pitchFamily="34" charset="0"/>
                <a:ea typeface="Aptos" pitchFamily="34" charset="-122"/>
                <a:cs typeface="Aptos" pitchFamily="34" charset="-120"/>
              </a:rPr>
              <a:t>Logistic Regression</a:t>
            </a:r>
            <a:endParaRPr lang="en-US" sz="1080" dirty="0"/>
          </a:p>
        </p:txBody>
      </p:sp>
      <p:sp>
        <p:nvSpPr>
          <p:cNvPr id="11" name="Text 8"/>
          <p:cNvSpPr/>
          <p:nvPr/>
        </p:nvSpPr>
        <p:spPr>
          <a:xfrm>
            <a:off x="9555480" y="2651760"/>
            <a:ext cx="1572768" cy="384048"/>
          </a:xfrm>
          <a:prstGeom prst="rect">
            <a:avLst/>
          </a:prstGeom>
          <a:noFill/>
          <a:ln/>
        </p:spPr>
        <p:txBody>
          <a:bodyPr wrap="square" lIns="0" tIns="0" rIns="0" bIns="0" rtlCol="0" anchor="t">
            <a:normAutofit lnSpcReduction="10000"/>
          </a:bodyPr>
          <a:lstStyle/>
          <a:p>
            <a:pPr marL="0" indent="0" algn="l">
              <a:buNone/>
            </a:pPr>
            <a:r>
              <a:rPr lang="en-US" sz="2600" b="1" dirty="0">
                <a:solidFill>
                  <a:srgbClr val="2457D6"/>
                </a:solidFill>
                <a:latin typeface="Aptos" pitchFamily="34" charset="0"/>
                <a:ea typeface="Aptos" pitchFamily="34" charset="-122"/>
                <a:cs typeface="Aptos" pitchFamily="34" charset="-120"/>
              </a:rPr>
              <a:t>1.000</a:t>
            </a:r>
            <a:endParaRPr lang="en-US" sz="2600" dirty="0"/>
          </a:p>
        </p:txBody>
      </p:sp>
      <p:sp>
        <p:nvSpPr>
          <p:cNvPr id="12" name="Text 9"/>
          <p:cNvSpPr/>
          <p:nvPr/>
        </p:nvSpPr>
        <p:spPr>
          <a:xfrm>
            <a:off x="9555480" y="3072384"/>
            <a:ext cx="1609344" cy="475488"/>
          </a:xfrm>
          <a:prstGeom prst="rect">
            <a:avLst/>
          </a:prstGeom>
          <a:noFill/>
          <a:ln/>
        </p:spPr>
        <p:txBody>
          <a:bodyPr wrap="square" lIns="0" tIns="0" rIns="0" bIns="0" rtlCol="0" anchor="t">
            <a:normAutofit/>
          </a:bodyPr>
          <a:lstStyle/>
          <a:p>
            <a:pPr marL="0" indent="0" algn="l">
              <a:buNone/>
            </a:pPr>
            <a:r>
              <a:rPr lang="en-US" sz="940" dirty="0">
                <a:solidFill>
                  <a:srgbClr val="63758A"/>
                </a:solidFill>
                <a:latin typeface="Aptos" pitchFamily="34" charset="0"/>
                <a:ea typeface="Aptos" pitchFamily="34" charset="-122"/>
                <a:cs typeface="Aptos" pitchFamily="34" charset="-120"/>
              </a:rPr>
              <a:t>Accuracy • Precision • Recall • F1</a:t>
            </a:r>
            <a:endParaRPr lang="en-US" sz="940" dirty="0"/>
          </a:p>
        </p:txBody>
      </p:sp>
      <p:sp>
        <p:nvSpPr>
          <p:cNvPr id="13" name="Text 10"/>
          <p:cNvSpPr/>
          <p:nvPr/>
        </p:nvSpPr>
        <p:spPr>
          <a:xfrm>
            <a:off x="9555480" y="3749040"/>
            <a:ext cx="1572768" cy="201168"/>
          </a:xfrm>
          <a:prstGeom prst="rect">
            <a:avLst/>
          </a:prstGeom>
          <a:noFill/>
          <a:ln/>
        </p:spPr>
        <p:txBody>
          <a:bodyPr wrap="square" lIns="0" tIns="0" rIns="0" bIns="0" rtlCol="0" anchor="t">
            <a:normAutofit/>
          </a:bodyPr>
          <a:lstStyle/>
          <a:p>
            <a:pPr marL="0" indent="0" algn="l">
              <a:buNone/>
            </a:pPr>
            <a:r>
              <a:rPr lang="en-US" sz="1000" b="1" dirty="0">
                <a:solidFill>
                  <a:srgbClr val="102A43"/>
                </a:solidFill>
                <a:latin typeface="Aptos" pitchFamily="34" charset="0"/>
                <a:ea typeface="Aptos" pitchFamily="34" charset="-122"/>
                <a:cs typeface="Aptos" pitchFamily="34" charset="-120"/>
              </a:rPr>
              <a:t>Random Forest</a:t>
            </a:r>
            <a:endParaRPr lang="en-US" sz="1000" dirty="0"/>
          </a:p>
        </p:txBody>
      </p:sp>
      <p:sp>
        <p:nvSpPr>
          <p:cNvPr id="14" name="Text 11"/>
          <p:cNvSpPr/>
          <p:nvPr/>
        </p:nvSpPr>
        <p:spPr>
          <a:xfrm>
            <a:off x="9555480" y="4005072"/>
            <a:ext cx="1417320" cy="237744"/>
          </a:xfrm>
          <a:prstGeom prst="rect">
            <a:avLst/>
          </a:prstGeom>
          <a:noFill/>
          <a:ln/>
        </p:spPr>
        <p:txBody>
          <a:bodyPr wrap="square" lIns="0" tIns="0" rIns="0" bIns="0" rtlCol="0" anchor="t">
            <a:normAutofit/>
          </a:bodyPr>
          <a:lstStyle/>
          <a:p>
            <a:pPr marL="0" indent="0" algn="l">
              <a:buNone/>
            </a:pPr>
            <a:r>
              <a:rPr lang="en-US" sz="1300" b="1" dirty="0">
                <a:solidFill>
                  <a:srgbClr val="1FA971"/>
                </a:solidFill>
                <a:latin typeface="Aptos" pitchFamily="34" charset="0"/>
                <a:ea typeface="Aptos" pitchFamily="34" charset="-122"/>
                <a:cs typeface="Aptos" pitchFamily="34" charset="-120"/>
              </a:rPr>
              <a:t>F1 0.990</a:t>
            </a:r>
            <a:endParaRPr lang="en-US" sz="1300" dirty="0"/>
          </a:p>
        </p:txBody>
      </p:sp>
      <p:sp>
        <p:nvSpPr>
          <p:cNvPr id="15" name="Text 12"/>
          <p:cNvSpPr/>
          <p:nvPr/>
        </p:nvSpPr>
        <p:spPr>
          <a:xfrm>
            <a:off x="9555480" y="4462272"/>
            <a:ext cx="1572768" cy="201168"/>
          </a:xfrm>
          <a:prstGeom prst="rect">
            <a:avLst/>
          </a:prstGeom>
          <a:noFill/>
          <a:ln/>
        </p:spPr>
        <p:txBody>
          <a:bodyPr wrap="square" lIns="0" tIns="0" rIns="0" bIns="0" rtlCol="0" anchor="t">
            <a:normAutofit/>
          </a:bodyPr>
          <a:lstStyle/>
          <a:p>
            <a:pPr marL="0" indent="0" algn="l">
              <a:buNone/>
            </a:pPr>
            <a:r>
              <a:rPr lang="en-US" sz="1000" b="1" dirty="0">
                <a:solidFill>
                  <a:srgbClr val="102A43"/>
                </a:solidFill>
                <a:latin typeface="Aptos" pitchFamily="34" charset="0"/>
                <a:ea typeface="Aptos" pitchFamily="34" charset="-122"/>
                <a:cs typeface="Aptos" pitchFamily="34" charset="-120"/>
              </a:rPr>
              <a:t>SVC</a:t>
            </a:r>
            <a:endParaRPr lang="en-US" sz="1000" dirty="0"/>
          </a:p>
        </p:txBody>
      </p:sp>
      <p:sp>
        <p:nvSpPr>
          <p:cNvPr id="16" name="Text 13"/>
          <p:cNvSpPr/>
          <p:nvPr/>
        </p:nvSpPr>
        <p:spPr>
          <a:xfrm>
            <a:off x="9555480" y="4718304"/>
            <a:ext cx="1417320" cy="237744"/>
          </a:xfrm>
          <a:prstGeom prst="rect">
            <a:avLst/>
          </a:prstGeom>
          <a:noFill/>
          <a:ln/>
        </p:spPr>
        <p:txBody>
          <a:bodyPr wrap="square" lIns="0" tIns="0" rIns="0" bIns="0" rtlCol="0" anchor="t">
            <a:normAutofit/>
          </a:bodyPr>
          <a:lstStyle/>
          <a:p>
            <a:pPr marL="0" indent="0" algn="l">
              <a:buNone/>
            </a:pPr>
            <a:r>
              <a:rPr lang="en-US" sz="1300" b="1" dirty="0">
                <a:solidFill>
                  <a:srgbClr val="0E9F9A"/>
                </a:solidFill>
                <a:latin typeface="Aptos" pitchFamily="34" charset="0"/>
                <a:ea typeface="Aptos" pitchFamily="34" charset="-122"/>
                <a:cs typeface="Aptos" pitchFamily="34" charset="-120"/>
              </a:rPr>
              <a:t>F1 0.990</a:t>
            </a:r>
            <a:endParaRPr lang="en-US" sz="1300" dirty="0"/>
          </a:p>
        </p:txBody>
      </p:sp>
      <p:sp>
        <p:nvSpPr>
          <p:cNvPr id="17" name="Text 14"/>
          <p:cNvSpPr/>
          <p:nvPr/>
        </p:nvSpPr>
        <p:spPr>
          <a:xfrm>
            <a:off x="9555480" y="5175504"/>
            <a:ext cx="1572768" cy="201168"/>
          </a:xfrm>
          <a:prstGeom prst="rect">
            <a:avLst/>
          </a:prstGeom>
          <a:noFill/>
          <a:ln/>
        </p:spPr>
        <p:txBody>
          <a:bodyPr wrap="square" lIns="0" tIns="0" rIns="0" bIns="0" rtlCol="0" anchor="t">
            <a:normAutofit/>
          </a:bodyPr>
          <a:lstStyle/>
          <a:p>
            <a:pPr marL="0" indent="0" algn="l">
              <a:buNone/>
            </a:pPr>
            <a:r>
              <a:rPr lang="en-US" sz="1000" b="1" dirty="0">
                <a:solidFill>
                  <a:srgbClr val="102A43"/>
                </a:solidFill>
                <a:latin typeface="Aptos" pitchFamily="34" charset="0"/>
                <a:ea typeface="Aptos" pitchFamily="34" charset="-122"/>
                <a:cs typeface="Aptos" pitchFamily="34" charset="-120"/>
              </a:rPr>
              <a:t>KNN</a:t>
            </a:r>
            <a:endParaRPr lang="en-US" sz="1000" dirty="0"/>
          </a:p>
        </p:txBody>
      </p:sp>
      <p:sp>
        <p:nvSpPr>
          <p:cNvPr id="18" name="Text 15"/>
          <p:cNvSpPr/>
          <p:nvPr/>
        </p:nvSpPr>
        <p:spPr>
          <a:xfrm>
            <a:off x="9555480" y="5431536"/>
            <a:ext cx="1417320" cy="237744"/>
          </a:xfrm>
          <a:prstGeom prst="rect">
            <a:avLst/>
          </a:prstGeom>
          <a:noFill/>
          <a:ln/>
        </p:spPr>
        <p:txBody>
          <a:bodyPr wrap="square" lIns="0" tIns="0" rIns="0" bIns="0" rtlCol="0" anchor="t">
            <a:normAutofit/>
          </a:bodyPr>
          <a:lstStyle/>
          <a:p>
            <a:pPr marL="0" indent="0" algn="l">
              <a:buNone/>
            </a:pPr>
            <a:r>
              <a:rPr lang="en-US" sz="1300" b="1" dirty="0">
                <a:solidFill>
                  <a:srgbClr val="E7A61A"/>
                </a:solidFill>
                <a:latin typeface="Aptos" pitchFamily="34" charset="0"/>
                <a:ea typeface="Aptos" pitchFamily="34" charset="-122"/>
                <a:cs typeface="Aptos" pitchFamily="34" charset="-120"/>
              </a:rPr>
              <a:t>F1 0.980</a:t>
            </a:r>
            <a:endParaRPr lang="en-US" sz="1300" dirty="0"/>
          </a:p>
        </p:txBody>
      </p:sp>
      <p:sp>
        <p:nvSpPr>
          <p:cNvPr id="19" name="Text 16"/>
          <p:cNvSpPr/>
          <p:nvPr/>
        </p:nvSpPr>
        <p:spPr>
          <a:xfrm>
            <a:off x="640080" y="6291072"/>
            <a:ext cx="9875520" cy="182880"/>
          </a:xfrm>
          <a:prstGeom prst="rect">
            <a:avLst/>
          </a:prstGeom>
          <a:noFill/>
          <a:ln/>
        </p:spPr>
        <p:txBody>
          <a:bodyPr wrap="square" lIns="0" tIns="0" rIns="0" bIns="0" rtlCol="0" anchor="t">
            <a:normAutofit/>
          </a:bodyPr>
          <a:lstStyle/>
          <a:p>
            <a:pPr marL="0" indent="0" algn="l">
              <a:buNone/>
            </a:pPr>
            <a:r>
              <a:rPr lang="en-US" sz="860" dirty="0">
                <a:solidFill>
                  <a:srgbClr val="63758A"/>
                </a:solidFill>
                <a:latin typeface="Aptos" pitchFamily="34" charset="0"/>
                <a:ea typeface="Aptos" pitchFamily="34" charset="-122"/>
                <a:cs typeface="Aptos" pitchFamily="34" charset="-120"/>
              </a:rPr>
              <a:t>Với bài toán hỗ trợ sàng lọc, Recall và False Negative cần được theo dõi bên cạnh Accuracy.</a:t>
            </a:r>
            <a:endParaRPr lang="en-US" sz="860" dirty="0"/>
          </a:p>
        </p:txBody>
      </p:sp>
      <p:sp>
        <p:nvSpPr>
          <p:cNvPr id="25"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t>11</a:t>
            </a:fld>
            <a:endParaRPr lang="en-US"/>
          </a:p>
        </p:txBody>
      </p:sp>
      <p:sp>
        <p:nvSpPr>
          <p:cNvPr id="21"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00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2">
                  <a:lumMod val="50000"/>
                </a:schemeClr>
              </a:solidFill>
              <a:latin typeface="+mj-lt"/>
            </a:endParaRPr>
          </a:p>
        </p:txBody>
      </p:sp>
      <p:sp>
        <p:nvSpPr>
          <p:cNvPr id="4" name="TextBox 3"/>
          <p:cNvSpPr txBox="1"/>
          <p:nvPr/>
        </p:nvSpPr>
        <p:spPr>
          <a:xfrm>
            <a:off x="731519" y="210086"/>
            <a:ext cx="10728655" cy="338554"/>
          </a:xfrm>
          <a:prstGeom prst="rect">
            <a:avLst/>
          </a:prstGeom>
          <a:noFill/>
        </p:spPr>
        <p:txBody>
          <a:bodyPr wrap="square" lIns="0" tIns="0" rIns="0" bIns="0">
            <a:spAutoFit/>
          </a:bodyPr>
          <a:lstStyle/>
          <a:p>
            <a:pPr>
              <a:defRPr sz="2200" b="1">
                <a:solidFill>
                  <a:srgbClr val="0F172A"/>
                </a:solidFill>
                <a:latin typeface="Arial" panose="020B0604020202020204"/>
              </a:defRPr>
            </a:pPr>
            <a:r>
              <a:rPr lang="vi-VN" sz="2200" b="1" dirty="0">
                <a:latin typeface="+mj-lt"/>
              </a:rPr>
              <a:t>So sánh tổng hợp các mô hình</a:t>
            </a:r>
            <a:endParaRPr dirty="0">
              <a:latin typeface="+mj-lt"/>
            </a:endParaRPr>
          </a:p>
        </p:txBody>
      </p:sp>
      <p:graphicFrame>
        <p:nvGraphicFramePr>
          <p:cNvPr id="5" name="Table 4"/>
          <p:cNvGraphicFramePr>
            <a:graphicFrameLocks noGrp="1"/>
          </p:cNvGraphicFramePr>
          <p:nvPr>
            <p:extLst>
              <p:ext uri="{D42A27DB-BD31-4B8C-83A1-F6EECF244321}">
                <p14:modId xmlns:p14="http://schemas.microsoft.com/office/powerpoint/2010/main" val="3791939221"/>
              </p:ext>
            </p:extLst>
          </p:nvPr>
        </p:nvGraphicFramePr>
        <p:xfrm>
          <a:off x="731520" y="1280160"/>
          <a:ext cx="10728655" cy="237744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950415">
                  <a:extLst>
                    <a:ext uri="{9D8B030D-6E8A-4147-A177-3AD203B41FA5}">
                      <a16:colId xmlns:a16="http://schemas.microsoft.com/office/drawing/2014/main" val="20005"/>
                    </a:ext>
                  </a:extLst>
                </a:gridCol>
              </a:tblGrid>
              <a:tr h="475488">
                <a:tc>
                  <a:txBody>
                    <a:bodyPr/>
                    <a:lstStyle/>
                    <a:p>
                      <a:r>
                        <a:rPr lang="vi-VN" sz="1200">
                          <a:latin typeface="+mj-lt"/>
                        </a:rPr>
                        <a:t>Model</a:t>
                      </a:r>
                    </a:p>
                  </a:txBody>
                  <a:tcPr anchor="ctr">
                    <a:solidFill>
                      <a:srgbClr val="0F172A"/>
                    </a:solidFill>
                  </a:tcPr>
                </a:tc>
                <a:tc>
                  <a:txBody>
                    <a:bodyPr/>
                    <a:lstStyle/>
                    <a:p>
                      <a:pPr algn="r"/>
                      <a:r>
                        <a:rPr lang="vi-VN" sz="1200">
                          <a:latin typeface="+mj-lt"/>
                        </a:rPr>
                        <a:t>Test F1</a:t>
                      </a:r>
                    </a:p>
                  </a:txBody>
                  <a:tcPr anchor="ctr">
                    <a:solidFill>
                      <a:srgbClr val="0F172A"/>
                    </a:solidFill>
                  </a:tcPr>
                </a:tc>
                <a:tc>
                  <a:txBody>
                    <a:bodyPr/>
                    <a:lstStyle/>
                    <a:p>
                      <a:pPr algn="r"/>
                      <a:r>
                        <a:rPr lang="vi-VN" sz="1200">
                          <a:latin typeface="+mj-lt"/>
                        </a:rPr>
                        <a:t>Accuracy</a:t>
                      </a:r>
                    </a:p>
                  </a:txBody>
                  <a:tcPr anchor="ctr">
                    <a:solidFill>
                      <a:srgbClr val="0F172A"/>
                    </a:solidFill>
                  </a:tcPr>
                </a:tc>
                <a:tc>
                  <a:txBody>
                    <a:bodyPr/>
                    <a:lstStyle/>
                    <a:p>
                      <a:pPr algn="r"/>
                      <a:r>
                        <a:rPr lang="vi-VN" sz="1200">
                          <a:latin typeface="+mj-lt"/>
                        </a:rPr>
                        <a:t>AUC</a:t>
                      </a:r>
                    </a:p>
                  </a:txBody>
                  <a:tcPr anchor="ctr">
                    <a:solidFill>
                      <a:srgbClr val="0F172A"/>
                    </a:solidFill>
                  </a:tcPr>
                </a:tc>
                <a:tc>
                  <a:txBody>
                    <a:bodyPr/>
                    <a:lstStyle/>
                    <a:p>
                      <a:pPr algn="r"/>
                      <a:r>
                        <a:rPr lang="vi-VN" sz="1200">
                          <a:latin typeface="+mj-lt"/>
                        </a:rPr>
                        <a:t>Train → Test</a:t>
                      </a:r>
                    </a:p>
                  </a:txBody>
                  <a:tcPr anchor="ctr">
                    <a:solidFill>
                      <a:srgbClr val="0F172A"/>
                    </a:solidFill>
                  </a:tcPr>
                </a:tc>
                <a:tc>
                  <a:txBody>
                    <a:bodyPr/>
                    <a:lstStyle/>
                    <a:p>
                      <a:pPr algn="r"/>
                      <a:r>
                        <a:rPr lang="vi-VN" sz="1200">
                          <a:latin typeface="+mj-lt"/>
                        </a:rPr>
                        <a:t>Time/sample</a:t>
                      </a:r>
                    </a:p>
                  </a:txBody>
                  <a:tcPr anchor="ctr">
                    <a:solidFill>
                      <a:srgbClr val="0F172A"/>
                    </a:solidFill>
                  </a:tcPr>
                </a:tc>
                <a:extLst>
                  <a:ext uri="{0D108BD9-81ED-4DB2-BD59-A6C34878D82A}">
                    <a16:rowId xmlns:a16="http://schemas.microsoft.com/office/drawing/2014/main" val="10000"/>
                  </a:ext>
                </a:extLst>
              </a:tr>
              <a:tr h="475488">
                <a:tc>
                  <a:txBody>
                    <a:bodyPr/>
                    <a:lstStyle/>
                    <a:p>
                      <a:r>
                        <a:rPr lang="vi-VN" sz="1200">
                          <a:latin typeface="+mj-lt"/>
                        </a:rPr>
                        <a:t>Dummy</a:t>
                      </a:r>
                    </a:p>
                  </a:txBody>
                  <a:tcPr anchor="ctr">
                    <a:solidFill>
                      <a:srgbClr val="ECFDF5"/>
                    </a:solidFill>
                  </a:tcPr>
                </a:tc>
                <a:tc>
                  <a:txBody>
                    <a:bodyPr/>
                    <a:lstStyle/>
                    <a:p>
                      <a:pPr algn="r"/>
                      <a:r>
                        <a:rPr lang="vi-VN" sz="1200">
                          <a:latin typeface="+mj-lt"/>
                        </a:rPr>
                        <a:t>0.7692</a:t>
                      </a:r>
                    </a:p>
                  </a:txBody>
                  <a:tcPr anchor="ctr">
                    <a:solidFill>
                      <a:srgbClr val="ECFDF5"/>
                    </a:solidFill>
                  </a:tcPr>
                </a:tc>
                <a:tc>
                  <a:txBody>
                    <a:bodyPr/>
                    <a:lstStyle/>
                    <a:p>
                      <a:pPr algn="r"/>
                      <a:r>
                        <a:rPr lang="vi-VN" sz="1200">
                          <a:latin typeface="+mj-lt"/>
                        </a:rPr>
                        <a:t>0.6250</a:t>
                      </a:r>
                    </a:p>
                  </a:txBody>
                  <a:tcPr anchor="ctr">
                    <a:solidFill>
                      <a:srgbClr val="ECFDF5"/>
                    </a:solidFill>
                  </a:tcPr>
                </a:tc>
                <a:tc>
                  <a:txBody>
                    <a:bodyPr/>
                    <a:lstStyle/>
                    <a:p>
                      <a:pPr algn="r"/>
                      <a:r>
                        <a:rPr lang="vi-VN" sz="1200">
                          <a:latin typeface="+mj-lt"/>
                        </a:rPr>
                        <a:t>0.5000</a:t>
                      </a:r>
                    </a:p>
                  </a:txBody>
                  <a:tcPr anchor="ctr">
                    <a:solidFill>
                      <a:srgbClr val="ECFDF5"/>
                    </a:solidFill>
                  </a:tcPr>
                </a:tc>
                <a:tc>
                  <a:txBody>
                    <a:bodyPr/>
                    <a:lstStyle/>
                    <a:p>
                      <a:pPr algn="r"/>
                      <a:r>
                        <a:rPr lang="vi-VN" sz="1200">
                          <a:latin typeface="+mj-lt"/>
                        </a:rPr>
                        <a:t>0.7692 → 0.7692</a:t>
                      </a:r>
                    </a:p>
                  </a:txBody>
                  <a:tcPr anchor="ctr">
                    <a:solidFill>
                      <a:srgbClr val="ECFDF5"/>
                    </a:solidFill>
                  </a:tcPr>
                </a:tc>
                <a:tc>
                  <a:txBody>
                    <a:bodyPr/>
                    <a:lstStyle/>
                    <a:p>
                      <a:pPr algn="r"/>
                      <a:r>
                        <a:rPr lang="vi-VN" sz="1200">
                          <a:latin typeface="+mj-lt"/>
                        </a:rPr>
                        <a:t>0.161 ms</a:t>
                      </a:r>
                    </a:p>
                  </a:txBody>
                  <a:tcPr anchor="ctr">
                    <a:solidFill>
                      <a:srgbClr val="ECFDF5"/>
                    </a:solidFill>
                  </a:tcPr>
                </a:tc>
                <a:extLst>
                  <a:ext uri="{0D108BD9-81ED-4DB2-BD59-A6C34878D82A}">
                    <a16:rowId xmlns:a16="http://schemas.microsoft.com/office/drawing/2014/main" val="10001"/>
                  </a:ext>
                </a:extLst>
              </a:tr>
              <a:tr h="475488">
                <a:tc>
                  <a:txBody>
                    <a:bodyPr/>
                    <a:lstStyle/>
                    <a:p>
                      <a:r>
                        <a:rPr lang="vi-VN" sz="1200" b="1">
                          <a:latin typeface="+mj-lt"/>
                        </a:rPr>
                        <a:t>Logistic Regression</a:t>
                      </a:r>
                      <a:endParaRPr lang="vi-VN" sz="1200">
                        <a:latin typeface="+mj-lt"/>
                      </a:endParaRPr>
                    </a:p>
                  </a:txBody>
                  <a:tcPr anchor="ctr">
                    <a:solidFill>
                      <a:srgbClr val="F1F5F9"/>
                    </a:solidFill>
                  </a:tcPr>
                </a:tc>
                <a:tc>
                  <a:txBody>
                    <a:bodyPr/>
                    <a:lstStyle/>
                    <a:p>
                      <a:pPr algn="r"/>
                      <a:r>
                        <a:rPr lang="vi-VN" sz="1200" b="1">
                          <a:latin typeface="+mj-lt"/>
                        </a:rPr>
                        <a:t>1.0000</a:t>
                      </a:r>
                      <a:endParaRPr lang="vi-VN" sz="1200">
                        <a:latin typeface="+mj-lt"/>
                      </a:endParaRPr>
                    </a:p>
                  </a:txBody>
                  <a:tcPr anchor="ctr">
                    <a:solidFill>
                      <a:srgbClr val="F1F5F9"/>
                    </a:solidFill>
                  </a:tcPr>
                </a:tc>
                <a:tc>
                  <a:txBody>
                    <a:bodyPr/>
                    <a:lstStyle/>
                    <a:p>
                      <a:pPr algn="r"/>
                      <a:r>
                        <a:rPr lang="vi-VN" sz="1200" b="1">
                          <a:latin typeface="+mj-lt"/>
                        </a:rPr>
                        <a:t>1.0000</a:t>
                      </a:r>
                      <a:endParaRPr lang="vi-VN" sz="1200">
                        <a:latin typeface="+mj-lt"/>
                      </a:endParaRPr>
                    </a:p>
                  </a:txBody>
                  <a:tcPr anchor="ctr">
                    <a:solidFill>
                      <a:srgbClr val="F1F5F9"/>
                    </a:solidFill>
                  </a:tcPr>
                </a:tc>
                <a:tc>
                  <a:txBody>
                    <a:bodyPr/>
                    <a:lstStyle/>
                    <a:p>
                      <a:pPr algn="r"/>
                      <a:r>
                        <a:rPr lang="vi-VN" sz="1200" b="1">
                          <a:latin typeface="+mj-lt"/>
                        </a:rPr>
                        <a:t>1.0000</a:t>
                      </a:r>
                      <a:endParaRPr lang="vi-VN" sz="1200">
                        <a:latin typeface="+mj-lt"/>
                      </a:endParaRPr>
                    </a:p>
                  </a:txBody>
                  <a:tcPr anchor="ctr">
                    <a:solidFill>
                      <a:srgbClr val="F1F5F9"/>
                    </a:solidFill>
                  </a:tcPr>
                </a:tc>
                <a:tc>
                  <a:txBody>
                    <a:bodyPr/>
                    <a:lstStyle/>
                    <a:p>
                      <a:pPr algn="r"/>
                      <a:r>
                        <a:rPr lang="vi-VN" sz="1200" b="1">
                          <a:latin typeface="+mj-lt"/>
                        </a:rPr>
                        <a:t>1.0000 → 1.0000</a:t>
                      </a:r>
                      <a:endParaRPr lang="vi-VN" sz="1200">
                        <a:latin typeface="+mj-lt"/>
                      </a:endParaRPr>
                    </a:p>
                  </a:txBody>
                  <a:tcPr anchor="ctr">
                    <a:solidFill>
                      <a:srgbClr val="F1F5F9"/>
                    </a:solidFill>
                  </a:tcPr>
                </a:tc>
                <a:tc>
                  <a:txBody>
                    <a:bodyPr/>
                    <a:lstStyle/>
                    <a:p>
                      <a:pPr algn="r"/>
                      <a:r>
                        <a:rPr lang="vi-VN" sz="1200" b="1">
                          <a:latin typeface="+mj-lt"/>
                        </a:rPr>
                        <a:t>0.193 ms</a:t>
                      </a:r>
                      <a:endParaRPr lang="vi-VN" sz="1200">
                        <a:latin typeface="+mj-lt"/>
                      </a:endParaRPr>
                    </a:p>
                  </a:txBody>
                  <a:tcPr anchor="ctr">
                    <a:solidFill>
                      <a:srgbClr val="F1F5F9"/>
                    </a:solidFill>
                  </a:tcPr>
                </a:tc>
                <a:extLst>
                  <a:ext uri="{0D108BD9-81ED-4DB2-BD59-A6C34878D82A}">
                    <a16:rowId xmlns:a16="http://schemas.microsoft.com/office/drawing/2014/main" val="10002"/>
                  </a:ext>
                </a:extLst>
              </a:tr>
              <a:tr h="475488">
                <a:tc>
                  <a:txBody>
                    <a:bodyPr/>
                    <a:lstStyle/>
                    <a:p>
                      <a:r>
                        <a:rPr lang="vi-VN" sz="1200">
                          <a:latin typeface="+mj-lt"/>
                        </a:rPr>
                        <a:t>SVC</a:t>
                      </a:r>
                    </a:p>
                  </a:txBody>
                  <a:tcPr anchor="ctr">
                    <a:solidFill>
                      <a:srgbClr val="FFFFFF"/>
                    </a:solidFill>
                  </a:tcPr>
                </a:tc>
                <a:tc>
                  <a:txBody>
                    <a:bodyPr/>
                    <a:lstStyle/>
                    <a:p>
                      <a:pPr algn="r"/>
                      <a:r>
                        <a:rPr lang="vi-VN" sz="1200">
                          <a:latin typeface="+mj-lt"/>
                        </a:rPr>
                        <a:t>0.9899</a:t>
                      </a:r>
                    </a:p>
                  </a:txBody>
                  <a:tcPr anchor="ctr">
                    <a:solidFill>
                      <a:srgbClr val="FFFFFF"/>
                    </a:solidFill>
                  </a:tcPr>
                </a:tc>
                <a:tc>
                  <a:txBody>
                    <a:bodyPr/>
                    <a:lstStyle/>
                    <a:p>
                      <a:pPr algn="r"/>
                      <a:r>
                        <a:rPr lang="vi-VN" sz="1200">
                          <a:latin typeface="+mj-lt"/>
                        </a:rPr>
                        <a:t>0.9875</a:t>
                      </a:r>
                    </a:p>
                  </a:txBody>
                  <a:tcPr anchor="ctr">
                    <a:solidFill>
                      <a:srgbClr val="FFFFFF"/>
                    </a:solidFill>
                  </a:tcPr>
                </a:tc>
                <a:tc>
                  <a:txBody>
                    <a:bodyPr/>
                    <a:lstStyle/>
                    <a:p>
                      <a:pPr algn="r"/>
                      <a:r>
                        <a:rPr lang="vi-VN" sz="1200">
                          <a:latin typeface="+mj-lt"/>
                        </a:rPr>
                        <a:t>1.0000</a:t>
                      </a:r>
                    </a:p>
                  </a:txBody>
                  <a:tcPr anchor="ctr">
                    <a:solidFill>
                      <a:srgbClr val="FFFFFF"/>
                    </a:solidFill>
                  </a:tcPr>
                </a:tc>
                <a:tc>
                  <a:txBody>
                    <a:bodyPr/>
                    <a:lstStyle/>
                    <a:p>
                      <a:pPr algn="r"/>
                      <a:r>
                        <a:rPr lang="vi-VN" sz="1200">
                          <a:latin typeface="+mj-lt"/>
                        </a:rPr>
                        <a:t>1.0000 → 0.9899</a:t>
                      </a:r>
                    </a:p>
                  </a:txBody>
                  <a:tcPr anchor="ctr">
                    <a:solidFill>
                      <a:srgbClr val="FFFFFF"/>
                    </a:solidFill>
                  </a:tcPr>
                </a:tc>
                <a:tc>
                  <a:txBody>
                    <a:bodyPr/>
                    <a:lstStyle/>
                    <a:p>
                      <a:pPr algn="r"/>
                      <a:r>
                        <a:rPr lang="vi-VN" sz="1200">
                          <a:latin typeface="+mj-lt"/>
                        </a:rPr>
                        <a:t>0.219 ms</a:t>
                      </a:r>
                    </a:p>
                  </a:txBody>
                  <a:tcPr anchor="ctr">
                    <a:solidFill>
                      <a:srgbClr val="FFFFFF"/>
                    </a:solidFill>
                  </a:tcPr>
                </a:tc>
                <a:extLst>
                  <a:ext uri="{0D108BD9-81ED-4DB2-BD59-A6C34878D82A}">
                    <a16:rowId xmlns:a16="http://schemas.microsoft.com/office/drawing/2014/main" val="10003"/>
                  </a:ext>
                </a:extLst>
              </a:tr>
              <a:tr h="475488">
                <a:tc>
                  <a:txBody>
                    <a:bodyPr/>
                    <a:lstStyle/>
                    <a:p>
                      <a:r>
                        <a:rPr lang="vi-VN" sz="1200">
                          <a:latin typeface="+mj-lt"/>
                        </a:rPr>
                        <a:t>KNN</a:t>
                      </a:r>
                    </a:p>
                  </a:txBody>
                  <a:tcPr anchor="ctr">
                    <a:solidFill>
                      <a:srgbClr val="F1F5F9"/>
                    </a:solidFill>
                  </a:tcPr>
                </a:tc>
                <a:tc>
                  <a:txBody>
                    <a:bodyPr/>
                    <a:lstStyle/>
                    <a:p>
                      <a:pPr algn="r"/>
                      <a:r>
                        <a:rPr lang="vi-VN" sz="1200">
                          <a:latin typeface="+mj-lt"/>
                        </a:rPr>
                        <a:t>0.9796</a:t>
                      </a:r>
                    </a:p>
                  </a:txBody>
                  <a:tcPr anchor="ctr">
                    <a:solidFill>
                      <a:srgbClr val="F1F5F9"/>
                    </a:solidFill>
                  </a:tcPr>
                </a:tc>
                <a:tc>
                  <a:txBody>
                    <a:bodyPr/>
                    <a:lstStyle/>
                    <a:p>
                      <a:pPr algn="r"/>
                      <a:r>
                        <a:rPr lang="vi-VN" sz="1200">
                          <a:latin typeface="+mj-lt"/>
                        </a:rPr>
                        <a:t>0.9750</a:t>
                      </a:r>
                    </a:p>
                  </a:txBody>
                  <a:tcPr anchor="ctr">
                    <a:solidFill>
                      <a:srgbClr val="F1F5F9"/>
                    </a:solidFill>
                  </a:tcPr>
                </a:tc>
                <a:tc>
                  <a:txBody>
                    <a:bodyPr/>
                    <a:lstStyle/>
                    <a:p>
                      <a:pPr algn="r"/>
                      <a:r>
                        <a:rPr lang="vi-VN" sz="1200">
                          <a:latin typeface="+mj-lt"/>
                        </a:rPr>
                        <a:t>0.9987</a:t>
                      </a:r>
                    </a:p>
                  </a:txBody>
                  <a:tcPr anchor="ctr">
                    <a:solidFill>
                      <a:srgbClr val="F1F5F9"/>
                    </a:solidFill>
                  </a:tcPr>
                </a:tc>
                <a:tc>
                  <a:txBody>
                    <a:bodyPr/>
                    <a:lstStyle/>
                    <a:p>
                      <a:pPr algn="r"/>
                      <a:r>
                        <a:rPr lang="vi-VN" sz="1200">
                          <a:latin typeface="+mj-lt"/>
                        </a:rPr>
                        <a:t>1.0000 → 0.9796</a:t>
                      </a:r>
                    </a:p>
                  </a:txBody>
                  <a:tcPr anchor="ctr">
                    <a:solidFill>
                      <a:srgbClr val="F1F5F9"/>
                    </a:solidFill>
                  </a:tcPr>
                </a:tc>
                <a:tc>
                  <a:txBody>
                    <a:bodyPr/>
                    <a:lstStyle/>
                    <a:p>
                      <a:pPr algn="r"/>
                      <a:r>
                        <a:rPr lang="vi-VN" sz="1200" dirty="0">
                          <a:latin typeface="+mj-lt"/>
                        </a:rPr>
                        <a:t>0.402 ms</a:t>
                      </a:r>
                    </a:p>
                  </a:txBody>
                  <a:tcPr anchor="ctr">
                    <a:solidFill>
                      <a:srgbClr val="F1F5F9"/>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731520" y="3931920"/>
            <a:ext cx="10728655" cy="2468880"/>
          </a:xfrm>
          <a:prstGeom prst="round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wrap="square" lIns="274320" tIns="182880" rIns="274320" rtlCol="0" anchor="ctr"/>
          <a:lstStyle/>
          <a:p>
            <a:pPr algn="ctr">
              <a:spcAft>
                <a:spcPts val="800"/>
              </a:spcAft>
              <a:defRPr sz="1500" b="1">
                <a:solidFill>
                  <a:srgbClr val="0F172A"/>
                </a:solidFill>
              </a:defRPr>
            </a:pPr>
            <a:r>
              <a:rPr dirty="0">
                <a:latin typeface="+mj-lt"/>
              </a:rPr>
              <a:t>LÝ DO LỰA CHỌN LOGISTIC REGRESSION LÀM MÔ HÌNH XUẤT SẮC NHẤT:</a:t>
            </a:r>
          </a:p>
          <a:p>
            <a:pPr>
              <a:spcAft>
                <a:spcPts val="400"/>
              </a:spcAft>
            </a:pPr>
            <a:r>
              <a:rPr lang="vi-VN" sz="1600" dirty="0" smtClean="0">
                <a:solidFill>
                  <a:schemeClr val="tx1"/>
                </a:solidFill>
                <a:latin typeface="+mj-lt"/>
              </a:rPr>
              <a:t>	Logistic </a:t>
            </a:r>
            <a:r>
              <a:rPr lang="vi-VN" sz="1600" dirty="0">
                <a:solidFill>
                  <a:schemeClr val="tx1"/>
                </a:solidFill>
                <a:latin typeface="+mj-lt"/>
              </a:rPr>
              <a:t>Regression được lựa chọn để triển khai vì đạt kết quả tốt nhất trên tập Test hiện tại với F1 = 1.0000, Accuracy = 1.0000 và AUC = 1.0000, đồng thời có khoảng cách Train–Test bằng 0. Bên cạnh hiệu năng cao, mô hình có kích thước artifact nhỏ, thời gian dự đoán nhanh và cấu trúc tuyến tính dễ giải thích hơn so với SVC và Random Forest. Ngoài ra, Logistic Regression có khả năng cung cấp xác suất dự đoán, phù hợp với việc hiển thị kết quả trên Web App.</a:t>
            </a:r>
            <a:r>
              <a:rPr sz="1600" dirty="0" smtClean="0">
                <a:solidFill>
                  <a:schemeClr val="tx1"/>
                </a:solidFill>
                <a:latin typeface="+mj-lt"/>
              </a:rPr>
              <a:t>.</a:t>
            </a:r>
            <a:endParaRPr sz="1600" dirty="0">
              <a:solidFill>
                <a:schemeClr val="tx1"/>
              </a:solidFill>
              <a:latin typeface="+mj-lt"/>
            </a:endParaRPr>
          </a:p>
        </p:txBody>
      </p:sp>
      <p:sp>
        <p:nvSpPr>
          <p:cNvPr id="7" name="Rectangle 6"/>
          <p:cNvSpPr/>
          <p:nvPr/>
        </p:nvSpPr>
        <p:spPr>
          <a:xfrm>
            <a:off x="642618" y="635169"/>
            <a:ext cx="10728655" cy="338554"/>
          </a:xfrm>
          <a:prstGeom prst="rect">
            <a:avLst/>
          </a:prstGeom>
        </p:spPr>
        <p:txBody>
          <a:bodyPr wrap="square">
            <a:spAutoFit/>
          </a:bodyPr>
          <a:lstStyle/>
          <a:p>
            <a:r>
              <a:rPr lang="vi-VN" sz="1600" dirty="0">
                <a:latin typeface="+mj-lt"/>
              </a:rPr>
              <a:t>So sánh hiệu năng trên tập Test, khả năng tổng quát hóa, tốc độ suy luận và kích thước artifact.</a:t>
            </a:r>
          </a:p>
        </p:txBody>
      </p:sp>
    </p:spTree>
    <p:extLst>
      <p:ext uri="{BB962C8B-B14F-4D97-AF65-F5344CB8AC3E}">
        <p14:creationId xmlns:p14="http://schemas.microsoft.com/office/powerpoint/2010/main" val="9428598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rPr>
              <a:t>10</a:t>
            </a:r>
            <a:endParaRPr lang="en-US" sz="1200" dirty="0"/>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rPr>
              <a:t>Confusion Matrix &amp; ROC–AUC</a:t>
            </a:r>
            <a:endParaRPr lang="en-US" sz="2500" dirty="0"/>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rPr>
              <a:t>Xem trực tiếp lỗi phân loại và khả năng phân biệt hai lớp trên nhiều threshold</a:t>
            </a:r>
            <a:endParaRPr lang="en-US" sz="1080" dirty="0"/>
          </a:p>
        </p:txBody>
      </p:sp>
      <p:sp>
        <p:nvSpPr>
          <p:cNvPr id="5" name="Shape 3"/>
          <p:cNvSpPr/>
          <p:nvPr/>
        </p:nvSpPr>
        <p:spPr>
          <a:xfrm>
            <a:off x="658368" y="1572768"/>
            <a:ext cx="6510528" cy="4526280"/>
          </a:xfrm>
          <a:prstGeom prst="roundRect">
            <a:avLst>
              <a:gd name="adj" fmla="val 2424"/>
            </a:avLst>
          </a:prstGeom>
          <a:solidFill>
            <a:srgbClr val="FFFFFF"/>
          </a:solidFill>
          <a:ln w="10160">
            <a:solidFill>
              <a:srgbClr val="D9E3EE"/>
            </a:solidFill>
            <a:prstDash val="solid"/>
          </a:ln>
          <a:effectLst>
            <a:outerShdw algn="bl" rotWithShape="0">
              <a:srgbClr val="000000">
                <a:alpha val="0"/>
              </a:srgbClr>
            </a:outerShdw>
          </a:effectLst>
        </p:spPr>
      </p:sp>
      <p:sp>
        <p:nvSpPr>
          <p:cNvPr id="6" name="Text 4"/>
          <p:cNvSpPr/>
          <p:nvPr/>
        </p:nvSpPr>
        <p:spPr>
          <a:xfrm>
            <a:off x="3236976" y="1745996"/>
            <a:ext cx="2834640" cy="256032"/>
          </a:xfrm>
          <a:prstGeom prst="rect">
            <a:avLst/>
          </a:prstGeom>
          <a:noFill/>
          <a:ln/>
        </p:spPr>
        <p:txBody>
          <a:bodyPr wrap="square" lIns="0" tIns="0" rIns="0" bIns="0" rtlCol="0" anchor="t">
            <a:normAutofit/>
          </a:bodyPr>
          <a:lstStyle/>
          <a:p>
            <a:pPr marL="0" indent="0" algn="l">
              <a:buNone/>
            </a:pPr>
            <a:r>
              <a:rPr lang="en-US" sz="1200" b="1" dirty="0" smtClean="0">
                <a:solidFill>
                  <a:srgbClr val="102A43"/>
                </a:solidFill>
                <a:latin typeface="Aptos" pitchFamily="34" charset="0"/>
                <a:ea typeface="Aptos" pitchFamily="34" charset="-122"/>
                <a:cs typeface="Aptos" pitchFamily="34" charset="-120"/>
              </a:rPr>
              <a:t>Confusion </a:t>
            </a:r>
            <a:r>
              <a:rPr lang="en-US" sz="1200" b="1" dirty="0">
                <a:solidFill>
                  <a:srgbClr val="102A43"/>
                </a:solidFill>
                <a:latin typeface="Aptos" pitchFamily="34" charset="0"/>
                <a:ea typeface="Aptos" pitchFamily="34" charset="-122"/>
                <a:cs typeface="Aptos" pitchFamily="34" charset="-120"/>
              </a:rPr>
              <a:t>Matrix</a:t>
            </a:r>
            <a:endParaRPr lang="en-US" sz="1200" dirty="0"/>
          </a:p>
        </p:txBody>
      </p:sp>
      <p:pic>
        <p:nvPicPr>
          <p:cNvPr id="7" name="Image 0" descr="/mnt/data/confusion_matrices.png"/>
          <p:cNvPicPr>
            <a:picLocks noChangeAspect="1"/>
          </p:cNvPicPr>
          <p:nvPr/>
        </p:nvPicPr>
        <p:blipFill>
          <a:blip r:embed="rId3"/>
          <a:stretch>
            <a:fillRect/>
          </a:stretch>
        </p:blipFill>
        <p:spPr>
          <a:xfrm>
            <a:off x="1066895" y="2103120"/>
            <a:ext cx="5693474" cy="3383280"/>
          </a:xfrm>
          <a:prstGeom prst="rect">
            <a:avLst/>
          </a:prstGeom>
        </p:spPr>
      </p:pic>
      <p:sp>
        <p:nvSpPr>
          <p:cNvPr id="8" name="Shape 5"/>
          <p:cNvSpPr/>
          <p:nvPr/>
        </p:nvSpPr>
        <p:spPr>
          <a:xfrm>
            <a:off x="932688" y="5559552"/>
            <a:ext cx="1024128" cy="310896"/>
          </a:xfrm>
          <a:prstGeom prst="roundRect">
            <a:avLst/>
          </a:prstGeom>
          <a:solidFill>
            <a:srgbClr val="EDF4FF"/>
          </a:solidFill>
          <a:ln w="12700">
            <a:solidFill>
              <a:srgbClr val="EDF4FF"/>
            </a:solidFill>
            <a:prstDash val="solid"/>
          </a:ln>
        </p:spPr>
      </p:sp>
      <p:sp>
        <p:nvSpPr>
          <p:cNvPr id="9" name="Text 6"/>
          <p:cNvSpPr/>
          <p:nvPr/>
        </p:nvSpPr>
        <p:spPr>
          <a:xfrm>
            <a:off x="932688" y="5586984"/>
            <a:ext cx="1024128" cy="246888"/>
          </a:xfrm>
          <a:prstGeom prst="rect">
            <a:avLst/>
          </a:prstGeom>
          <a:noFill/>
          <a:ln/>
        </p:spPr>
        <p:txBody>
          <a:bodyPr wrap="square" lIns="0" tIns="0" rIns="0" bIns="0" rtlCol="0" anchor="ctr">
            <a:normAutofit/>
          </a:bodyPr>
          <a:lstStyle/>
          <a:p>
            <a:pPr marL="0" indent="0" algn="ctr">
              <a:buNone/>
            </a:pPr>
            <a:r>
              <a:rPr lang="en-US" sz="900" b="1" dirty="0">
                <a:solidFill>
                  <a:srgbClr val="2457D6"/>
                </a:solidFill>
                <a:latin typeface="Aptos" pitchFamily="34" charset="0"/>
                <a:ea typeface="Aptos" pitchFamily="34" charset="-122"/>
                <a:cs typeface="Aptos" pitchFamily="34" charset="-120"/>
              </a:rPr>
              <a:t>LR: 0 lỗi</a:t>
            </a:r>
            <a:endParaRPr lang="en-US" sz="900" dirty="0"/>
          </a:p>
        </p:txBody>
      </p:sp>
      <p:sp>
        <p:nvSpPr>
          <p:cNvPr id="10" name="Shape 7"/>
          <p:cNvSpPr/>
          <p:nvPr/>
        </p:nvSpPr>
        <p:spPr>
          <a:xfrm>
            <a:off x="2084832" y="5559552"/>
            <a:ext cx="1024128" cy="310896"/>
          </a:xfrm>
          <a:prstGeom prst="roundRect">
            <a:avLst/>
          </a:prstGeom>
          <a:solidFill>
            <a:srgbClr val="EAF8F0"/>
          </a:solidFill>
          <a:ln w="12700">
            <a:solidFill>
              <a:srgbClr val="EAF8F0"/>
            </a:solidFill>
            <a:prstDash val="solid"/>
          </a:ln>
        </p:spPr>
      </p:sp>
      <p:sp>
        <p:nvSpPr>
          <p:cNvPr id="11" name="Text 8"/>
          <p:cNvSpPr/>
          <p:nvPr/>
        </p:nvSpPr>
        <p:spPr>
          <a:xfrm>
            <a:off x="2084832" y="5586984"/>
            <a:ext cx="1024128" cy="246888"/>
          </a:xfrm>
          <a:prstGeom prst="rect">
            <a:avLst/>
          </a:prstGeom>
          <a:noFill/>
          <a:ln/>
        </p:spPr>
        <p:txBody>
          <a:bodyPr wrap="square" lIns="0" tIns="0" rIns="0" bIns="0" rtlCol="0" anchor="ctr">
            <a:normAutofit/>
          </a:bodyPr>
          <a:lstStyle/>
          <a:p>
            <a:pPr marL="0" indent="0" algn="ctr">
              <a:buNone/>
            </a:pPr>
            <a:r>
              <a:rPr lang="en-US" sz="900" b="1" dirty="0">
                <a:solidFill>
                  <a:srgbClr val="1FA971"/>
                </a:solidFill>
                <a:latin typeface="Aptos" pitchFamily="34" charset="0"/>
                <a:ea typeface="Aptos" pitchFamily="34" charset="-122"/>
                <a:cs typeface="Aptos" pitchFamily="34" charset="-120"/>
              </a:rPr>
              <a:t>RF: 1 FP</a:t>
            </a:r>
            <a:endParaRPr lang="en-US" sz="900" dirty="0"/>
          </a:p>
        </p:txBody>
      </p:sp>
      <p:sp>
        <p:nvSpPr>
          <p:cNvPr id="12" name="Shape 9"/>
          <p:cNvSpPr/>
          <p:nvPr/>
        </p:nvSpPr>
        <p:spPr>
          <a:xfrm>
            <a:off x="3236976" y="5559552"/>
            <a:ext cx="1024128" cy="310896"/>
          </a:xfrm>
          <a:prstGeom prst="roundRect">
            <a:avLst/>
          </a:prstGeom>
          <a:solidFill>
            <a:srgbClr val="EAF8F7"/>
          </a:solidFill>
          <a:ln w="12700">
            <a:solidFill>
              <a:srgbClr val="EAF8F7"/>
            </a:solidFill>
            <a:prstDash val="solid"/>
          </a:ln>
        </p:spPr>
      </p:sp>
      <p:sp>
        <p:nvSpPr>
          <p:cNvPr id="13" name="Text 10"/>
          <p:cNvSpPr/>
          <p:nvPr/>
        </p:nvSpPr>
        <p:spPr>
          <a:xfrm>
            <a:off x="3236976" y="5586984"/>
            <a:ext cx="1024128" cy="246888"/>
          </a:xfrm>
          <a:prstGeom prst="rect">
            <a:avLst/>
          </a:prstGeom>
          <a:noFill/>
          <a:ln/>
        </p:spPr>
        <p:txBody>
          <a:bodyPr wrap="square" lIns="0" tIns="0" rIns="0" bIns="0" rtlCol="0" anchor="ctr">
            <a:normAutofit/>
          </a:bodyPr>
          <a:lstStyle/>
          <a:p>
            <a:pPr marL="0" indent="0" algn="ctr">
              <a:buNone/>
            </a:pPr>
            <a:r>
              <a:rPr lang="en-US" sz="900" b="1" dirty="0">
                <a:solidFill>
                  <a:srgbClr val="0E9F9A"/>
                </a:solidFill>
                <a:latin typeface="Aptos" pitchFamily="34" charset="0"/>
                <a:ea typeface="Aptos" pitchFamily="34" charset="-122"/>
                <a:cs typeface="Aptos" pitchFamily="34" charset="-120"/>
              </a:rPr>
              <a:t>SVC: 1 FN</a:t>
            </a:r>
            <a:endParaRPr lang="en-US" sz="900" dirty="0"/>
          </a:p>
        </p:txBody>
      </p:sp>
      <p:sp>
        <p:nvSpPr>
          <p:cNvPr id="14" name="Shape 11"/>
          <p:cNvSpPr/>
          <p:nvPr/>
        </p:nvSpPr>
        <p:spPr>
          <a:xfrm>
            <a:off x="4389120" y="5559552"/>
            <a:ext cx="1078992" cy="310896"/>
          </a:xfrm>
          <a:prstGeom prst="roundRect">
            <a:avLst/>
          </a:prstGeom>
          <a:solidFill>
            <a:srgbClr val="FFF7E6"/>
          </a:solidFill>
          <a:ln w="12700">
            <a:solidFill>
              <a:srgbClr val="FFF7E6"/>
            </a:solidFill>
            <a:prstDash val="solid"/>
          </a:ln>
        </p:spPr>
      </p:sp>
      <p:sp>
        <p:nvSpPr>
          <p:cNvPr id="15" name="Text 12"/>
          <p:cNvSpPr/>
          <p:nvPr/>
        </p:nvSpPr>
        <p:spPr>
          <a:xfrm>
            <a:off x="4389120" y="5586984"/>
            <a:ext cx="1078992" cy="246888"/>
          </a:xfrm>
          <a:prstGeom prst="rect">
            <a:avLst/>
          </a:prstGeom>
          <a:noFill/>
          <a:ln/>
        </p:spPr>
        <p:txBody>
          <a:bodyPr wrap="square" lIns="0" tIns="0" rIns="0" bIns="0" rtlCol="0" anchor="ctr">
            <a:normAutofit/>
          </a:bodyPr>
          <a:lstStyle/>
          <a:p>
            <a:pPr marL="0" indent="0" algn="ctr">
              <a:buNone/>
            </a:pPr>
            <a:r>
              <a:rPr lang="en-US" sz="900" b="1" dirty="0">
                <a:solidFill>
                  <a:srgbClr val="E7A61A"/>
                </a:solidFill>
                <a:latin typeface="Aptos" pitchFamily="34" charset="0"/>
                <a:ea typeface="Aptos" pitchFamily="34" charset="-122"/>
                <a:cs typeface="Aptos" pitchFamily="34" charset="-120"/>
              </a:rPr>
              <a:t>KNN: 2 FN</a:t>
            </a:r>
            <a:endParaRPr lang="en-US" sz="900" dirty="0"/>
          </a:p>
        </p:txBody>
      </p:sp>
      <p:sp>
        <p:nvSpPr>
          <p:cNvPr id="16" name="Shape 13"/>
          <p:cNvSpPr/>
          <p:nvPr/>
        </p:nvSpPr>
        <p:spPr>
          <a:xfrm>
            <a:off x="5559552" y="5559552"/>
            <a:ext cx="1298448" cy="310896"/>
          </a:xfrm>
          <a:prstGeom prst="roundRect">
            <a:avLst/>
          </a:prstGeom>
          <a:solidFill>
            <a:srgbClr val="FFF0F0"/>
          </a:solidFill>
          <a:ln w="12700">
            <a:solidFill>
              <a:srgbClr val="FFF0F0"/>
            </a:solidFill>
            <a:prstDash val="solid"/>
          </a:ln>
        </p:spPr>
      </p:sp>
      <p:sp>
        <p:nvSpPr>
          <p:cNvPr id="17" name="Text 14"/>
          <p:cNvSpPr/>
          <p:nvPr/>
        </p:nvSpPr>
        <p:spPr>
          <a:xfrm>
            <a:off x="5559552" y="5586984"/>
            <a:ext cx="1298448" cy="246888"/>
          </a:xfrm>
          <a:prstGeom prst="rect">
            <a:avLst/>
          </a:prstGeom>
          <a:noFill/>
          <a:ln/>
        </p:spPr>
        <p:txBody>
          <a:bodyPr wrap="square" lIns="0" tIns="0" rIns="0" bIns="0" rtlCol="0" anchor="ctr">
            <a:normAutofit/>
          </a:bodyPr>
          <a:lstStyle/>
          <a:p>
            <a:pPr marL="0" indent="0" algn="ctr">
              <a:buNone/>
            </a:pPr>
            <a:r>
              <a:rPr lang="en-US" sz="900" b="1" dirty="0">
                <a:solidFill>
                  <a:srgbClr val="D95555"/>
                </a:solidFill>
                <a:latin typeface="Aptos" pitchFamily="34" charset="0"/>
                <a:ea typeface="Aptos" pitchFamily="34" charset="-122"/>
                <a:cs typeface="Aptos" pitchFamily="34" charset="-120"/>
              </a:rPr>
              <a:t>Dummy: 30 FP</a:t>
            </a:r>
            <a:endParaRPr lang="en-US" sz="900" dirty="0"/>
          </a:p>
        </p:txBody>
      </p:sp>
      <p:sp>
        <p:nvSpPr>
          <p:cNvPr id="18" name="Shape 15"/>
          <p:cNvSpPr/>
          <p:nvPr/>
        </p:nvSpPr>
        <p:spPr>
          <a:xfrm>
            <a:off x="7388352" y="1572768"/>
            <a:ext cx="4160520" cy="4526280"/>
          </a:xfrm>
          <a:prstGeom prst="roundRect">
            <a:avLst>
              <a:gd name="adj" fmla="val 2637"/>
            </a:avLst>
          </a:prstGeom>
          <a:solidFill>
            <a:srgbClr val="FFFFFF"/>
          </a:solidFill>
          <a:ln w="10160">
            <a:solidFill>
              <a:srgbClr val="D9E3EE"/>
            </a:solidFill>
            <a:prstDash val="solid"/>
          </a:ln>
          <a:effectLst>
            <a:outerShdw algn="bl" rotWithShape="0">
              <a:srgbClr val="000000">
                <a:alpha val="0"/>
              </a:srgbClr>
            </a:outerShdw>
          </a:effectLst>
        </p:spPr>
      </p:sp>
      <p:sp>
        <p:nvSpPr>
          <p:cNvPr id="19" name="Text 16"/>
          <p:cNvSpPr/>
          <p:nvPr/>
        </p:nvSpPr>
        <p:spPr>
          <a:xfrm>
            <a:off x="9127744" y="1821375"/>
            <a:ext cx="2560320" cy="256032"/>
          </a:xfrm>
          <a:prstGeom prst="rect">
            <a:avLst/>
          </a:prstGeom>
          <a:noFill/>
          <a:ln/>
        </p:spPr>
        <p:txBody>
          <a:bodyPr wrap="square" lIns="0" tIns="0" rIns="0" bIns="0" rtlCol="0" anchor="t">
            <a:normAutofit/>
          </a:bodyPr>
          <a:lstStyle/>
          <a:p>
            <a:pPr marL="0" indent="0" algn="l">
              <a:buNone/>
            </a:pPr>
            <a:r>
              <a:rPr lang="en-US" sz="1200" b="1" dirty="0" smtClean="0">
                <a:solidFill>
                  <a:srgbClr val="102A43"/>
                </a:solidFill>
                <a:latin typeface="Aptos" pitchFamily="34" charset="0"/>
                <a:ea typeface="Aptos" pitchFamily="34" charset="-122"/>
                <a:cs typeface="Aptos" pitchFamily="34" charset="-120"/>
              </a:rPr>
              <a:t>ROC </a:t>
            </a:r>
            <a:r>
              <a:rPr lang="en-US" sz="1200" b="1" dirty="0">
                <a:solidFill>
                  <a:srgbClr val="102A43"/>
                </a:solidFill>
                <a:latin typeface="Aptos" pitchFamily="34" charset="0"/>
                <a:ea typeface="Aptos" pitchFamily="34" charset="-122"/>
                <a:cs typeface="Aptos" pitchFamily="34" charset="-120"/>
              </a:rPr>
              <a:t>Curve</a:t>
            </a:r>
            <a:endParaRPr lang="en-US" sz="1200" dirty="0"/>
          </a:p>
        </p:txBody>
      </p:sp>
      <p:pic>
        <p:nvPicPr>
          <p:cNvPr id="20" name="Image 1" descr="/mnt/data/roc_curve_separate.png"/>
          <p:cNvPicPr>
            <a:picLocks noChangeAspect="1"/>
          </p:cNvPicPr>
          <p:nvPr/>
        </p:nvPicPr>
        <p:blipFill>
          <a:blip r:embed="rId4"/>
          <a:stretch>
            <a:fillRect/>
          </a:stretch>
        </p:blipFill>
        <p:spPr>
          <a:xfrm>
            <a:off x="7491476" y="2196279"/>
            <a:ext cx="3994172" cy="2264274"/>
          </a:xfrm>
          <a:prstGeom prst="rect">
            <a:avLst/>
          </a:prstGeom>
        </p:spPr>
      </p:pic>
      <p:sp>
        <p:nvSpPr>
          <p:cNvPr id="21" name="Shape 17"/>
          <p:cNvSpPr/>
          <p:nvPr/>
        </p:nvSpPr>
        <p:spPr>
          <a:xfrm>
            <a:off x="7662672" y="5148072"/>
            <a:ext cx="1051560" cy="768096"/>
          </a:xfrm>
          <a:prstGeom prst="roundRect">
            <a:avLst>
              <a:gd name="adj" fmla="val 11905"/>
            </a:avLst>
          </a:prstGeom>
          <a:solidFill>
            <a:srgbClr val="FFFFFF"/>
          </a:solidFill>
          <a:ln w="10160">
            <a:solidFill>
              <a:srgbClr val="D9E3EE"/>
            </a:solidFill>
            <a:prstDash val="solid"/>
          </a:ln>
        </p:spPr>
      </p:sp>
      <p:sp>
        <p:nvSpPr>
          <p:cNvPr id="22" name="Shape 18"/>
          <p:cNvSpPr/>
          <p:nvPr/>
        </p:nvSpPr>
        <p:spPr>
          <a:xfrm>
            <a:off x="7662672" y="5148072"/>
            <a:ext cx="54864" cy="768096"/>
          </a:xfrm>
          <a:prstGeom prst="rect">
            <a:avLst/>
          </a:prstGeom>
          <a:solidFill>
            <a:srgbClr val="2457D6"/>
          </a:solidFill>
          <a:ln w="12700">
            <a:solidFill>
              <a:srgbClr val="2457D6"/>
            </a:solidFill>
            <a:prstDash val="solid"/>
          </a:ln>
        </p:spPr>
      </p:sp>
      <p:sp>
        <p:nvSpPr>
          <p:cNvPr id="23" name="Text 19"/>
          <p:cNvSpPr/>
          <p:nvPr/>
        </p:nvSpPr>
        <p:spPr>
          <a:xfrm>
            <a:off x="7827264" y="5266944"/>
            <a:ext cx="795528"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Aptos" pitchFamily="34" charset="0"/>
                <a:ea typeface="Aptos" pitchFamily="34" charset="-122"/>
                <a:cs typeface="Aptos" pitchFamily="34" charset="-120"/>
              </a:rPr>
              <a:t>LR</a:t>
            </a:r>
            <a:endParaRPr lang="en-US" sz="850" dirty="0"/>
          </a:p>
        </p:txBody>
      </p:sp>
      <p:sp>
        <p:nvSpPr>
          <p:cNvPr id="24" name="Text 20"/>
          <p:cNvSpPr/>
          <p:nvPr/>
        </p:nvSpPr>
        <p:spPr>
          <a:xfrm>
            <a:off x="7827264" y="5449824"/>
            <a:ext cx="795528" cy="274320"/>
          </a:xfrm>
          <a:prstGeom prst="rect">
            <a:avLst/>
          </a:prstGeom>
          <a:noFill/>
          <a:ln/>
        </p:spPr>
        <p:txBody>
          <a:bodyPr wrap="square" lIns="0" tIns="0" rIns="0" bIns="0" rtlCol="0" anchor="t">
            <a:normAutofit/>
          </a:bodyPr>
          <a:lstStyle/>
          <a:p>
            <a:pPr marL="0" indent="0" algn="l">
              <a:buNone/>
            </a:pPr>
            <a:r>
              <a:rPr lang="en-US" sz="1800" b="1" dirty="0">
                <a:solidFill>
                  <a:srgbClr val="2457D6"/>
                </a:solidFill>
                <a:latin typeface="Aptos" pitchFamily="34" charset="0"/>
                <a:ea typeface="Aptos" pitchFamily="34" charset="-122"/>
                <a:cs typeface="Aptos" pitchFamily="34" charset="-120"/>
              </a:rPr>
              <a:t>1.000</a:t>
            </a:r>
            <a:endParaRPr lang="en-US" sz="1800" dirty="0"/>
          </a:p>
        </p:txBody>
      </p:sp>
      <p:sp>
        <p:nvSpPr>
          <p:cNvPr id="25" name="Shape 21"/>
          <p:cNvSpPr/>
          <p:nvPr/>
        </p:nvSpPr>
        <p:spPr>
          <a:xfrm>
            <a:off x="8833104" y="5148072"/>
            <a:ext cx="1051560" cy="768096"/>
          </a:xfrm>
          <a:prstGeom prst="roundRect">
            <a:avLst>
              <a:gd name="adj" fmla="val 11905"/>
            </a:avLst>
          </a:prstGeom>
          <a:solidFill>
            <a:srgbClr val="FFFFFF"/>
          </a:solidFill>
          <a:ln w="10160">
            <a:solidFill>
              <a:srgbClr val="D9E3EE"/>
            </a:solidFill>
            <a:prstDash val="solid"/>
          </a:ln>
        </p:spPr>
      </p:sp>
      <p:sp>
        <p:nvSpPr>
          <p:cNvPr id="26" name="Shape 22"/>
          <p:cNvSpPr/>
          <p:nvPr/>
        </p:nvSpPr>
        <p:spPr>
          <a:xfrm>
            <a:off x="8833104" y="5148072"/>
            <a:ext cx="54864" cy="768096"/>
          </a:xfrm>
          <a:prstGeom prst="rect">
            <a:avLst/>
          </a:prstGeom>
          <a:solidFill>
            <a:srgbClr val="0E9F9A"/>
          </a:solidFill>
          <a:ln w="12700">
            <a:solidFill>
              <a:srgbClr val="0E9F9A"/>
            </a:solidFill>
            <a:prstDash val="solid"/>
          </a:ln>
        </p:spPr>
      </p:sp>
      <p:sp>
        <p:nvSpPr>
          <p:cNvPr id="27" name="Text 23"/>
          <p:cNvSpPr/>
          <p:nvPr/>
        </p:nvSpPr>
        <p:spPr>
          <a:xfrm>
            <a:off x="8997696" y="5266944"/>
            <a:ext cx="795528"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Aptos" pitchFamily="34" charset="0"/>
                <a:ea typeface="Aptos" pitchFamily="34" charset="-122"/>
                <a:cs typeface="Aptos" pitchFamily="34" charset="-120"/>
              </a:rPr>
              <a:t>SVC</a:t>
            </a:r>
            <a:endParaRPr lang="en-US" sz="850" dirty="0"/>
          </a:p>
        </p:txBody>
      </p:sp>
      <p:sp>
        <p:nvSpPr>
          <p:cNvPr id="28" name="Text 24"/>
          <p:cNvSpPr/>
          <p:nvPr/>
        </p:nvSpPr>
        <p:spPr>
          <a:xfrm>
            <a:off x="8997696" y="5449824"/>
            <a:ext cx="795528" cy="274320"/>
          </a:xfrm>
          <a:prstGeom prst="rect">
            <a:avLst/>
          </a:prstGeom>
          <a:noFill/>
          <a:ln/>
        </p:spPr>
        <p:txBody>
          <a:bodyPr wrap="square" lIns="0" tIns="0" rIns="0" bIns="0" rtlCol="0" anchor="t">
            <a:normAutofit/>
          </a:bodyPr>
          <a:lstStyle/>
          <a:p>
            <a:pPr marL="0" indent="0" algn="l">
              <a:buNone/>
            </a:pPr>
            <a:r>
              <a:rPr lang="en-US" sz="1800" b="1" dirty="0">
                <a:solidFill>
                  <a:srgbClr val="0E9F9A"/>
                </a:solidFill>
                <a:latin typeface="Aptos" pitchFamily="34" charset="0"/>
                <a:ea typeface="Aptos" pitchFamily="34" charset="-122"/>
                <a:cs typeface="Aptos" pitchFamily="34" charset="-120"/>
              </a:rPr>
              <a:t>1.000</a:t>
            </a:r>
            <a:endParaRPr lang="en-US" sz="1800" dirty="0"/>
          </a:p>
        </p:txBody>
      </p:sp>
      <p:sp>
        <p:nvSpPr>
          <p:cNvPr id="29" name="Shape 25"/>
          <p:cNvSpPr/>
          <p:nvPr/>
        </p:nvSpPr>
        <p:spPr>
          <a:xfrm>
            <a:off x="10003536" y="5148072"/>
            <a:ext cx="1051560" cy="768096"/>
          </a:xfrm>
          <a:prstGeom prst="roundRect">
            <a:avLst>
              <a:gd name="adj" fmla="val 11905"/>
            </a:avLst>
          </a:prstGeom>
          <a:solidFill>
            <a:srgbClr val="FFFFFF"/>
          </a:solidFill>
          <a:ln w="10160">
            <a:solidFill>
              <a:srgbClr val="D9E3EE"/>
            </a:solidFill>
            <a:prstDash val="solid"/>
          </a:ln>
        </p:spPr>
      </p:sp>
      <p:sp>
        <p:nvSpPr>
          <p:cNvPr id="30" name="Shape 26"/>
          <p:cNvSpPr/>
          <p:nvPr/>
        </p:nvSpPr>
        <p:spPr>
          <a:xfrm>
            <a:off x="10003536" y="5148072"/>
            <a:ext cx="54864" cy="768096"/>
          </a:xfrm>
          <a:prstGeom prst="rect">
            <a:avLst/>
          </a:prstGeom>
          <a:solidFill>
            <a:srgbClr val="1FA971"/>
          </a:solidFill>
          <a:ln w="12700">
            <a:solidFill>
              <a:srgbClr val="1FA971"/>
            </a:solidFill>
            <a:prstDash val="solid"/>
          </a:ln>
        </p:spPr>
      </p:sp>
      <p:sp>
        <p:nvSpPr>
          <p:cNvPr id="31" name="Text 27"/>
          <p:cNvSpPr/>
          <p:nvPr/>
        </p:nvSpPr>
        <p:spPr>
          <a:xfrm>
            <a:off x="10168128" y="5266944"/>
            <a:ext cx="795528"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Aptos" pitchFamily="34" charset="0"/>
                <a:ea typeface="Aptos" pitchFamily="34" charset="-122"/>
                <a:cs typeface="Aptos" pitchFamily="34" charset="-120"/>
              </a:rPr>
              <a:t>RF/KNN</a:t>
            </a:r>
            <a:endParaRPr lang="en-US" sz="850" dirty="0"/>
          </a:p>
        </p:txBody>
      </p:sp>
      <p:sp>
        <p:nvSpPr>
          <p:cNvPr id="32" name="Text 28"/>
          <p:cNvSpPr/>
          <p:nvPr/>
        </p:nvSpPr>
        <p:spPr>
          <a:xfrm>
            <a:off x="10168128" y="5449824"/>
            <a:ext cx="795528" cy="274320"/>
          </a:xfrm>
          <a:prstGeom prst="rect">
            <a:avLst/>
          </a:prstGeom>
          <a:noFill/>
          <a:ln/>
        </p:spPr>
        <p:txBody>
          <a:bodyPr wrap="square" lIns="0" tIns="0" rIns="0" bIns="0" rtlCol="0" anchor="t">
            <a:normAutofit/>
          </a:bodyPr>
          <a:lstStyle/>
          <a:p>
            <a:pPr marL="0" indent="0" algn="l">
              <a:buNone/>
            </a:pPr>
            <a:r>
              <a:rPr lang="en-US" sz="1800" b="1" dirty="0">
                <a:solidFill>
                  <a:srgbClr val="1FA971"/>
                </a:solidFill>
                <a:latin typeface="Aptos" pitchFamily="34" charset="0"/>
                <a:ea typeface="Aptos" pitchFamily="34" charset="-122"/>
                <a:cs typeface="Aptos" pitchFamily="34" charset="-120"/>
              </a:rPr>
              <a:t>0.999</a:t>
            </a:r>
            <a:endParaRPr lang="en-US" sz="1800" dirty="0"/>
          </a:p>
        </p:txBody>
      </p:sp>
      <p:sp>
        <p:nvSpPr>
          <p:cNvPr id="33" name="Text 29"/>
          <p:cNvSpPr/>
          <p:nvPr/>
        </p:nvSpPr>
        <p:spPr>
          <a:xfrm>
            <a:off x="640080" y="6291072"/>
            <a:ext cx="9875520" cy="182880"/>
          </a:xfrm>
          <a:prstGeom prst="rect">
            <a:avLst/>
          </a:prstGeom>
          <a:noFill/>
          <a:ln/>
        </p:spPr>
        <p:txBody>
          <a:bodyPr wrap="square" lIns="0" tIns="0" rIns="0" bIns="0" rtlCol="0" anchor="t">
            <a:normAutofit/>
          </a:bodyPr>
          <a:lstStyle/>
          <a:p>
            <a:pPr marL="0" indent="0" algn="l">
              <a:buNone/>
            </a:pPr>
            <a:r>
              <a:rPr lang="en-US" sz="860" dirty="0">
                <a:solidFill>
                  <a:srgbClr val="63758A"/>
                </a:solidFill>
                <a:latin typeface="Aptos" pitchFamily="34" charset="0"/>
                <a:ea typeface="Aptos" pitchFamily="34" charset="-122"/>
                <a:cs typeface="Aptos" pitchFamily="34" charset="-120"/>
              </a:rPr>
              <a:t>Dummy Classifier có AUC = 0.500; các mô hình chính đều vượt baseline rõ rệt.</a:t>
            </a:r>
            <a:endParaRPr lang="en-US" sz="860" dirty="0"/>
          </a:p>
        </p:txBody>
      </p:sp>
      <p:sp>
        <p:nvSpPr>
          <p:cNvPr id="34"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t>13</a:t>
            </a:fld>
            <a:endParaRPr lang="en-US"/>
          </a:p>
        </p:txBody>
      </p:sp>
      <p:sp>
        <p:nvSpPr>
          <p:cNvPr id="35"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rPr>
              <a:t>11</a:t>
            </a:r>
            <a:endParaRPr lang="en-US" sz="1200" dirty="0"/>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latin typeface="Times New Roman" panose="02020603050405020304" pitchFamily="18" charset="0"/>
                <a:cs typeface="Times New Roman" panose="02020603050405020304" pitchFamily="18" charset="0"/>
              </a:rPr>
              <a:t>Lựa chọn mô hình triển khai &amp; đóng gói artifact</a:t>
            </a:r>
            <a:endParaRPr lang="en-US" sz="2500" dirty="0">
              <a:latin typeface="Times New Roman" panose="02020603050405020304" pitchFamily="18" charset="0"/>
              <a:cs typeface="Times New Roman" panose="02020603050405020304" pitchFamily="18" charset="0"/>
            </a:endParaRPr>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rPr>
              <a:t>Logistic Regression v1.0.0 được chọn nhờ hiệu năng, độ đơn giản và khả năng giải thích</a:t>
            </a:r>
            <a:endParaRPr lang="en-US" sz="1080" dirty="0"/>
          </a:p>
        </p:txBody>
      </p:sp>
      <p:sp>
        <p:nvSpPr>
          <p:cNvPr id="5" name="Shape 3"/>
          <p:cNvSpPr/>
          <p:nvPr/>
        </p:nvSpPr>
        <p:spPr>
          <a:xfrm>
            <a:off x="658368" y="1572768"/>
            <a:ext cx="3931920" cy="4526280"/>
          </a:xfrm>
          <a:prstGeom prst="roundRect">
            <a:avLst>
              <a:gd name="adj" fmla="val 2791"/>
            </a:avLst>
          </a:prstGeom>
          <a:solidFill>
            <a:srgbClr val="173B6C"/>
          </a:solidFill>
          <a:ln w="10160">
            <a:solidFill>
              <a:srgbClr val="173B6C"/>
            </a:solidFill>
            <a:prstDash val="solid"/>
          </a:ln>
          <a:effectLst>
            <a:outerShdw algn="bl" rotWithShape="0">
              <a:srgbClr val="000000">
                <a:alpha val="0"/>
              </a:srgbClr>
            </a:outerShdw>
          </a:effectLst>
        </p:spPr>
      </p:sp>
      <p:sp>
        <p:nvSpPr>
          <p:cNvPr id="6" name="Shape 4"/>
          <p:cNvSpPr/>
          <p:nvPr/>
        </p:nvSpPr>
        <p:spPr>
          <a:xfrm>
            <a:off x="932688" y="1847088"/>
            <a:ext cx="1572768" cy="310896"/>
          </a:xfrm>
          <a:prstGeom prst="roundRect">
            <a:avLst/>
          </a:prstGeom>
          <a:solidFill>
            <a:srgbClr val="2E5E99"/>
          </a:solidFill>
          <a:ln w="12700">
            <a:solidFill>
              <a:srgbClr val="2E5E99"/>
            </a:solidFill>
            <a:prstDash val="solid"/>
          </a:ln>
        </p:spPr>
      </p:sp>
      <p:sp>
        <p:nvSpPr>
          <p:cNvPr id="7" name="Text 5"/>
          <p:cNvSpPr/>
          <p:nvPr/>
        </p:nvSpPr>
        <p:spPr>
          <a:xfrm>
            <a:off x="932688" y="1874520"/>
            <a:ext cx="1572768" cy="246888"/>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MODEL ĐƯỢC CHỌN</a:t>
            </a:r>
            <a:endParaRPr lang="en-US" sz="900" dirty="0"/>
          </a:p>
        </p:txBody>
      </p:sp>
      <p:sp>
        <p:nvSpPr>
          <p:cNvPr id="8" name="Text 6"/>
          <p:cNvSpPr/>
          <p:nvPr/>
        </p:nvSpPr>
        <p:spPr>
          <a:xfrm>
            <a:off x="932688" y="2414016"/>
            <a:ext cx="2331720" cy="777240"/>
          </a:xfrm>
          <a:prstGeom prst="rect">
            <a:avLst/>
          </a:prstGeom>
          <a:noFill/>
          <a:ln/>
        </p:spPr>
        <p:txBody>
          <a:bodyPr wrap="square" lIns="0" tIns="0" rIns="0" bIns="0" rtlCol="0" anchor="t">
            <a:normAutofit lnSpcReduction="10000"/>
          </a:bodyPr>
          <a:lstStyle/>
          <a:p>
            <a:pPr marL="0" indent="0" algn="l">
              <a:buNone/>
            </a:pPr>
            <a:r>
              <a:rPr lang="en-US" sz="2600" b="1" dirty="0">
                <a:solidFill>
                  <a:srgbClr val="FFFFFF"/>
                </a:solidFill>
                <a:latin typeface="Aptos" pitchFamily="34" charset="0"/>
                <a:ea typeface="Aptos" pitchFamily="34" charset="-122"/>
                <a:cs typeface="Aptos" pitchFamily="34" charset="-120"/>
              </a:rPr>
              <a:t>Logistic</a:t>
            </a:r>
            <a:endParaRPr lang="en-US" sz="2600" dirty="0"/>
          </a:p>
          <a:p>
            <a:pPr marL="0" indent="0" algn="l">
              <a:buNone/>
            </a:pPr>
            <a:r>
              <a:rPr lang="en-US" sz="2600" b="1" dirty="0">
                <a:solidFill>
                  <a:srgbClr val="FFFFFF"/>
                </a:solidFill>
                <a:latin typeface="Aptos" pitchFamily="34" charset="0"/>
                <a:ea typeface="Aptos" pitchFamily="34" charset="-122"/>
                <a:cs typeface="Aptos" pitchFamily="34" charset="-120"/>
              </a:rPr>
              <a:t>Regression</a:t>
            </a:r>
            <a:endParaRPr lang="en-US" sz="2600" dirty="0"/>
          </a:p>
        </p:txBody>
      </p:sp>
      <p:sp>
        <p:nvSpPr>
          <p:cNvPr id="9" name="Shape 7"/>
          <p:cNvSpPr/>
          <p:nvPr/>
        </p:nvSpPr>
        <p:spPr>
          <a:xfrm>
            <a:off x="932688" y="3456432"/>
            <a:ext cx="1325880" cy="768096"/>
          </a:xfrm>
          <a:prstGeom prst="roundRect">
            <a:avLst>
              <a:gd name="adj" fmla="val 11905"/>
            </a:avLst>
          </a:prstGeom>
          <a:solidFill>
            <a:srgbClr val="FFFFFF"/>
          </a:solidFill>
          <a:ln w="10160">
            <a:solidFill>
              <a:srgbClr val="D9E3EE"/>
            </a:solidFill>
            <a:prstDash val="solid"/>
          </a:ln>
        </p:spPr>
      </p:sp>
      <p:sp>
        <p:nvSpPr>
          <p:cNvPr id="10" name="Shape 8"/>
          <p:cNvSpPr/>
          <p:nvPr/>
        </p:nvSpPr>
        <p:spPr>
          <a:xfrm>
            <a:off x="932688" y="3456432"/>
            <a:ext cx="54864" cy="768096"/>
          </a:xfrm>
          <a:prstGeom prst="rect">
            <a:avLst/>
          </a:prstGeom>
          <a:solidFill>
            <a:srgbClr val="FFFFFF"/>
          </a:solidFill>
          <a:ln w="12700">
            <a:solidFill>
              <a:srgbClr val="FFFFFF"/>
            </a:solidFill>
            <a:prstDash val="solid"/>
          </a:ln>
        </p:spPr>
      </p:sp>
      <p:sp>
        <p:nvSpPr>
          <p:cNvPr id="11" name="Text 9"/>
          <p:cNvSpPr/>
          <p:nvPr/>
        </p:nvSpPr>
        <p:spPr>
          <a:xfrm>
            <a:off x="1097280" y="3575304"/>
            <a:ext cx="1069848"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Aptos" pitchFamily="34" charset="0"/>
                <a:ea typeface="Aptos" pitchFamily="34" charset="-122"/>
                <a:cs typeface="Aptos" pitchFamily="34" charset="-120"/>
              </a:rPr>
              <a:t>TEST F1</a:t>
            </a:r>
            <a:endParaRPr lang="en-US" sz="850" dirty="0"/>
          </a:p>
        </p:txBody>
      </p:sp>
      <p:sp>
        <p:nvSpPr>
          <p:cNvPr id="12" name="Text 10"/>
          <p:cNvSpPr/>
          <p:nvPr/>
        </p:nvSpPr>
        <p:spPr>
          <a:xfrm>
            <a:off x="1097280" y="3758184"/>
            <a:ext cx="1069848" cy="274320"/>
          </a:xfrm>
          <a:prstGeom prst="rect">
            <a:avLst/>
          </a:prstGeom>
          <a:noFill/>
          <a:ln/>
        </p:spPr>
        <p:txBody>
          <a:bodyPr wrap="square" lIns="0" tIns="0" rIns="0" bIns="0" rtlCol="0" anchor="t">
            <a:normAutofit/>
          </a:bodyPr>
          <a:lstStyle/>
          <a:p>
            <a:pPr marL="0" indent="0" algn="l">
              <a:buNone/>
            </a:pPr>
            <a:r>
              <a:rPr lang="en-US" sz="1800" b="1" dirty="0">
                <a:solidFill>
                  <a:srgbClr val="FFFFFF"/>
                </a:solidFill>
                <a:latin typeface="Aptos" pitchFamily="34" charset="0"/>
                <a:ea typeface="Aptos" pitchFamily="34" charset="-122"/>
                <a:cs typeface="Aptos" pitchFamily="34" charset="-120"/>
              </a:rPr>
              <a:t>1.0000</a:t>
            </a:r>
            <a:endParaRPr lang="en-US" sz="1800" dirty="0"/>
          </a:p>
        </p:txBody>
      </p:sp>
      <p:sp>
        <p:nvSpPr>
          <p:cNvPr id="13" name="Shape 11"/>
          <p:cNvSpPr/>
          <p:nvPr/>
        </p:nvSpPr>
        <p:spPr>
          <a:xfrm>
            <a:off x="2404872" y="3456432"/>
            <a:ext cx="1325880" cy="768096"/>
          </a:xfrm>
          <a:prstGeom prst="roundRect">
            <a:avLst>
              <a:gd name="adj" fmla="val 11905"/>
            </a:avLst>
          </a:prstGeom>
          <a:solidFill>
            <a:srgbClr val="FFFFFF"/>
          </a:solidFill>
          <a:ln w="10160">
            <a:solidFill>
              <a:srgbClr val="D9E3EE"/>
            </a:solidFill>
            <a:prstDash val="solid"/>
          </a:ln>
        </p:spPr>
      </p:sp>
      <p:sp>
        <p:nvSpPr>
          <p:cNvPr id="14" name="Shape 12"/>
          <p:cNvSpPr/>
          <p:nvPr/>
        </p:nvSpPr>
        <p:spPr>
          <a:xfrm>
            <a:off x="2404872" y="3456432"/>
            <a:ext cx="54864" cy="768096"/>
          </a:xfrm>
          <a:prstGeom prst="rect">
            <a:avLst/>
          </a:prstGeom>
          <a:solidFill>
            <a:srgbClr val="FFFFFF"/>
          </a:solidFill>
          <a:ln w="12700">
            <a:solidFill>
              <a:srgbClr val="FFFFFF"/>
            </a:solidFill>
            <a:prstDash val="solid"/>
          </a:ln>
        </p:spPr>
      </p:sp>
      <p:sp>
        <p:nvSpPr>
          <p:cNvPr id="15" name="Text 13"/>
          <p:cNvSpPr/>
          <p:nvPr/>
        </p:nvSpPr>
        <p:spPr>
          <a:xfrm>
            <a:off x="2569464" y="3575304"/>
            <a:ext cx="1069848"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Aptos" pitchFamily="34" charset="0"/>
                <a:ea typeface="Aptos" pitchFamily="34" charset="-122"/>
                <a:cs typeface="Aptos" pitchFamily="34" charset="-120"/>
              </a:rPr>
              <a:t>AUC</a:t>
            </a:r>
            <a:endParaRPr lang="en-US" sz="850" dirty="0"/>
          </a:p>
        </p:txBody>
      </p:sp>
      <p:sp>
        <p:nvSpPr>
          <p:cNvPr id="16" name="Text 14"/>
          <p:cNvSpPr/>
          <p:nvPr/>
        </p:nvSpPr>
        <p:spPr>
          <a:xfrm>
            <a:off x="2569464" y="3758184"/>
            <a:ext cx="1069848" cy="274320"/>
          </a:xfrm>
          <a:prstGeom prst="rect">
            <a:avLst/>
          </a:prstGeom>
          <a:noFill/>
          <a:ln/>
        </p:spPr>
        <p:txBody>
          <a:bodyPr wrap="square" lIns="0" tIns="0" rIns="0" bIns="0" rtlCol="0" anchor="t">
            <a:normAutofit/>
          </a:bodyPr>
          <a:lstStyle/>
          <a:p>
            <a:pPr marL="0" indent="0" algn="l">
              <a:buNone/>
            </a:pPr>
            <a:r>
              <a:rPr lang="en-US" sz="1800" b="1" dirty="0">
                <a:solidFill>
                  <a:srgbClr val="FFFFFF"/>
                </a:solidFill>
                <a:latin typeface="Aptos" pitchFamily="34" charset="0"/>
                <a:ea typeface="Aptos" pitchFamily="34" charset="-122"/>
                <a:cs typeface="Aptos" pitchFamily="34" charset="-120"/>
              </a:rPr>
              <a:t>1.0000</a:t>
            </a:r>
            <a:endParaRPr lang="en-US" sz="1800" dirty="0"/>
          </a:p>
        </p:txBody>
      </p:sp>
      <p:sp>
        <p:nvSpPr>
          <p:cNvPr id="17" name="Text 15"/>
          <p:cNvSpPr/>
          <p:nvPr/>
        </p:nvSpPr>
        <p:spPr>
          <a:xfrm>
            <a:off x="932688" y="4462272"/>
            <a:ext cx="1737360" cy="237744"/>
          </a:xfrm>
          <a:prstGeom prst="rect">
            <a:avLst/>
          </a:prstGeom>
          <a:noFill/>
          <a:ln/>
        </p:spPr>
        <p:txBody>
          <a:bodyPr wrap="square" lIns="0" tIns="0" rIns="0" bIns="0" rtlCol="0" anchor="t">
            <a:normAutofit/>
          </a:bodyPr>
          <a:lstStyle/>
          <a:p>
            <a:pPr marL="0" indent="0" algn="l">
              <a:buNone/>
            </a:pPr>
            <a:r>
              <a:rPr lang="en-US" sz="1200" b="1" dirty="0">
                <a:solidFill>
                  <a:srgbClr val="D6E5FF"/>
                </a:solidFill>
                <a:latin typeface="Aptos" pitchFamily="34" charset="0"/>
                <a:ea typeface="Aptos" pitchFamily="34" charset="-122"/>
                <a:cs typeface="Aptos" pitchFamily="34" charset="-120"/>
              </a:rPr>
              <a:t>Lý do lựa chọn</a:t>
            </a:r>
            <a:endParaRPr lang="en-US" sz="1200" dirty="0"/>
          </a:p>
        </p:txBody>
      </p:sp>
      <p:sp>
        <p:nvSpPr>
          <p:cNvPr id="18" name="Text 16"/>
          <p:cNvSpPr/>
          <p:nvPr/>
        </p:nvSpPr>
        <p:spPr>
          <a:xfrm>
            <a:off x="932688" y="4818888"/>
            <a:ext cx="3273552" cy="1051560"/>
          </a:xfrm>
          <a:prstGeom prst="rect">
            <a:avLst/>
          </a:prstGeom>
          <a:noFill/>
          <a:ln/>
        </p:spPr>
        <p:txBody>
          <a:bodyPr wrap="square" lIns="0" tIns="0" rIns="0" bIns="0" rtlCol="0" anchor="ctr">
            <a:normAutofit lnSpcReduction="10000"/>
          </a:bodyPr>
          <a:lstStyle/>
          <a:p>
            <a:pPr marL="0" indent="0">
              <a:buNone/>
            </a:pPr>
            <a:r>
              <a:rPr lang="en-US" sz="1050" b="1" dirty="0">
                <a:solidFill>
                  <a:srgbClr val="BFD8FF"/>
                </a:solidFill>
                <a:latin typeface="Aptos" pitchFamily="34" charset="0"/>
                <a:ea typeface="Aptos" pitchFamily="34" charset="-122"/>
                <a:cs typeface="Aptos" pitchFamily="34" charset="-120"/>
              </a:rPr>
              <a:t>• </a:t>
            </a:r>
            <a:r>
              <a:rPr lang="en-US" sz="1050" dirty="0">
                <a:solidFill>
                  <a:srgbClr val="FFFFFF"/>
                </a:solidFill>
                <a:latin typeface="Aptos" pitchFamily="34" charset="0"/>
                <a:ea typeface="Aptos" pitchFamily="34" charset="-122"/>
                <a:cs typeface="Aptos" pitchFamily="34" charset="-120"/>
              </a:rPr>
              <a:t>0 FN và 0 FP trên split hiện tại.</a:t>
            </a:r>
            <a:r>
              <a:rPr lang="en-US" sz="1050" dirty="0">
                <a:solidFill>
                  <a:srgbClr val="000000"/>
                </a:solidFill>
                <a:latin typeface="Aptos" pitchFamily="34" charset="0"/>
                <a:ea typeface="Aptos" pitchFamily="34" charset="-122"/>
                <a:cs typeface="Aptos" pitchFamily="34" charset="-120"/>
              </a:rPr>
              <a:t>
</a:t>
            </a:r>
            <a:endParaRPr lang="en-US" sz="1050" dirty="0"/>
          </a:p>
          <a:p>
            <a:pPr marL="0" indent="0">
              <a:buNone/>
            </a:pPr>
            <a:r>
              <a:rPr lang="en-US" sz="1050" b="1" dirty="0">
                <a:solidFill>
                  <a:srgbClr val="BFD8FF"/>
                </a:solidFill>
                <a:latin typeface="Aptos" pitchFamily="34" charset="0"/>
                <a:ea typeface="Aptos" pitchFamily="34" charset="-122"/>
                <a:cs typeface="Aptos" pitchFamily="34" charset="-120"/>
              </a:rPr>
              <a:t>• </a:t>
            </a:r>
            <a:r>
              <a:rPr lang="en-US" sz="1050" dirty="0">
                <a:solidFill>
                  <a:srgbClr val="FFFFFF"/>
                </a:solidFill>
                <a:latin typeface="Aptos" pitchFamily="34" charset="0"/>
                <a:ea typeface="Aptos" pitchFamily="34" charset="-122"/>
                <a:cs typeface="Aptos" pitchFamily="34" charset="-120"/>
              </a:rPr>
              <a:t>Artifact nhỏ, dự đoán nhanh.</a:t>
            </a:r>
            <a:r>
              <a:rPr lang="en-US" sz="1050" dirty="0">
                <a:solidFill>
                  <a:srgbClr val="000000"/>
                </a:solidFill>
                <a:latin typeface="Aptos" pitchFamily="34" charset="0"/>
                <a:ea typeface="Aptos" pitchFamily="34" charset="-122"/>
                <a:cs typeface="Aptos" pitchFamily="34" charset="-120"/>
              </a:rPr>
              <a:t>
</a:t>
            </a:r>
            <a:endParaRPr lang="en-US" sz="1050" dirty="0"/>
          </a:p>
          <a:p>
            <a:pPr marL="0" indent="0">
              <a:buNone/>
            </a:pPr>
            <a:r>
              <a:rPr lang="en-US" sz="1050" b="1" dirty="0">
                <a:solidFill>
                  <a:srgbClr val="BFD8FF"/>
                </a:solidFill>
                <a:latin typeface="Aptos" pitchFamily="34" charset="0"/>
                <a:ea typeface="Aptos" pitchFamily="34" charset="-122"/>
                <a:cs typeface="Aptos" pitchFamily="34" charset="-120"/>
              </a:rPr>
              <a:t>• </a:t>
            </a:r>
            <a:r>
              <a:rPr lang="en-US" sz="1050" dirty="0">
                <a:solidFill>
                  <a:srgbClr val="FFFFFF"/>
                </a:solidFill>
                <a:latin typeface="Aptos" pitchFamily="34" charset="0"/>
                <a:ea typeface="Aptos" pitchFamily="34" charset="-122"/>
                <a:cs typeface="Aptos" pitchFamily="34" charset="-120"/>
              </a:rPr>
              <a:t>Mô hình tuyến tính, dễ giải thích hơn SVC/RF.</a:t>
            </a:r>
            <a:r>
              <a:rPr lang="en-US" sz="1050" dirty="0">
                <a:solidFill>
                  <a:srgbClr val="000000"/>
                </a:solidFill>
                <a:latin typeface="Aptos" pitchFamily="34" charset="0"/>
                <a:ea typeface="Aptos" pitchFamily="34" charset="-122"/>
                <a:cs typeface="Aptos" pitchFamily="34" charset="-120"/>
              </a:rPr>
              <a:t>
</a:t>
            </a:r>
            <a:endParaRPr lang="en-US" sz="1050" dirty="0"/>
          </a:p>
          <a:p>
            <a:pPr marL="0" indent="0">
              <a:buNone/>
            </a:pPr>
            <a:r>
              <a:rPr lang="en-US" sz="1050" b="1" dirty="0">
                <a:solidFill>
                  <a:srgbClr val="BFD8FF"/>
                </a:solidFill>
                <a:latin typeface="Aptos" pitchFamily="34" charset="0"/>
                <a:ea typeface="Aptos" pitchFamily="34" charset="-122"/>
                <a:cs typeface="Aptos" pitchFamily="34" charset="-120"/>
              </a:rPr>
              <a:t>• </a:t>
            </a:r>
            <a:r>
              <a:rPr lang="en-US" sz="1050" dirty="0">
                <a:solidFill>
                  <a:srgbClr val="FFFFFF"/>
                </a:solidFill>
                <a:latin typeface="Aptos" pitchFamily="34" charset="0"/>
                <a:ea typeface="Aptos" pitchFamily="34" charset="-122"/>
                <a:cs typeface="Aptos" pitchFamily="34" charset="-120"/>
              </a:rPr>
              <a:t>Có probability để hiển thị trên Web App.</a:t>
            </a:r>
            <a:endParaRPr lang="en-US" sz="1050" dirty="0"/>
          </a:p>
        </p:txBody>
      </p:sp>
      <p:sp>
        <p:nvSpPr>
          <p:cNvPr id="19" name="Text 17"/>
          <p:cNvSpPr/>
          <p:nvPr/>
        </p:nvSpPr>
        <p:spPr>
          <a:xfrm>
            <a:off x="4892040" y="1700784"/>
            <a:ext cx="2377440" cy="292608"/>
          </a:xfrm>
          <a:prstGeom prst="rect">
            <a:avLst/>
          </a:prstGeom>
          <a:noFill/>
          <a:ln/>
        </p:spPr>
        <p:txBody>
          <a:bodyPr wrap="square" lIns="0" tIns="0" rIns="0" bIns="0" rtlCol="0" anchor="t">
            <a:normAutofit/>
          </a:bodyPr>
          <a:lstStyle/>
          <a:p>
            <a:pPr marL="0" indent="0" algn="l">
              <a:buNone/>
            </a:pPr>
            <a:r>
              <a:rPr lang="en-US" sz="1500" b="1" dirty="0">
                <a:solidFill>
                  <a:srgbClr val="102A43"/>
                </a:solidFill>
                <a:latin typeface="Aptos" pitchFamily="34" charset="0"/>
                <a:ea typeface="Aptos" pitchFamily="34" charset="-122"/>
                <a:cs typeface="Aptos" pitchFamily="34" charset="-120"/>
              </a:rPr>
              <a:t>Model Packaging</a:t>
            </a:r>
            <a:endParaRPr lang="en-US" sz="1500" dirty="0"/>
          </a:p>
        </p:txBody>
      </p:sp>
      <p:sp>
        <p:nvSpPr>
          <p:cNvPr id="20" name="Shape 18"/>
          <p:cNvSpPr/>
          <p:nvPr/>
        </p:nvSpPr>
        <p:spPr>
          <a:xfrm>
            <a:off x="4892040" y="2157984"/>
            <a:ext cx="6355080" cy="841248"/>
          </a:xfrm>
          <a:prstGeom prst="roundRect">
            <a:avLst>
              <a:gd name="adj" fmla="val 8696"/>
            </a:avLst>
          </a:prstGeom>
          <a:solidFill>
            <a:srgbClr val="EDF4FF"/>
          </a:solidFill>
          <a:ln w="10160">
            <a:solidFill>
              <a:srgbClr val="EDF4FF"/>
            </a:solidFill>
            <a:prstDash val="solid"/>
          </a:ln>
        </p:spPr>
      </p:sp>
      <p:sp>
        <p:nvSpPr>
          <p:cNvPr id="21" name="Text 19"/>
          <p:cNvSpPr/>
          <p:nvPr/>
        </p:nvSpPr>
        <p:spPr>
          <a:xfrm>
            <a:off x="5138928" y="2359152"/>
            <a:ext cx="1417320" cy="256032"/>
          </a:xfrm>
          <a:prstGeom prst="rect">
            <a:avLst/>
          </a:prstGeom>
          <a:noFill/>
          <a:ln/>
        </p:spPr>
        <p:txBody>
          <a:bodyPr wrap="square" lIns="0" tIns="0" rIns="0" bIns="0" rtlCol="0" anchor="t">
            <a:normAutofit/>
          </a:bodyPr>
          <a:lstStyle/>
          <a:p>
            <a:pPr marL="0" indent="0" algn="l">
              <a:buNone/>
            </a:pPr>
            <a:r>
              <a:rPr lang="en-US" sz="1300" b="1" dirty="0">
                <a:solidFill>
                  <a:srgbClr val="2457D6"/>
                </a:solidFill>
                <a:latin typeface="Aptos" pitchFamily="34" charset="0"/>
                <a:ea typeface="Aptos" pitchFamily="34" charset="-122"/>
                <a:cs typeface="Aptos" pitchFamily="34" charset="-120"/>
              </a:rPr>
              <a:t>model.joblib</a:t>
            </a:r>
            <a:endParaRPr lang="en-US" sz="1300" dirty="0"/>
          </a:p>
        </p:txBody>
      </p:sp>
      <p:sp>
        <p:nvSpPr>
          <p:cNvPr id="22" name="Text 20"/>
          <p:cNvSpPr/>
          <p:nvPr/>
        </p:nvSpPr>
        <p:spPr>
          <a:xfrm>
            <a:off x="6720840" y="2322576"/>
            <a:ext cx="4187952" cy="310896"/>
          </a:xfrm>
          <a:prstGeom prst="rect">
            <a:avLst/>
          </a:prstGeom>
          <a:noFill/>
          <a:ln/>
        </p:spPr>
        <p:txBody>
          <a:bodyPr wrap="square" lIns="0" tIns="0" rIns="0" bIns="0" rtlCol="0" anchor="t">
            <a:normAutofit/>
          </a:bodyPr>
          <a:lstStyle/>
          <a:p>
            <a:pPr marL="0" indent="0" algn="l">
              <a:buNone/>
            </a:pPr>
            <a:r>
              <a:rPr lang="en-US" sz="1100" dirty="0">
                <a:solidFill>
                  <a:srgbClr val="243B53"/>
                </a:solidFill>
                <a:latin typeface="Aptos" pitchFamily="34" charset="0"/>
                <a:ea typeface="Aptos" pitchFamily="34" charset="-122"/>
                <a:cs typeface="Aptos" pitchFamily="34" charset="-120"/>
              </a:rPr>
              <a:t>Pipeline preprocessing + Logistic Regression</a:t>
            </a:r>
            <a:endParaRPr lang="en-US" sz="1100" dirty="0"/>
          </a:p>
        </p:txBody>
      </p:sp>
      <p:sp>
        <p:nvSpPr>
          <p:cNvPr id="23" name="Shape 21"/>
          <p:cNvSpPr/>
          <p:nvPr/>
        </p:nvSpPr>
        <p:spPr>
          <a:xfrm>
            <a:off x="4892040" y="3209544"/>
            <a:ext cx="6355080" cy="841248"/>
          </a:xfrm>
          <a:prstGeom prst="roundRect">
            <a:avLst>
              <a:gd name="adj" fmla="val 8696"/>
            </a:avLst>
          </a:prstGeom>
          <a:solidFill>
            <a:srgbClr val="EAF8F7"/>
          </a:solidFill>
          <a:ln w="10160">
            <a:solidFill>
              <a:srgbClr val="EAF8F7"/>
            </a:solidFill>
            <a:prstDash val="solid"/>
          </a:ln>
        </p:spPr>
      </p:sp>
      <p:sp>
        <p:nvSpPr>
          <p:cNvPr id="24" name="Text 22"/>
          <p:cNvSpPr/>
          <p:nvPr/>
        </p:nvSpPr>
        <p:spPr>
          <a:xfrm>
            <a:off x="5138928" y="3410712"/>
            <a:ext cx="1417320" cy="256032"/>
          </a:xfrm>
          <a:prstGeom prst="rect">
            <a:avLst/>
          </a:prstGeom>
          <a:noFill/>
          <a:ln/>
        </p:spPr>
        <p:txBody>
          <a:bodyPr wrap="square" lIns="0" tIns="0" rIns="0" bIns="0" rtlCol="0" anchor="t">
            <a:normAutofit/>
          </a:bodyPr>
          <a:lstStyle/>
          <a:p>
            <a:pPr marL="0" indent="0" algn="l">
              <a:buNone/>
            </a:pPr>
            <a:r>
              <a:rPr lang="en-US" sz="1300" b="1" dirty="0">
                <a:solidFill>
                  <a:srgbClr val="0E9F9A"/>
                </a:solidFill>
                <a:latin typeface="Aptos" pitchFamily="34" charset="0"/>
                <a:ea typeface="Aptos" pitchFamily="34" charset="-122"/>
                <a:cs typeface="Aptos" pitchFamily="34" charset="-120"/>
              </a:rPr>
              <a:t>schema.json</a:t>
            </a:r>
            <a:endParaRPr lang="en-US" sz="1300" dirty="0"/>
          </a:p>
        </p:txBody>
      </p:sp>
      <p:sp>
        <p:nvSpPr>
          <p:cNvPr id="25" name="Text 23"/>
          <p:cNvSpPr/>
          <p:nvPr/>
        </p:nvSpPr>
        <p:spPr>
          <a:xfrm>
            <a:off x="6720840" y="3374136"/>
            <a:ext cx="4187952" cy="310896"/>
          </a:xfrm>
          <a:prstGeom prst="rect">
            <a:avLst/>
          </a:prstGeom>
          <a:noFill/>
          <a:ln/>
        </p:spPr>
        <p:txBody>
          <a:bodyPr wrap="square" lIns="0" tIns="0" rIns="0" bIns="0" rtlCol="0" anchor="t">
            <a:normAutofit/>
          </a:bodyPr>
          <a:lstStyle/>
          <a:p>
            <a:pPr marL="0" indent="0" algn="l">
              <a:buNone/>
            </a:pPr>
            <a:r>
              <a:rPr lang="en-US" sz="1100" dirty="0">
                <a:solidFill>
                  <a:srgbClr val="243B53"/>
                </a:solidFill>
                <a:latin typeface="Aptos" pitchFamily="34" charset="0"/>
                <a:ea typeface="Aptos" pitchFamily="34" charset="-122"/>
                <a:cs typeface="Aptos" pitchFamily="34" charset="-120"/>
              </a:rPr>
              <a:t>Mô tả 24 input + validation contract</a:t>
            </a:r>
            <a:endParaRPr lang="en-US" sz="1100" dirty="0"/>
          </a:p>
        </p:txBody>
      </p:sp>
      <p:sp>
        <p:nvSpPr>
          <p:cNvPr id="26" name="Shape 24"/>
          <p:cNvSpPr/>
          <p:nvPr/>
        </p:nvSpPr>
        <p:spPr>
          <a:xfrm>
            <a:off x="4892040" y="4261104"/>
            <a:ext cx="6355080" cy="841248"/>
          </a:xfrm>
          <a:prstGeom prst="roundRect">
            <a:avLst>
              <a:gd name="adj" fmla="val 8696"/>
            </a:avLst>
          </a:prstGeom>
          <a:solidFill>
            <a:srgbClr val="FFF7E6"/>
          </a:solidFill>
          <a:ln w="10160">
            <a:solidFill>
              <a:srgbClr val="FFF7E6"/>
            </a:solidFill>
            <a:prstDash val="solid"/>
          </a:ln>
        </p:spPr>
      </p:sp>
      <p:sp>
        <p:nvSpPr>
          <p:cNvPr id="27" name="Text 25"/>
          <p:cNvSpPr/>
          <p:nvPr/>
        </p:nvSpPr>
        <p:spPr>
          <a:xfrm>
            <a:off x="5138928" y="4462272"/>
            <a:ext cx="1417320" cy="256032"/>
          </a:xfrm>
          <a:prstGeom prst="rect">
            <a:avLst/>
          </a:prstGeom>
          <a:noFill/>
          <a:ln/>
        </p:spPr>
        <p:txBody>
          <a:bodyPr wrap="square" lIns="0" tIns="0" rIns="0" bIns="0" rtlCol="0" anchor="t">
            <a:normAutofit/>
          </a:bodyPr>
          <a:lstStyle/>
          <a:p>
            <a:pPr marL="0" indent="0" algn="l">
              <a:buNone/>
            </a:pPr>
            <a:r>
              <a:rPr lang="en-US" sz="1300" b="1" dirty="0">
                <a:solidFill>
                  <a:srgbClr val="E7A61A"/>
                </a:solidFill>
                <a:latin typeface="Aptos" pitchFamily="34" charset="0"/>
                <a:ea typeface="Aptos" pitchFamily="34" charset="-122"/>
                <a:cs typeface="Aptos" pitchFamily="34" charset="-120"/>
              </a:rPr>
              <a:t>metadata.json</a:t>
            </a:r>
            <a:endParaRPr lang="en-US" sz="1300" dirty="0"/>
          </a:p>
        </p:txBody>
      </p:sp>
      <p:sp>
        <p:nvSpPr>
          <p:cNvPr id="28" name="Text 26"/>
          <p:cNvSpPr/>
          <p:nvPr/>
        </p:nvSpPr>
        <p:spPr>
          <a:xfrm>
            <a:off x="6720840" y="4425696"/>
            <a:ext cx="4187952" cy="310896"/>
          </a:xfrm>
          <a:prstGeom prst="rect">
            <a:avLst/>
          </a:prstGeom>
          <a:noFill/>
          <a:ln/>
        </p:spPr>
        <p:txBody>
          <a:bodyPr wrap="square" lIns="0" tIns="0" rIns="0" bIns="0" rtlCol="0" anchor="t">
            <a:normAutofit/>
          </a:bodyPr>
          <a:lstStyle/>
          <a:p>
            <a:pPr marL="0" indent="0" algn="l">
              <a:buNone/>
            </a:pPr>
            <a:r>
              <a:rPr lang="en-US" sz="1100" dirty="0">
                <a:solidFill>
                  <a:srgbClr val="243B53"/>
                </a:solidFill>
                <a:latin typeface="Aptos" pitchFamily="34" charset="0"/>
                <a:ea typeface="Aptos" pitchFamily="34" charset="-122"/>
                <a:cs typeface="Aptos" pitchFamily="34" charset="-120"/>
              </a:rPr>
              <a:t>Version, metric, môi trường huấn luyện</a:t>
            </a:r>
            <a:endParaRPr lang="en-US" sz="1100" dirty="0"/>
          </a:p>
        </p:txBody>
      </p:sp>
      <p:sp>
        <p:nvSpPr>
          <p:cNvPr id="29" name="Shape 27"/>
          <p:cNvSpPr/>
          <p:nvPr/>
        </p:nvSpPr>
        <p:spPr>
          <a:xfrm>
            <a:off x="4892040" y="5440680"/>
            <a:ext cx="6355080" cy="420624"/>
          </a:xfrm>
          <a:prstGeom prst="roundRect">
            <a:avLst>
              <a:gd name="adj" fmla="val 13043"/>
            </a:avLst>
          </a:prstGeom>
          <a:solidFill>
            <a:srgbClr val="FFFFFF"/>
          </a:solidFill>
          <a:ln w="10160">
            <a:solidFill>
              <a:srgbClr val="D9E3EE"/>
            </a:solidFill>
            <a:prstDash val="solid"/>
          </a:ln>
        </p:spPr>
      </p:sp>
      <p:sp>
        <p:nvSpPr>
          <p:cNvPr id="30" name="Text 28"/>
          <p:cNvSpPr/>
          <p:nvPr/>
        </p:nvSpPr>
        <p:spPr>
          <a:xfrm>
            <a:off x="5102352" y="5550408"/>
            <a:ext cx="566928" cy="201168"/>
          </a:xfrm>
          <a:prstGeom prst="rect">
            <a:avLst/>
          </a:prstGeom>
          <a:noFill/>
          <a:ln/>
        </p:spPr>
        <p:txBody>
          <a:bodyPr wrap="square" lIns="0" tIns="0" rIns="0" bIns="0" rtlCol="0" anchor="t">
            <a:normAutofit/>
          </a:bodyPr>
          <a:lstStyle/>
          <a:p>
            <a:pPr marL="0" indent="0" algn="l">
              <a:buNone/>
            </a:pPr>
            <a:r>
              <a:rPr lang="en-US" sz="900" b="1" dirty="0">
                <a:solidFill>
                  <a:srgbClr val="63758A"/>
                </a:solidFill>
                <a:latin typeface="Aptos" pitchFamily="34" charset="0"/>
                <a:ea typeface="Aptos" pitchFamily="34" charset="-122"/>
                <a:cs typeface="Aptos" pitchFamily="34" charset="-120"/>
              </a:rPr>
              <a:t>INPUT</a:t>
            </a:r>
            <a:endParaRPr lang="en-US" sz="900" dirty="0"/>
          </a:p>
        </p:txBody>
      </p:sp>
      <p:sp>
        <p:nvSpPr>
          <p:cNvPr id="31" name="Text 29"/>
          <p:cNvSpPr/>
          <p:nvPr/>
        </p:nvSpPr>
        <p:spPr>
          <a:xfrm>
            <a:off x="5705856" y="5550408"/>
            <a:ext cx="228600" cy="201168"/>
          </a:xfrm>
          <a:prstGeom prst="rect">
            <a:avLst/>
          </a:prstGeom>
          <a:noFill/>
          <a:ln/>
        </p:spPr>
        <p:txBody>
          <a:bodyPr wrap="square" lIns="0" tIns="0" rIns="0" bIns="0" rtlCol="0" anchor="t">
            <a:normAutofit/>
          </a:bodyPr>
          <a:lstStyle/>
          <a:p>
            <a:pPr marL="0" indent="0" algn="l">
              <a:buNone/>
            </a:pPr>
            <a:r>
              <a:rPr lang="en-US" sz="1200" b="1" dirty="0">
                <a:solidFill>
                  <a:srgbClr val="2457D6"/>
                </a:solidFill>
                <a:latin typeface="Aptos" pitchFamily="34" charset="0"/>
                <a:ea typeface="Aptos" pitchFamily="34" charset="-122"/>
                <a:cs typeface="Aptos" pitchFamily="34" charset="-120"/>
              </a:rPr>
              <a:t>→</a:t>
            </a:r>
            <a:endParaRPr lang="en-US" sz="1200" dirty="0"/>
          </a:p>
        </p:txBody>
      </p:sp>
      <p:sp>
        <p:nvSpPr>
          <p:cNvPr id="32" name="Text 30"/>
          <p:cNvSpPr/>
          <p:nvPr/>
        </p:nvSpPr>
        <p:spPr>
          <a:xfrm>
            <a:off x="5989320" y="5550408"/>
            <a:ext cx="1298448" cy="201168"/>
          </a:xfrm>
          <a:prstGeom prst="rect">
            <a:avLst/>
          </a:prstGeom>
          <a:noFill/>
          <a:ln/>
        </p:spPr>
        <p:txBody>
          <a:bodyPr wrap="square" lIns="0" tIns="0" rIns="0" bIns="0" rtlCol="0" anchor="t">
            <a:normAutofit/>
          </a:bodyPr>
          <a:lstStyle/>
          <a:p>
            <a:pPr marL="0" indent="0" algn="l">
              <a:buNone/>
            </a:pPr>
            <a:r>
              <a:rPr lang="en-US" sz="950" b="1" dirty="0">
                <a:solidFill>
                  <a:srgbClr val="102A43"/>
                </a:solidFill>
                <a:latin typeface="Aptos" pitchFamily="34" charset="0"/>
                <a:ea typeface="Aptos" pitchFamily="34" charset="-122"/>
                <a:cs typeface="Aptos" pitchFamily="34" charset="-120"/>
              </a:rPr>
              <a:t>ColumnTransformer</a:t>
            </a:r>
            <a:endParaRPr lang="en-US" sz="950" dirty="0"/>
          </a:p>
        </p:txBody>
      </p:sp>
      <p:sp>
        <p:nvSpPr>
          <p:cNvPr id="33" name="Text 31"/>
          <p:cNvSpPr/>
          <p:nvPr/>
        </p:nvSpPr>
        <p:spPr>
          <a:xfrm>
            <a:off x="7351776" y="5550408"/>
            <a:ext cx="228600" cy="201168"/>
          </a:xfrm>
          <a:prstGeom prst="rect">
            <a:avLst/>
          </a:prstGeom>
          <a:noFill/>
          <a:ln/>
        </p:spPr>
        <p:txBody>
          <a:bodyPr wrap="square" lIns="0" tIns="0" rIns="0" bIns="0" rtlCol="0" anchor="t">
            <a:normAutofit/>
          </a:bodyPr>
          <a:lstStyle/>
          <a:p>
            <a:pPr marL="0" indent="0" algn="l">
              <a:buNone/>
            </a:pPr>
            <a:r>
              <a:rPr lang="en-US" sz="1200" b="1" dirty="0">
                <a:solidFill>
                  <a:srgbClr val="2457D6"/>
                </a:solidFill>
                <a:latin typeface="Aptos" pitchFamily="34" charset="0"/>
                <a:ea typeface="Aptos" pitchFamily="34" charset="-122"/>
                <a:cs typeface="Aptos" pitchFamily="34" charset="-120"/>
              </a:rPr>
              <a:t>→</a:t>
            </a:r>
            <a:endParaRPr lang="en-US" sz="1200" dirty="0"/>
          </a:p>
        </p:txBody>
      </p:sp>
      <p:sp>
        <p:nvSpPr>
          <p:cNvPr id="34" name="Text 32"/>
          <p:cNvSpPr/>
          <p:nvPr/>
        </p:nvSpPr>
        <p:spPr>
          <a:xfrm>
            <a:off x="7653528" y="5550408"/>
            <a:ext cx="1417320" cy="201168"/>
          </a:xfrm>
          <a:prstGeom prst="rect">
            <a:avLst/>
          </a:prstGeom>
          <a:noFill/>
          <a:ln/>
        </p:spPr>
        <p:txBody>
          <a:bodyPr wrap="square" lIns="0" tIns="0" rIns="0" bIns="0" rtlCol="0" anchor="t">
            <a:normAutofit/>
          </a:bodyPr>
          <a:lstStyle/>
          <a:p>
            <a:pPr marL="0" indent="0" algn="l">
              <a:buNone/>
            </a:pPr>
            <a:r>
              <a:rPr lang="en-US" sz="950" b="1" dirty="0">
                <a:solidFill>
                  <a:srgbClr val="102A43"/>
                </a:solidFill>
                <a:latin typeface="Aptos" pitchFamily="34" charset="0"/>
                <a:ea typeface="Aptos" pitchFamily="34" charset="-122"/>
                <a:cs typeface="Aptos" pitchFamily="34" charset="-120"/>
              </a:rPr>
              <a:t>Logistic Regression</a:t>
            </a:r>
            <a:endParaRPr lang="en-US" sz="950" dirty="0"/>
          </a:p>
        </p:txBody>
      </p:sp>
      <p:sp>
        <p:nvSpPr>
          <p:cNvPr id="35" name="Text 33"/>
          <p:cNvSpPr/>
          <p:nvPr/>
        </p:nvSpPr>
        <p:spPr>
          <a:xfrm>
            <a:off x="9125712" y="5550408"/>
            <a:ext cx="228600" cy="201168"/>
          </a:xfrm>
          <a:prstGeom prst="rect">
            <a:avLst/>
          </a:prstGeom>
          <a:noFill/>
          <a:ln/>
        </p:spPr>
        <p:txBody>
          <a:bodyPr wrap="square" lIns="0" tIns="0" rIns="0" bIns="0" rtlCol="0" anchor="t">
            <a:normAutofit/>
          </a:bodyPr>
          <a:lstStyle/>
          <a:p>
            <a:pPr marL="0" indent="0" algn="l">
              <a:buNone/>
            </a:pPr>
            <a:r>
              <a:rPr lang="en-US" sz="1200" b="1" dirty="0">
                <a:solidFill>
                  <a:srgbClr val="2457D6"/>
                </a:solidFill>
                <a:latin typeface="Aptos" pitchFamily="34" charset="0"/>
                <a:ea typeface="Aptos" pitchFamily="34" charset="-122"/>
                <a:cs typeface="Aptos" pitchFamily="34" charset="-120"/>
              </a:rPr>
              <a:t>→</a:t>
            </a:r>
            <a:endParaRPr lang="en-US" sz="1200" dirty="0"/>
          </a:p>
        </p:txBody>
      </p:sp>
      <p:sp>
        <p:nvSpPr>
          <p:cNvPr id="36" name="Text 34"/>
          <p:cNvSpPr/>
          <p:nvPr/>
        </p:nvSpPr>
        <p:spPr>
          <a:xfrm>
            <a:off x="9400032" y="5550408"/>
            <a:ext cx="1536192" cy="201168"/>
          </a:xfrm>
          <a:prstGeom prst="rect">
            <a:avLst/>
          </a:prstGeom>
          <a:noFill/>
          <a:ln/>
        </p:spPr>
        <p:txBody>
          <a:bodyPr wrap="square" lIns="0" tIns="0" rIns="0" bIns="0" rtlCol="0" anchor="t">
            <a:normAutofit/>
          </a:bodyPr>
          <a:lstStyle/>
          <a:p>
            <a:pPr marL="0" indent="0" algn="l">
              <a:buNone/>
            </a:pPr>
            <a:r>
              <a:rPr lang="en-US" sz="900" b="1" dirty="0">
                <a:solidFill>
                  <a:srgbClr val="0E9F9A"/>
                </a:solidFill>
                <a:latin typeface="Aptos" pitchFamily="34" charset="0"/>
                <a:ea typeface="Aptos" pitchFamily="34" charset="-122"/>
                <a:cs typeface="Aptos" pitchFamily="34" charset="-120"/>
              </a:rPr>
              <a:t>PREDICTION + PROB.</a:t>
            </a:r>
            <a:endParaRPr lang="en-US" sz="900" dirty="0"/>
          </a:p>
        </p:txBody>
      </p:sp>
      <p:sp>
        <p:nvSpPr>
          <p:cNvPr id="37" name="Text 35"/>
          <p:cNvSpPr/>
          <p:nvPr/>
        </p:nvSpPr>
        <p:spPr>
          <a:xfrm>
            <a:off x="640080" y="6291072"/>
            <a:ext cx="9875520" cy="182880"/>
          </a:xfrm>
          <a:prstGeom prst="rect">
            <a:avLst/>
          </a:prstGeom>
          <a:noFill/>
          <a:ln/>
        </p:spPr>
        <p:txBody>
          <a:bodyPr wrap="square" lIns="0" tIns="0" rIns="0" bIns="0" rtlCol="0" anchor="t">
            <a:normAutofit/>
          </a:bodyPr>
          <a:lstStyle/>
          <a:p>
            <a:pPr marL="0" indent="0" algn="l">
              <a:buNone/>
            </a:pPr>
            <a:r>
              <a:rPr lang="en-US" sz="860" dirty="0">
                <a:solidFill>
                  <a:srgbClr val="63758A"/>
                </a:solidFill>
                <a:latin typeface="Aptos" pitchFamily="34" charset="0"/>
                <a:ea typeface="Aptos" pitchFamily="34" charset="-122"/>
                <a:cs typeface="Aptos" pitchFamily="34" charset="-120"/>
              </a:rPr>
              <a:t>Lưu ý: F1 = 1.0000 là kết quả thực nghiệm trên test split 80 mẫu, không phải độ chính xác lâm sàng.</a:t>
            </a:r>
            <a:endParaRPr lang="en-US" sz="860" dirty="0"/>
          </a:p>
        </p:txBody>
      </p:sp>
      <p:sp>
        <p:nvSpPr>
          <p:cNvPr id="38"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t>14</a:t>
            </a:fld>
            <a:endParaRPr lang="en-US"/>
          </a:p>
        </p:txBody>
      </p:sp>
      <p:sp>
        <p:nvSpPr>
          <p:cNvPr id="39"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12</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latin typeface="Times New Roman" panose="02020603050405020304" pitchFamily="18" charset="0"/>
                <a:cs typeface="Times New Roman" panose="02020603050405020304" pitchFamily="18" charset="0"/>
              </a:rPr>
              <a:t>Kiến trúc hệ thống CKD AI Web App</a:t>
            </a:r>
            <a:endParaRPr lang="en-US" sz="2500" dirty="0">
              <a:latin typeface="Times New Roman" panose="02020603050405020304" pitchFamily="18" charset="0"/>
              <a:cs typeface="Times New Roman" panose="02020603050405020304" pitchFamily="18" charset="0"/>
            </a:endParaRPr>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200" dirty="0">
                <a:solidFill>
                  <a:srgbClr val="63758A"/>
                </a:solidFill>
                <a:latin typeface="Times New Roman" panose="02020603050405020304" pitchFamily="18" charset="0"/>
                <a:cs typeface="Times New Roman" panose="02020603050405020304" pitchFamily="18" charset="0"/>
              </a:rPr>
              <a:t>Frontend, Backend, AI Service và MongoDB được tách thành các service độc lập</a:t>
            </a:r>
            <a:endParaRPr lang="en-US" sz="1200" dirty="0">
              <a:latin typeface="Times New Roman" panose="02020603050405020304" pitchFamily="18" charset="0"/>
              <a:cs typeface="Times New Roman" panose="02020603050405020304" pitchFamily="18" charset="0"/>
            </a:endParaRPr>
          </a:p>
        </p:txBody>
      </p:sp>
      <p:sp>
        <p:nvSpPr>
          <p:cNvPr id="5" name="Shape 3"/>
          <p:cNvSpPr/>
          <p:nvPr/>
        </p:nvSpPr>
        <p:spPr>
          <a:xfrm>
            <a:off x="804672" y="1874520"/>
            <a:ext cx="1883664" cy="1234440"/>
          </a:xfrm>
          <a:prstGeom prst="roundRect">
            <a:avLst>
              <a:gd name="adj" fmla="val 8889"/>
            </a:avLst>
          </a:prstGeom>
          <a:solidFill>
            <a:srgbClr val="EDF4FF"/>
          </a:solidFill>
          <a:ln w="10160">
            <a:solidFill>
              <a:srgbClr val="EDF4FF"/>
            </a:solidFill>
            <a:prstDash val="solid"/>
          </a:ln>
        </p:spPr>
      </p:sp>
      <p:sp>
        <p:nvSpPr>
          <p:cNvPr id="6" name="Text 4"/>
          <p:cNvSpPr/>
          <p:nvPr/>
        </p:nvSpPr>
        <p:spPr>
          <a:xfrm>
            <a:off x="950976" y="2157984"/>
            <a:ext cx="1591056" cy="256032"/>
          </a:xfrm>
          <a:prstGeom prst="rect">
            <a:avLst/>
          </a:prstGeom>
          <a:noFill/>
          <a:ln/>
        </p:spPr>
        <p:txBody>
          <a:bodyPr wrap="square" lIns="0" tIns="0" rIns="0" bIns="0" rtlCol="0" anchor="t">
            <a:normAutofit/>
          </a:bodyPr>
          <a:lstStyle/>
          <a:p>
            <a:pPr marL="0" indent="0" algn="ctr">
              <a:buNone/>
            </a:pPr>
            <a:r>
              <a:rPr lang="en-US" sz="1300" b="1" dirty="0">
                <a:solidFill>
                  <a:srgbClr val="2457D6"/>
                </a:solidFill>
                <a:latin typeface="Times New Roman" panose="02020603050405020304" pitchFamily="18" charset="0"/>
                <a:ea typeface="Aptos" pitchFamily="34" charset="-122"/>
                <a:cs typeface="Times New Roman" panose="02020603050405020304" pitchFamily="18" charset="0"/>
              </a:rPr>
              <a:t>Người dùng</a:t>
            </a:r>
            <a:endParaRPr lang="en-US" sz="1300" dirty="0">
              <a:latin typeface="Times New Roman" panose="02020603050405020304" pitchFamily="18" charset="0"/>
              <a:cs typeface="Times New Roman" panose="02020603050405020304" pitchFamily="18" charset="0"/>
            </a:endParaRPr>
          </a:p>
        </p:txBody>
      </p:sp>
      <p:sp>
        <p:nvSpPr>
          <p:cNvPr id="7" name="Text 5"/>
          <p:cNvSpPr/>
          <p:nvPr/>
        </p:nvSpPr>
        <p:spPr>
          <a:xfrm>
            <a:off x="932688" y="2551176"/>
            <a:ext cx="1627632" cy="256032"/>
          </a:xfrm>
          <a:prstGeom prst="rect">
            <a:avLst/>
          </a:prstGeom>
          <a:noFill/>
          <a:ln/>
        </p:spPr>
        <p:txBody>
          <a:bodyPr wrap="square" lIns="0" tIns="0" rIns="0" bIns="0" rtlCol="0" anchor="t">
            <a:normAutofit/>
          </a:bodyPr>
          <a:lstStyle/>
          <a:p>
            <a:pPr marL="0" indent="0" algn="ctr">
              <a:buNone/>
            </a:pPr>
            <a:r>
              <a:rPr lang="en-US" sz="920" dirty="0">
                <a:solidFill>
                  <a:srgbClr val="63758A"/>
                </a:solidFill>
                <a:latin typeface="Times New Roman" panose="02020603050405020304" pitchFamily="18" charset="0"/>
                <a:ea typeface="Aptos" pitchFamily="34" charset="-122"/>
                <a:cs typeface="Times New Roman" panose="02020603050405020304" pitchFamily="18" charset="0"/>
              </a:rPr>
              <a:t>Browser</a:t>
            </a:r>
            <a:endParaRPr lang="en-US" sz="920" dirty="0">
              <a:latin typeface="Times New Roman" panose="02020603050405020304" pitchFamily="18" charset="0"/>
              <a:cs typeface="Times New Roman" panose="02020603050405020304" pitchFamily="18" charset="0"/>
            </a:endParaRPr>
          </a:p>
        </p:txBody>
      </p:sp>
      <p:sp>
        <p:nvSpPr>
          <p:cNvPr id="8" name="Text 6"/>
          <p:cNvSpPr/>
          <p:nvPr/>
        </p:nvSpPr>
        <p:spPr>
          <a:xfrm>
            <a:off x="2743200" y="2304288"/>
            <a:ext cx="219456" cy="237744"/>
          </a:xfrm>
          <a:prstGeom prst="rect">
            <a:avLst/>
          </a:prstGeom>
          <a:noFill/>
          <a:ln/>
        </p:spPr>
        <p:txBody>
          <a:bodyPr wrap="square" lIns="0" tIns="0" rIns="0" bIns="0" rtlCol="0" anchor="t">
            <a:normAutofit fontScale="92500" lnSpcReduction="20000"/>
          </a:bodyPr>
          <a:lstStyle/>
          <a:p>
            <a:pPr marL="0" indent="0" algn="ctr">
              <a:buNone/>
            </a:pPr>
            <a:r>
              <a:rPr lang="en-US" sz="1900" b="1" dirty="0">
                <a:solidFill>
                  <a:srgbClr val="2457D6"/>
                </a:solidFill>
                <a:latin typeface="Times New Roman" panose="02020603050405020304" pitchFamily="18" charset="0"/>
                <a:ea typeface="Aptos" pitchFamily="34" charset="-122"/>
                <a:cs typeface="Times New Roman" panose="02020603050405020304" pitchFamily="18" charset="0"/>
              </a:rPr>
              <a:t>→</a:t>
            </a:r>
            <a:endParaRPr lang="en-US" sz="1900" dirty="0">
              <a:latin typeface="Times New Roman" panose="02020603050405020304" pitchFamily="18" charset="0"/>
              <a:cs typeface="Times New Roman" panose="02020603050405020304" pitchFamily="18" charset="0"/>
            </a:endParaRPr>
          </a:p>
        </p:txBody>
      </p:sp>
      <p:sp>
        <p:nvSpPr>
          <p:cNvPr id="9" name="Shape 7"/>
          <p:cNvSpPr/>
          <p:nvPr/>
        </p:nvSpPr>
        <p:spPr>
          <a:xfrm>
            <a:off x="2788920" y="1874520"/>
            <a:ext cx="1956816" cy="1234440"/>
          </a:xfrm>
          <a:prstGeom prst="roundRect">
            <a:avLst>
              <a:gd name="adj" fmla="val 8889"/>
            </a:avLst>
          </a:prstGeom>
          <a:solidFill>
            <a:srgbClr val="EDF4FF"/>
          </a:solidFill>
          <a:ln w="10160">
            <a:solidFill>
              <a:srgbClr val="EDF4FF"/>
            </a:solidFill>
            <a:prstDash val="solid"/>
          </a:ln>
        </p:spPr>
      </p:sp>
      <p:sp>
        <p:nvSpPr>
          <p:cNvPr id="10" name="Text 8"/>
          <p:cNvSpPr/>
          <p:nvPr/>
        </p:nvSpPr>
        <p:spPr>
          <a:xfrm>
            <a:off x="2935224" y="2157984"/>
            <a:ext cx="1664208" cy="256032"/>
          </a:xfrm>
          <a:prstGeom prst="rect">
            <a:avLst/>
          </a:prstGeom>
          <a:noFill/>
          <a:ln/>
        </p:spPr>
        <p:txBody>
          <a:bodyPr wrap="square" lIns="0" tIns="0" rIns="0" bIns="0" rtlCol="0" anchor="t">
            <a:normAutofit/>
          </a:bodyPr>
          <a:lstStyle/>
          <a:p>
            <a:pPr marL="0" indent="0" algn="ctr">
              <a:buNone/>
            </a:pPr>
            <a:r>
              <a:rPr lang="en-US" sz="1300" b="1" dirty="0">
                <a:solidFill>
                  <a:srgbClr val="2457D6"/>
                </a:solidFill>
                <a:latin typeface="Times New Roman" panose="02020603050405020304" pitchFamily="18" charset="0"/>
                <a:ea typeface="Aptos" pitchFamily="34" charset="-122"/>
                <a:cs typeface="Times New Roman" panose="02020603050405020304" pitchFamily="18" charset="0"/>
              </a:rPr>
              <a:t>Frontend / Nginx</a:t>
            </a:r>
            <a:endParaRPr lang="en-US" sz="1300" dirty="0">
              <a:latin typeface="Times New Roman" panose="02020603050405020304" pitchFamily="18" charset="0"/>
              <a:cs typeface="Times New Roman" panose="02020603050405020304" pitchFamily="18" charset="0"/>
            </a:endParaRPr>
          </a:p>
        </p:txBody>
      </p:sp>
      <p:sp>
        <p:nvSpPr>
          <p:cNvPr id="11" name="Text 9"/>
          <p:cNvSpPr/>
          <p:nvPr/>
        </p:nvSpPr>
        <p:spPr>
          <a:xfrm>
            <a:off x="2916936" y="2551176"/>
            <a:ext cx="1700784" cy="256032"/>
          </a:xfrm>
          <a:prstGeom prst="rect">
            <a:avLst/>
          </a:prstGeom>
          <a:noFill/>
          <a:ln/>
        </p:spPr>
        <p:txBody>
          <a:bodyPr wrap="square" lIns="0" tIns="0" rIns="0" bIns="0" rtlCol="0" anchor="t">
            <a:normAutofit/>
          </a:bodyPr>
          <a:lstStyle/>
          <a:p>
            <a:pPr marL="0" indent="0" algn="ctr">
              <a:buNone/>
            </a:pPr>
            <a:r>
              <a:rPr lang="en-US" sz="920" dirty="0">
                <a:solidFill>
                  <a:srgbClr val="63758A"/>
                </a:solidFill>
                <a:latin typeface="Times New Roman" panose="02020603050405020304" pitchFamily="18" charset="0"/>
                <a:ea typeface="Aptos" pitchFamily="34" charset="-122"/>
                <a:cs typeface="Times New Roman" panose="02020603050405020304" pitchFamily="18" charset="0"/>
              </a:rPr>
              <a:t>Port 3000</a:t>
            </a:r>
            <a:endParaRPr lang="en-US" sz="920" dirty="0">
              <a:latin typeface="Times New Roman" panose="02020603050405020304" pitchFamily="18" charset="0"/>
              <a:cs typeface="Times New Roman" panose="02020603050405020304" pitchFamily="18" charset="0"/>
            </a:endParaRPr>
          </a:p>
        </p:txBody>
      </p:sp>
      <p:sp>
        <p:nvSpPr>
          <p:cNvPr id="12" name="Text 10"/>
          <p:cNvSpPr/>
          <p:nvPr/>
        </p:nvSpPr>
        <p:spPr>
          <a:xfrm>
            <a:off x="4800600" y="2304288"/>
            <a:ext cx="219456" cy="237744"/>
          </a:xfrm>
          <a:prstGeom prst="rect">
            <a:avLst/>
          </a:prstGeom>
          <a:noFill/>
          <a:ln/>
        </p:spPr>
        <p:txBody>
          <a:bodyPr wrap="square" lIns="0" tIns="0" rIns="0" bIns="0" rtlCol="0" anchor="t">
            <a:normAutofit fontScale="92500" lnSpcReduction="20000"/>
          </a:bodyPr>
          <a:lstStyle/>
          <a:p>
            <a:pPr marL="0" indent="0" algn="ctr">
              <a:buNone/>
            </a:pPr>
            <a:r>
              <a:rPr lang="en-US" sz="1900" b="1" dirty="0">
                <a:solidFill>
                  <a:srgbClr val="2457D6"/>
                </a:solidFill>
                <a:latin typeface="Times New Roman" panose="02020603050405020304" pitchFamily="18" charset="0"/>
                <a:ea typeface="Aptos" pitchFamily="34" charset="-122"/>
                <a:cs typeface="Times New Roman" panose="02020603050405020304" pitchFamily="18" charset="0"/>
              </a:rPr>
              <a:t>→</a:t>
            </a:r>
            <a:endParaRPr lang="en-US" sz="1900" dirty="0">
              <a:latin typeface="Times New Roman" panose="02020603050405020304" pitchFamily="18" charset="0"/>
              <a:cs typeface="Times New Roman" panose="02020603050405020304" pitchFamily="18" charset="0"/>
            </a:endParaRPr>
          </a:p>
        </p:txBody>
      </p:sp>
      <p:sp>
        <p:nvSpPr>
          <p:cNvPr id="13" name="Shape 11"/>
          <p:cNvSpPr/>
          <p:nvPr/>
        </p:nvSpPr>
        <p:spPr>
          <a:xfrm>
            <a:off x="4956048" y="1874520"/>
            <a:ext cx="1956816" cy="1234440"/>
          </a:xfrm>
          <a:prstGeom prst="roundRect">
            <a:avLst>
              <a:gd name="adj" fmla="val 8889"/>
            </a:avLst>
          </a:prstGeom>
          <a:solidFill>
            <a:srgbClr val="EAF8F7"/>
          </a:solidFill>
          <a:ln w="10160">
            <a:solidFill>
              <a:srgbClr val="EAF8F7"/>
            </a:solidFill>
            <a:prstDash val="solid"/>
          </a:ln>
        </p:spPr>
      </p:sp>
      <p:sp>
        <p:nvSpPr>
          <p:cNvPr id="14" name="Text 12"/>
          <p:cNvSpPr/>
          <p:nvPr/>
        </p:nvSpPr>
        <p:spPr>
          <a:xfrm>
            <a:off x="5102352" y="2157984"/>
            <a:ext cx="1664208" cy="256032"/>
          </a:xfrm>
          <a:prstGeom prst="rect">
            <a:avLst/>
          </a:prstGeom>
          <a:noFill/>
          <a:ln/>
        </p:spPr>
        <p:txBody>
          <a:bodyPr wrap="square" lIns="0" tIns="0" rIns="0" bIns="0" rtlCol="0" anchor="t">
            <a:normAutofit/>
          </a:bodyPr>
          <a:lstStyle/>
          <a:p>
            <a:pPr marL="0" indent="0" algn="ctr">
              <a:buNone/>
            </a:pPr>
            <a:r>
              <a:rPr lang="en-US" sz="1300" b="1" dirty="0">
                <a:solidFill>
                  <a:srgbClr val="0E9F9A"/>
                </a:solidFill>
                <a:latin typeface="Times New Roman" panose="02020603050405020304" pitchFamily="18" charset="0"/>
                <a:ea typeface="Aptos" pitchFamily="34" charset="-122"/>
                <a:cs typeface="Times New Roman" panose="02020603050405020304" pitchFamily="18" charset="0"/>
              </a:rPr>
              <a:t>Backend</a:t>
            </a:r>
            <a:endParaRPr lang="en-US" sz="1300" dirty="0">
              <a:latin typeface="Times New Roman" panose="02020603050405020304" pitchFamily="18" charset="0"/>
              <a:cs typeface="Times New Roman" panose="02020603050405020304" pitchFamily="18" charset="0"/>
            </a:endParaRPr>
          </a:p>
        </p:txBody>
      </p:sp>
      <p:sp>
        <p:nvSpPr>
          <p:cNvPr id="15" name="Text 13"/>
          <p:cNvSpPr/>
          <p:nvPr/>
        </p:nvSpPr>
        <p:spPr>
          <a:xfrm>
            <a:off x="5084064" y="2551176"/>
            <a:ext cx="1700784" cy="256032"/>
          </a:xfrm>
          <a:prstGeom prst="rect">
            <a:avLst/>
          </a:prstGeom>
          <a:noFill/>
          <a:ln/>
        </p:spPr>
        <p:txBody>
          <a:bodyPr wrap="square" lIns="0" tIns="0" rIns="0" bIns="0" rtlCol="0" anchor="t">
            <a:normAutofit/>
          </a:bodyPr>
          <a:lstStyle/>
          <a:p>
            <a:pPr marL="0" indent="0" algn="ctr">
              <a:buNone/>
            </a:pPr>
            <a:r>
              <a:rPr lang="en-US" sz="920" dirty="0">
                <a:solidFill>
                  <a:srgbClr val="63758A"/>
                </a:solidFill>
                <a:latin typeface="Times New Roman" panose="02020603050405020304" pitchFamily="18" charset="0"/>
                <a:ea typeface="Aptos" pitchFamily="34" charset="-122"/>
                <a:cs typeface="Times New Roman" panose="02020603050405020304" pitchFamily="18" charset="0"/>
              </a:rPr>
              <a:t>Node.js / Express • 8000</a:t>
            </a:r>
            <a:endParaRPr lang="en-US" sz="920" dirty="0">
              <a:latin typeface="Times New Roman" panose="02020603050405020304" pitchFamily="18" charset="0"/>
              <a:cs typeface="Times New Roman" panose="02020603050405020304" pitchFamily="18" charset="0"/>
            </a:endParaRPr>
          </a:p>
        </p:txBody>
      </p:sp>
      <p:sp>
        <p:nvSpPr>
          <p:cNvPr id="16" name="Text 14"/>
          <p:cNvSpPr/>
          <p:nvPr/>
        </p:nvSpPr>
        <p:spPr>
          <a:xfrm>
            <a:off x="6967728" y="2304288"/>
            <a:ext cx="219456" cy="237744"/>
          </a:xfrm>
          <a:prstGeom prst="rect">
            <a:avLst/>
          </a:prstGeom>
          <a:noFill/>
          <a:ln/>
        </p:spPr>
        <p:txBody>
          <a:bodyPr wrap="square" lIns="0" tIns="0" rIns="0" bIns="0" rtlCol="0" anchor="t">
            <a:normAutofit fontScale="92500" lnSpcReduction="20000"/>
          </a:bodyPr>
          <a:lstStyle/>
          <a:p>
            <a:pPr marL="0" indent="0" algn="ctr">
              <a:buNone/>
            </a:pPr>
            <a:r>
              <a:rPr lang="en-US" sz="1900" b="1" dirty="0">
                <a:solidFill>
                  <a:srgbClr val="2457D6"/>
                </a:solidFill>
                <a:latin typeface="Times New Roman" panose="02020603050405020304" pitchFamily="18" charset="0"/>
                <a:ea typeface="Aptos" pitchFamily="34" charset="-122"/>
                <a:cs typeface="Times New Roman" panose="02020603050405020304" pitchFamily="18" charset="0"/>
              </a:rPr>
              <a:t>→</a:t>
            </a:r>
            <a:endParaRPr lang="en-US" sz="1900" dirty="0">
              <a:latin typeface="Times New Roman" panose="02020603050405020304" pitchFamily="18" charset="0"/>
              <a:cs typeface="Times New Roman" panose="02020603050405020304" pitchFamily="18" charset="0"/>
            </a:endParaRPr>
          </a:p>
        </p:txBody>
      </p:sp>
      <p:sp>
        <p:nvSpPr>
          <p:cNvPr id="17" name="Shape 15"/>
          <p:cNvSpPr/>
          <p:nvPr/>
        </p:nvSpPr>
        <p:spPr>
          <a:xfrm>
            <a:off x="7132320" y="1874520"/>
            <a:ext cx="1956816" cy="1234440"/>
          </a:xfrm>
          <a:prstGeom prst="roundRect">
            <a:avLst>
              <a:gd name="adj" fmla="val 8889"/>
            </a:avLst>
          </a:prstGeom>
          <a:solidFill>
            <a:srgbClr val="FFF7E6"/>
          </a:solidFill>
          <a:ln w="10160">
            <a:solidFill>
              <a:srgbClr val="FFF7E6"/>
            </a:solidFill>
            <a:prstDash val="solid"/>
          </a:ln>
        </p:spPr>
      </p:sp>
      <p:sp>
        <p:nvSpPr>
          <p:cNvPr id="18" name="Text 16"/>
          <p:cNvSpPr/>
          <p:nvPr/>
        </p:nvSpPr>
        <p:spPr>
          <a:xfrm>
            <a:off x="7278624" y="2157984"/>
            <a:ext cx="1664208" cy="256032"/>
          </a:xfrm>
          <a:prstGeom prst="rect">
            <a:avLst/>
          </a:prstGeom>
          <a:noFill/>
          <a:ln/>
        </p:spPr>
        <p:txBody>
          <a:bodyPr wrap="square" lIns="0" tIns="0" rIns="0" bIns="0" rtlCol="0" anchor="t">
            <a:normAutofit/>
          </a:bodyPr>
          <a:lstStyle/>
          <a:p>
            <a:pPr marL="0" indent="0" algn="ctr">
              <a:buNone/>
            </a:pPr>
            <a:r>
              <a:rPr lang="en-US" sz="1300" b="1" dirty="0">
                <a:solidFill>
                  <a:srgbClr val="E7A61A"/>
                </a:solidFill>
                <a:latin typeface="Times New Roman" panose="02020603050405020304" pitchFamily="18" charset="0"/>
                <a:ea typeface="Aptos" pitchFamily="34" charset="-122"/>
                <a:cs typeface="Times New Roman" panose="02020603050405020304" pitchFamily="18" charset="0"/>
              </a:rPr>
              <a:t>AI Service</a:t>
            </a:r>
            <a:endParaRPr lang="en-US" sz="1300" dirty="0">
              <a:latin typeface="Times New Roman" panose="02020603050405020304" pitchFamily="18" charset="0"/>
              <a:cs typeface="Times New Roman" panose="02020603050405020304" pitchFamily="18" charset="0"/>
            </a:endParaRPr>
          </a:p>
        </p:txBody>
      </p:sp>
      <p:sp>
        <p:nvSpPr>
          <p:cNvPr id="19" name="Text 17"/>
          <p:cNvSpPr/>
          <p:nvPr/>
        </p:nvSpPr>
        <p:spPr>
          <a:xfrm>
            <a:off x="7260336" y="2551176"/>
            <a:ext cx="1700784" cy="256032"/>
          </a:xfrm>
          <a:prstGeom prst="rect">
            <a:avLst/>
          </a:prstGeom>
          <a:noFill/>
          <a:ln/>
        </p:spPr>
        <p:txBody>
          <a:bodyPr wrap="square" lIns="0" tIns="0" rIns="0" bIns="0" rtlCol="0" anchor="t">
            <a:normAutofit/>
          </a:bodyPr>
          <a:lstStyle/>
          <a:p>
            <a:pPr marL="0" indent="0" algn="ctr">
              <a:buNone/>
            </a:pPr>
            <a:r>
              <a:rPr lang="en-US" sz="920" dirty="0">
                <a:solidFill>
                  <a:srgbClr val="63758A"/>
                </a:solidFill>
                <a:latin typeface="Times New Roman" panose="02020603050405020304" pitchFamily="18" charset="0"/>
                <a:ea typeface="Aptos" pitchFamily="34" charset="-122"/>
                <a:cs typeface="Times New Roman" panose="02020603050405020304" pitchFamily="18" charset="0"/>
              </a:rPr>
              <a:t>FastAPI • 8001</a:t>
            </a:r>
            <a:endParaRPr lang="en-US" sz="920" dirty="0">
              <a:latin typeface="Times New Roman" panose="02020603050405020304" pitchFamily="18" charset="0"/>
              <a:cs typeface="Times New Roman" panose="02020603050405020304" pitchFamily="18" charset="0"/>
            </a:endParaRPr>
          </a:p>
        </p:txBody>
      </p:sp>
      <p:sp>
        <p:nvSpPr>
          <p:cNvPr id="20" name="Text 18"/>
          <p:cNvSpPr/>
          <p:nvPr/>
        </p:nvSpPr>
        <p:spPr>
          <a:xfrm>
            <a:off x="9144000" y="2304288"/>
            <a:ext cx="219456" cy="237744"/>
          </a:xfrm>
          <a:prstGeom prst="rect">
            <a:avLst/>
          </a:prstGeom>
          <a:noFill/>
          <a:ln/>
        </p:spPr>
        <p:txBody>
          <a:bodyPr wrap="square" lIns="0" tIns="0" rIns="0" bIns="0" rtlCol="0" anchor="t">
            <a:normAutofit fontScale="92500" lnSpcReduction="20000"/>
          </a:bodyPr>
          <a:lstStyle/>
          <a:p>
            <a:pPr marL="0" indent="0" algn="ctr">
              <a:buNone/>
            </a:pPr>
            <a:r>
              <a:rPr lang="en-US" sz="1900" b="1" dirty="0">
                <a:solidFill>
                  <a:srgbClr val="2457D6"/>
                </a:solidFill>
                <a:latin typeface="Times New Roman" panose="02020603050405020304" pitchFamily="18" charset="0"/>
                <a:ea typeface="Aptos" pitchFamily="34" charset="-122"/>
                <a:cs typeface="Times New Roman" panose="02020603050405020304" pitchFamily="18" charset="0"/>
              </a:rPr>
              <a:t>→</a:t>
            </a:r>
            <a:endParaRPr lang="en-US" sz="1900" dirty="0">
              <a:latin typeface="Times New Roman" panose="02020603050405020304" pitchFamily="18" charset="0"/>
              <a:cs typeface="Times New Roman" panose="02020603050405020304" pitchFamily="18" charset="0"/>
            </a:endParaRPr>
          </a:p>
        </p:txBody>
      </p:sp>
      <p:sp>
        <p:nvSpPr>
          <p:cNvPr id="21" name="Shape 19"/>
          <p:cNvSpPr/>
          <p:nvPr/>
        </p:nvSpPr>
        <p:spPr>
          <a:xfrm>
            <a:off x="9308592" y="1874520"/>
            <a:ext cx="1956816" cy="1234440"/>
          </a:xfrm>
          <a:prstGeom prst="roundRect">
            <a:avLst>
              <a:gd name="adj" fmla="val 8889"/>
            </a:avLst>
          </a:prstGeom>
          <a:solidFill>
            <a:srgbClr val="EAF8F0"/>
          </a:solidFill>
          <a:ln w="10160">
            <a:solidFill>
              <a:srgbClr val="EAF8F0"/>
            </a:solidFill>
            <a:prstDash val="solid"/>
          </a:ln>
        </p:spPr>
      </p:sp>
      <p:sp>
        <p:nvSpPr>
          <p:cNvPr id="22" name="Text 20"/>
          <p:cNvSpPr/>
          <p:nvPr/>
        </p:nvSpPr>
        <p:spPr>
          <a:xfrm>
            <a:off x="9454896" y="2157984"/>
            <a:ext cx="1664208" cy="256032"/>
          </a:xfrm>
          <a:prstGeom prst="rect">
            <a:avLst/>
          </a:prstGeom>
          <a:noFill/>
          <a:ln/>
        </p:spPr>
        <p:txBody>
          <a:bodyPr wrap="square" lIns="0" tIns="0" rIns="0" bIns="0" rtlCol="0" anchor="t">
            <a:normAutofit/>
          </a:bodyPr>
          <a:lstStyle/>
          <a:p>
            <a:pPr marL="0" indent="0" algn="ctr">
              <a:buNone/>
            </a:pPr>
            <a:r>
              <a:rPr lang="en-US" sz="1300" b="1" dirty="0">
                <a:solidFill>
                  <a:srgbClr val="1FA971"/>
                </a:solidFill>
                <a:latin typeface="Times New Roman" panose="02020603050405020304" pitchFamily="18" charset="0"/>
                <a:ea typeface="Aptos" pitchFamily="34" charset="-122"/>
                <a:cs typeface="Times New Roman" panose="02020603050405020304" pitchFamily="18" charset="0"/>
              </a:rPr>
              <a:t>model.joblib</a:t>
            </a:r>
            <a:endParaRPr lang="en-US" sz="1300" dirty="0">
              <a:latin typeface="Times New Roman" panose="02020603050405020304" pitchFamily="18" charset="0"/>
              <a:cs typeface="Times New Roman" panose="02020603050405020304" pitchFamily="18" charset="0"/>
            </a:endParaRPr>
          </a:p>
        </p:txBody>
      </p:sp>
      <p:sp>
        <p:nvSpPr>
          <p:cNvPr id="23" name="Text 21"/>
          <p:cNvSpPr/>
          <p:nvPr/>
        </p:nvSpPr>
        <p:spPr>
          <a:xfrm>
            <a:off x="9436608" y="2551176"/>
            <a:ext cx="1700784" cy="256032"/>
          </a:xfrm>
          <a:prstGeom prst="rect">
            <a:avLst/>
          </a:prstGeom>
          <a:noFill/>
          <a:ln/>
        </p:spPr>
        <p:txBody>
          <a:bodyPr wrap="square" lIns="0" tIns="0" rIns="0" bIns="0" rtlCol="0" anchor="t">
            <a:normAutofit/>
          </a:bodyPr>
          <a:lstStyle/>
          <a:p>
            <a:pPr marL="0" indent="0" algn="ctr">
              <a:buNone/>
            </a:pPr>
            <a:r>
              <a:rPr lang="en-US" sz="920" dirty="0">
                <a:solidFill>
                  <a:srgbClr val="63758A"/>
                </a:solidFill>
                <a:latin typeface="Times New Roman" panose="02020603050405020304" pitchFamily="18" charset="0"/>
                <a:ea typeface="Aptos" pitchFamily="34" charset="-122"/>
                <a:cs typeface="Times New Roman" panose="02020603050405020304" pitchFamily="18" charset="0"/>
              </a:rPr>
              <a:t>Logistic Regression v1.0.0</a:t>
            </a:r>
            <a:endParaRPr lang="en-US" sz="920" dirty="0">
              <a:latin typeface="Times New Roman" panose="02020603050405020304" pitchFamily="18" charset="0"/>
              <a:cs typeface="Times New Roman" panose="02020603050405020304" pitchFamily="18" charset="0"/>
            </a:endParaRPr>
          </a:p>
        </p:txBody>
      </p:sp>
      <p:sp>
        <p:nvSpPr>
          <p:cNvPr id="24" name="Shape 22"/>
          <p:cNvSpPr/>
          <p:nvPr/>
        </p:nvSpPr>
        <p:spPr>
          <a:xfrm>
            <a:off x="5029200" y="3675888"/>
            <a:ext cx="2331720" cy="1234440"/>
          </a:xfrm>
          <a:prstGeom prst="roundRect">
            <a:avLst>
              <a:gd name="adj" fmla="val 8889"/>
            </a:avLst>
          </a:prstGeom>
          <a:solidFill>
            <a:srgbClr val="F2F5F9"/>
          </a:solidFill>
          <a:ln w="10160">
            <a:solidFill>
              <a:srgbClr val="D9E3EE"/>
            </a:solidFill>
            <a:prstDash val="solid"/>
          </a:ln>
        </p:spPr>
      </p:sp>
      <p:sp>
        <p:nvSpPr>
          <p:cNvPr id="25" name="Text 23"/>
          <p:cNvSpPr/>
          <p:nvPr/>
        </p:nvSpPr>
        <p:spPr>
          <a:xfrm>
            <a:off x="5239512" y="3931920"/>
            <a:ext cx="1920240" cy="256032"/>
          </a:xfrm>
          <a:prstGeom prst="rect">
            <a:avLst/>
          </a:prstGeom>
          <a:noFill/>
          <a:ln/>
        </p:spPr>
        <p:txBody>
          <a:bodyPr wrap="square" lIns="0" tIns="0" rIns="0" bIns="0" rtlCol="0" anchor="t">
            <a:normAutofit/>
          </a:bodyPr>
          <a:lstStyle/>
          <a:p>
            <a:pPr marL="0" indent="0" algn="ctr">
              <a:buNone/>
            </a:pPr>
            <a:r>
              <a:rPr lang="en-US" sz="1300" b="1" dirty="0">
                <a:solidFill>
                  <a:srgbClr val="102A43"/>
                </a:solidFill>
                <a:latin typeface="Times New Roman" panose="02020603050405020304" pitchFamily="18" charset="0"/>
                <a:ea typeface="Aptos" pitchFamily="34" charset="-122"/>
                <a:cs typeface="Times New Roman" panose="02020603050405020304" pitchFamily="18" charset="0"/>
              </a:rPr>
              <a:t>MongoDB</a:t>
            </a:r>
            <a:endParaRPr lang="en-US" sz="1300" dirty="0">
              <a:latin typeface="Times New Roman" panose="02020603050405020304" pitchFamily="18" charset="0"/>
              <a:cs typeface="Times New Roman" panose="02020603050405020304" pitchFamily="18" charset="0"/>
            </a:endParaRPr>
          </a:p>
        </p:txBody>
      </p:sp>
      <p:sp>
        <p:nvSpPr>
          <p:cNvPr id="26" name="Text 24"/>
          <p:cNvSpPr/>
          <p:nvPr/>
        </p:nvSpPr>
        <p:spPr>
          <a:xfrm>
            <a:off x="5193792" y="4315968"/>
            <a:ext cx="1993392" cy="310896"/>
          </a:xfrm>
          <a:prstGeom prst="rect">
            <a:avLst/>
          </a:prstGeom>
          <a:noFill/>
          <a:ln/>
        </p:spPr>
        <p:txBody>
          <a:bodyPr wrap="square" lIns="0" tIns="0" rIns="0" bIns="0" rtlCol="0" anchor="t">
            <a:normAutofit/>
          </a:bodyPr>
          <a:lstStyle/>
          <a:p>
            <a:pPr marL="0" indent="0" algn="ctr">
              <a:buNone/>
            </a:pPr>
            <a:r>
              <a:rPr lang="en-US" sz="930" dirty="0">
                <a:solidFill>
                  <a:srgbClr val="63758A"/>
                </a:solidFill>
                <a:latin typeface="Times New Roman" panose="02020603050405020304" pitchFamily="18" charset="0"/>
                <a:ea typeface="Aptos" pitchFamily="34" charset="-122"/>
                <a:cs typeface="Times New Roman" panose="02020603050405020304" pitchFamily="18" charset="0"/>
              </a:rPr>
              <a:t>27017 nội bộ • prediction history</a:t>
            </a:r>
            <a:endParaRPr lang="en-US" sz="930" dirty="0">
              <a:latin typeface="Times New Roman" panose="02020603050405020304" pitchFamily="18" charset="0"/>
              <a:cs typeface="Times New Roman" panose="02020603050405020304" pitchFamily="18" charset="0"/>
            </a:endParaRPr>
          </a:p>
        </p:txBody>
      </p:sp>
      <p:sp>
        <p:nvSpPr>
          <p:cNvPr id="27" name="Text 25"/>
          <p:cNvSpPr/>
          <p:nvPr/>
        </p:nvSpPr>
        <p:spPr>
          <a:xfrm>
            <a:off x="6016752" y="3182112"/>
            <a:ext cx="329184" cy="347472"/>
          </a:xfrm>
          <a:prstGeom prst="rect">
            <a:avLst/>
          </a:prstGeom>
          <a:noFill/>
          <a:ln/>
        </p:spPr>
        <p:txBody>
          <a:bodyPr wrap="square" lIns="0" tIns="0" rIns="0" bIns="0" rtlCol="0" anchor="t">
            <a:normAutofit/>
          </a:bodyPr>
          <a:lstStyle/>
          <a:p>
            <a:pPr marL="0" indent="0" algn="ctr">
              <a:buNone/>
            </a:pPr>
            <a:r>
              <a:rPr lang="en-US" sz="2000" b="1" dirty="0">
                <a:solidFill>
                  <a:srgbClr val="0E9F9A"/>
                </a:solidFill>
                <a:latin typeface="Times New Roman" panose="02020603050405020304" pitchFamily="18" charset="0"/>
                <a:ea typeface="Aptos"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8" name="Shape 26"/>
          <p:cNvSpPr/>
          <p:nvPr/>
        </p:nvSpPr>
        <p:spPr>
          <a:xfrm>
            <a:off x="804672" y="5212080"/>
            <a:ext cx="2450592" cy="640080"/>
          </a:xfrm>
          <a:prstGeom prst="roundRect">
            <a:avLst>
              <a:gd name="adj" fmla="val 11429"/>
            </a:avLst>
          </a:prstGeom>
          <a:solidFill>
            <a:srgbClr val="FFFFFF"/>
          </a:solidFill>
          <a:ln w="10160">
            <a:solidFill>
              <a:srgbClr val="D9E3EE"/>
            </a:solidFill>
            <a:prstDash val="solid"/>
          </a:ln>
        </p:spPr>
      </p:sp>
      <p:sp>
        <p:nvSpPr>
          <p:cNvPr id="29" name="Text 27"/>
          <p:cNvSpPr/>
          <p:nvPr/>
        </p:nvSpPr>
        <p:spPr>
          <a:xfrm>
            <a:off x="987552" y="5376672"/>
            <a:ext cx="749808" cy="201168"/>
          </a:xfrm>
          <a:prstGeom prst="rect">
            <a:avLst/>
          </a:prstGeom>
          <a:noFill/>
          <a:ln/>
        </p:spPr>
        <p:txBody>
          <a:bodyPr wrap="square" lIns="0" tIns="0" rIns="0" bIns="0" rtlCol="0" anchor="t">
            <a:normAutofit/>
          </a:bodyPr>
          <a:lstStyle/>
          <a:p>
            <a:pPr marL="0" indent="0" algn="l">
              <a:buNone/>
            </a:pPr>
            <a:r>
              <a:rPr lang="en-US" sz="900" b="1" dirty="0">
                <a:solidFill>
                  <a:srgbClr val="2457D6"/>
                </a:solidFill>
                <a:latin typeface="Times New Roman" panose="02020603050405020304" pitchFamily="18" charset="0"/>
                <a:ea typeface="Aptos" pitchFamily="34" charset="-122"/>
                <a:cs typeface="Times New Roman" panose="02020603050405020304" pitchFamily="18" charset="0"/>
              </a:rPr>
              <a:t>Frontend</a:t>
            </a:r>
            <a:endParaRPr lang="en-US" sz="900" dirty="0">
              <a:latin typeface="Times New Roman" panose="02020603050405020304" pitchFamily="18" charset="0"/>
              <a:cs typeface="Times New Roman" panose="02020603050405020304" pitchFamily="18" charset="0"/>
            </a:endParaRPr>
          </a:p>
        </p:txBody>
      </p:sp>
      <p:sp>
        <p:nvSpPr>
          <p:cNvPr id="30" name="Text 28"/>
          <p:cNvSpPr/>
          <p:nvPr/>
        </p:nvSpPr>
        <p:spPr>
          <a:xfrm>
            <a:off x="1773936" y="5358384"/>
            <a:ext cx="1243584" cy="256032"/>
          </a:xfrm>
          <a:prstGeom prst="rect">
            <a:avLst/>
          </a:prstGeom>
          <a:noFill/>
          <a:ln/>
        </p:spPr>
        <p:txBody>
          <a:bodyPr wrap="square" lIns="0" tIns="0" rIns="0" bIns="0" rtlCol="0" anchor="t">
            <a:normAutofit lnSpcReduction="10000"/>
          </a:bodyPr>
          <a:lstStyle/>
          <a:p>
            <a:pPr marL="0" indent="0" algn="l">
              <a:buNone/>
            </a:pPr>
            <a:r>
              <a:rPr lang="en-US" sz="900" dirty="0">
                <a:solidFill>
                  <a:srgbClr val="63758A"/>
                </a:solidFill>
                <a:latin typeface="Times New Roman" panose="02020603050405020304" pitchFamily="18" charset="0"/>
                <a:ea typeface="Aptos" pitchFamily="34" charset="-122"/>
                <a:cs typeface="Times New Roman" panose="02020603050405020304" pitchFamily="18" charset="0"/>
              </a:rPr>
              <a:t>24 input • probability • history</a:t>
            </a:r>
            <a:endParaRPr lang="en-US" sz="900" dirty="0">
              <a:latin typeface="Times New Roman" panose="02020603050405020304" pitchFamily="18" charset="0"/>
              <a:cs typeface="Times New Roman" panose="02020603050405020304" pitchFamily="18" charset="0"/>
            </a:endParaRPr>
          </a:p>
        </p:txBody>
      </p:sp>
      <p:sp>
        <p:nvSpPr>
          <p:cNvPr id="31" name="Shape 29"/>
          <p:cNvSpPr/>
          <p:nvPr/>
        </p:nvSpPr>
        <p:spPr>
          <a:xfrm>
            <a:off x="3401568" y="5212080"/>
            <a:ext cx="2450592" cy="640080"/>
          </a:xfrm>
          <a:prstGeom prst="roundRect">
            <a:avLst>
              <a:gd name="adj" fmla="val 11429"/>
            </a:avLst>
          </a:prstGeom>
          <a:solidFill>
            <a:srgbClr val="FFFFFF"/>
          </a:solidFill>
          <a:ln w="10160">
            <a:solidFill>
              <a:srgbClr val="D9E3EE"/>
            </a:solidFill>
            <a:prstDash val="solid"/>
          </a:ln>
        </p:spPr>
      </p:sp>
      <p:sp>
        <p:nvSpPr>
          <p:cNvPr id="32" name="Text 30"/>
          <p:cNvSpPr/>
          <p:nvPr/>
        </p:nvSpPr>
        <p:spPr>
          <a:xfrm>
            <a:off x="3584448" y="5376672"/>
            <a:ext cx="731520" cy="201168"/>
          </a:xfrm>
          <a:prstGeom prst="rect">
            <a:avLst/>
          </a:prstGeom>
          <a:noFill/>
          <a:ln/>
        </p:spPr>
        <p:txBody>
          <a:bodyPr wrap="square" lIns="0" tIns="0" rIns="0" bIns="0" rtlCol="0" anchor="t">
            <a:normAutofit/>
          </a:bodyPr>
          <a:lstStyle/>
          <a:p>
            <a:pPr marL="0" indent="0" algn="l">
              <a:buNone/>
            </a:pPr>
            <a:r>
              <a:rPr lang="en-US" sz="900" b="1" dirty="0">
                <a:solidFill>
                  <a:srgbClr val="0E9F9A"/>
                </a:solidFill>
                <a:latin typeface="Times New Roman" panose="02020603050405020304" pitchFamily="18" charset="0"/>
                <a:ea typeface="Aptos" pitchFamily="34" charset="-122"/>
                <a:cs typeface="Times New Roman" panose="02020603050405020304" pitchFamily="18" charset="0"/>
              </a:rPr>
              <a:t>Backend</a:t>
            </a:r>
            <a:endParaRPr lang="en-US" sz="900" dirty="0">
              <a:latin typeface="Times New Roman" panose="02020603050405020304" pitchFamily="18" charset="0"/>
              <a:cs typeface="Times New Roman" panose="02020603050405020304" pitchFamily="18" charset="0"/>
            </a:endParaRPr>
          </a:p>
        </p:txBody>
      </p:sp>
      <p:sp>
        <p:nvSpPr>
          <p:cNvPr id="33" name="Text 31"/>
          <p:cNvSpPr/>
          <p:nvPr/>
        </p:nvSpPr>
        <p:spPr>
          <a:xfrm>
            <a:off x="4370832" y="5358384"/>
            <a:ext cx="1243584" cy="256032"/>
          </a:xfrm>
          <a:prstGeom prst="rect">
            <a:avLst/>
          </a:prstGeom>
          <a:noFill/>
          <a:ln/>
        </p:spPr>
        <p:txBody>
          <a:bodyPr wrap="square" lIns="0" tIns="0" rIns="0" bIns="0" rtlCol="0" anchor="t">
            <a:normAutofit/>
          </a:bodyPr>
          <a:lstStyle/>
          <a:p>
            <a:pPr marL="0" indent="0" algn="l">
              <a:buNone/>
            </a:pPr>
            <a:r>
              <a:rPr lang="en-US" sz="900" dirty="0">
                <a:solidFill>
                  <a:srgbClr val="63758A"/>
                </a:solidFill>
                <a:latin typeface="Times New Roman" panose="02020603050405020304" pitchFamily="18" charset="0"/>
                <a:ea typeface="Aptos" pitchFamily="34" charset="-122"/>
                <a:cs typeface="Times New Roman" panose="02020603050405020304" pitchFamily="18" charset="0"/>
              </a:rPr>
              <a:t>validate • request_id • DB</a:t>
            </a:r>
            <a:endParaRPr lang="en-US" sz="900" dirty="0">
              <a:latin typeface="Times New Roman" panose="02020603050405020304" pitchFamily="18" charset="0"/>
              <a:cs typeface="Times New Roman" panose="02020603050405020304" pitchFamily="18" charset="0"/>
            </a:endParaRPr>
          </a:p>
        </p:txBody>
      </p:sp>
      <p:sp>
        <p:nvSpPr>
          <p:cNvPr id="34" name="Shape 32"/>
          <p:cNvSpPr/>
          <p:nvPr/>
        </p:nvSpPr>
        <p:spPr>
          <a:xfrm>
            <a:off x="5998464" y="5212080"/>
            <a:ext cx="2450592" cy="640080"/>
          </a:xfrm>
          <a:prstGeom prst="roundRect">
            <a:avLst>
              <a:gd name="adj" fmla="val 11429"/>
            </a:avLst>
          </a:prstGeom>
          <a:solidFill>
            <a:srgbClr val="FFFFFF"/>
          </a:solidFill>
          <a:ln w="10160">
            <a:solidFill>
              <a:srgbClr val="D9E3EE"/>
            </a:solidFill>
            <a:prstDash val="solid"/>
          </a:ln>
        </p:spPr>
      </p:sp>
      <p:sp>
        <p:nvSpPr>
          <p:cNvPr id="35" name="Text 33"/>
          <p:cNvSpPr/>
          <p:nvPr/>
        </p:nvSpPr>
        <p:spPr>
          <a:xfrm>
            <a:off x="6181344" y="5376672"/>
            <a:ext cx="804672" cy="201168"/>
          </a:xfrm>
          <a:prstGeom prst="rect">
            <a:avLst/>
          </a:prstGeom>
          <a:noFill/>
          <a:ln/>
        </p:spPr>
        <p:txBody>
          <a:bodyPr wrap="square" lIns="0" tIns="0" rIns="0" bIns="0" rtlCol="0" anchor="t">
            <a:normAutofit/>
          </a:bodyPr>
          <a:lstStyle/>
          <a:p>
            <a:pPr marL="0" indent="0" algn="l">
              <a:buNone/>
            </a:pPr>
            <a:r>
              <a:rPr lang="en-US" sz="900" b="1" dirty="0">
                <a:solidFill>
                  <a:srgbClr val="E7A61A"/>
                </a:solidFill>
                <a:latin typeface="Times New Roman" panose="02020603050405020304" pitchFamily="18" charset="0"/>
                <a:ea typeface="Aptos" pitchFamily="34" charset="-122"/>
                <a:cs typeface="Times New Roman" panose="02020603050405020304" pitchFamily="18" charset="0"/>
              </a:rPr>
              <a:t>AI Service</a:t>
            </a:r>
            <a:endParaRPr lang="en-US" sz="900" dirty="0">
              <a:latin typeface="Times New Roman" panose="02020603050405020304" pitchFamily="18" charset="0"/>
              <a:cs typeface="Times New Roman" panose="02020603050405020304" pitchFamily="18" charset="0"/>
            </a:endParaRPr>
          </a:p>
        </p:txBody>
      </p:sp>
      <p:sp>
        <p:nvSpPr>
          <p:cNvPr id="36" name="Text 34"/>
          <p:cNvSpPr/>
          <p:nvPr/>
        </p:nvSpPr>
        <p:spPr>
          <a:xfrm>
            <a:off x="7059168" y="5358384"/>
            <a:ext cx="1170432" cy="256032"/>
          </a:xfrm>
          <a:prstGeom prst="rect">
            <a:avLst/>
          </a:prstGeom>
          <a:noFill/>
          <a:ln/>
        </p:spPr>
        <p:txBody>
          <a:bodyPr wrap="square" lIns="0" tIns="0" rIns="0" bIns="0" rtlCol="0" anchor="t">
            <a:normAutofit lnSpcReduction="10000"/>
          </a:bodyPr>
          <a:lstStyle/>
          <a:p>
            <a:pPr marL="0" indent="0" algn="l">
              <a:buNone/>
            </a:pPr>
            <a:r>
              <a:rPr lang="en-US" sz="900" dirty="0">
                <a:solidFill>
                  <a:srgbClr val="63758A"/>
                </a:solidFill>
                <a:latin typeface="Times New Roman" panose="02020603050405020304" pitchFamily="18" charset="0"/>
                <a:ea typeface="Aptos" pitchFamily="34" charset="-122"/>
                <a:cs typeface="Times New Roman" panose="02020603050405020304" pitchFamily="18" charset="0"/>
              </a:rPr>
              <a:t>schema • inference • explanation</a:t>
            </a:r>
            <a:endParaRPr lang="en-US" sz="900" dirty="0">
              <a:latin typeface="Times New Roman" panose="02020603050405020304" pitchFamily="18" charset="0"/>
              <a:cs typeface="Times New Roman" panose="02020603050405020304" pitchFamily="18" charset="0"/>
            </a:endParaRPr>
          </a:p>
        </p:txBody>
      </p:sp>
      <p:sp>
        <p:nvSpPr>
          <p:cNvPr id="37" name="Shape 35"/>
          <p:cNvSpPr/>
          <p:nvPr/>
        </p:nvSpPr>
        <p:spPr>
          <a:xfrm>
            <a:off x="8595360" y="5212080"/>
            <a:ext cx="2450592" cy="640080"/>
          </a:xfrm>
          <a:prstGeom prst="roundRect">
            <a:avLst>
              <a:gd name="adj" fmla="val 11429"/>
            </a:avLst>
          </a:prstGeom>
          <a:solidFill>
            <a:srgbClr val="FFFFFF"/>
          </a:solidFill>
          <a:ln w="10160">
            <a:solidFill>
              <a:srgbClr val="D9E3EE"/>
            </a:solidFill>
            <a:prstDash val="solid"/>
          </a:ln>
        </p:spPr>
      </p:sp>
      <p:sp>
        <p:nvSpPr>
          <p:cNvPr id="38" name="Text 36"/>
          <p:cNvSpPr/>
          <p:nvPr/>
        </p:nvSpPr>
        <p:spPr>
          <a:xfrm>
            <a:off x="8778240" y="5376672"/>
            <a:ext cx="749808" cy="201168"/>
          </a:xfrm>
          <a:prstGeom prst="rect">
            <a:avLst/>
          </a:prstGeom>
          <a:noFill/>
          <a:ln/>
        </p:spPr>
        <p:txBody>
          <a:bodyPr wrap="square" lIns="0" tIns="0" rIns="0" bIns="0" rtlCol="0" anchor="t">
            <a:normAutofit/>
          </a:bodyPr>
          <a:lstStyle/>
          <a:p>
            <a:pPr marL="0" indent="0" algn="l">
              <a:buNone/>
            </a:pPr>
            <a:r>
              <a:rPr lang="en-US" sz="900" b="1" dirty="0">
                <a:solidFill>
                  <a:srgbClr val="1FA971"/>
                </a:solidFill>
                <a:latin typeface="Times New Roman" panose="02020603050405020304" pitchFamily="18" charset="0"/>
                <a:ea typeface="Aptos" pitchFamily="34" charset="-122"/>
                <a:cs typeface="Times New Roman" panose="02020603050405020304" pitchFamily="18" charset="0"/>
              </a:rPr>
              <a:t>MongoDB</a:t>
            </a:r>
            <a:endParaRPr lang="en-US" sz="900" dirty="0">
              <a:latin typeface="Times New Roman" panose="02020603050405020304" pitchFamily="18" charset="0"/>
              <a:cs typeface="Times New Roman" panose="02020603050405020304" pitchFamily="18" charset="0"/>
            </a:endParaRPr>
          </a:p>
        </p:txBody>
      </p:sp>
      <p:sp>
        <p:nvSpPr>
          <p:cNvPr id="39" name="Text 37"/>
          <p:cNvSpPr/>
          <p:nvPr/>
        </p:nvSpPr>
        <p:spPr>
          <a:xfrm>
            <a:off x="9582912" y="5358384"/>
            <a:ext cx="1225296" cy="256032"/>
          </a:xfrm>
          <a:prstGeom prst="rect">
            <a:avLst/>
          </a:prstGeom>
          <a:noFill/>
          <a:ln/>
        </p:spPr>
        <p:txBody>
          <a:bodyPr wrap="square" lIns="0" tIns="0" rIns="0" bIns="0" rtlCol="0" anchor="t">
            <a:normAutofit lnSpcReduction="10000"/>
          </a:bodyPr>
          <a:lstStyle/>
          <a:p>
            <a:pPr marL="0" indent="0" algn="l">
              <a:buNone/>
            </a:pPr>
            <a:r>
              <a:rPr lang="en-US" sz="900" dirty="0">
                <a:solidFill>
                  <a:srgbClr val="63758A"/>
                </a:solidFill>
                <a:latin typeface="Times New Roman" panose="02020603050405020304" pitchFamily="18" charset="0"/>
                <a:ea typeface="Aptos" pitchFamily="34" charset="-122"/>
                <a:cs typeface="Times New Roman" panose="02020603050405020304" pitchFamily="18" charset="0"/>
              </a:rPr>
              <a:t>lưu lịch sử • named volume</a:t>
            </a:r>
            <a:endParaRPr lang="en-US" sz="900" dirty="0">
              <a:latin typeface="Times New Roman" panose="02020603050405020304" pitchFamily="18" charset="0"/>
              <a:cs typeface="Times New Roman" panose="02020603050405020304" pitchFamily="18" charset="0"/>
            </a:endParaRPr>
          </a:p>
        </p:txBody>
      </p:sp>
      <p:sp>
        <p:nvSpPr>
          <p:cNvPr id="40" name="Text 38"/>
          <p:cNvSpPr/>
          <p:nvPr/>
        </p:nvSpPr>
        <p:spPr>
          <a:xfrm>
            <a:off x="640080" y="6291072"/>
            <a:ext cx="9875520" cy="182880"/>
          </a:xfrm>
          <a:prstGeom prst="rect">
            <a:avLst/>
          </a:prstGeom>
          <a:noFill/>
          <a:ln/>
        </p:spPr>
        <p:txBody>
          <a:bodyPr wrap="square" lIns="0" tIns="0" rIns="0" bIns="0" rtlCol="0" anchor="t">
            <a:normAutofit/>
          </a:bodyPr>
          <a:lstStyle/>
          <a:p>
            <a:pPr marL="0" indent="0" algn="l">
              <a:buNone/>
            </a:pPr>
            <a:r>
              <a:rPr lang="en-US" sz="860" dirty="0">
                <a:solidFill>
                  <a:srgbClr val="63758A"/>
                </a:solidFill>
                <a:latin typeface="Times New Roman" panose="02020603050405020304" pitchFamily="18" charset="0"/>
                <a:ea typeface="Aptos" pitchFamily="34" charset="-122"/>
                <a:cs typeface="Times New Roman" panose="02020603050405020304" pitchFamily="18" charset="0"/>
              </a:rPr>
              <a:t>MongoDB không publish trực tiếp port 27017 ra host trong cấu hình hiện tại.</a:t>
            </a:r>
            <a:endParaRPr lang="en-US" sz="860" dirty="0">
              <a:latin typeface="Times New Roman" panose="02020603050405020304" pitchFamily="18" charset="0"/>
              <a:cs typeface="Times New Roman" panose="02020603050405020304" pitchFamily="18" charset="0"/>
            </a:endParaRPr>
          </a:p>
        </p:txBody>
      </p:sp>
      <p:sp>
        <p:nvSpPr>
          <p:cNvPr id="41"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latin typeface="Times New Roman" panose="02020603050405020304" pitchFamily="18" charset="0"/>
                <a:cs typeface="Times New Roman" panose="02020603050405020304" pitchFamily="18" charset="0"/>
              </a:rPr>
              <a:t>15</a:t>
            </a:fld>
            <a:endParaRPr lang="en-US">
              <a:latin typeface="Times New Roman" panose="02020603050405020304" pitchFamily="18" charset="0"/>
              <a:cs typeface="Times New Roman" panose="02020603050405020304" pitchFamily="18" charset="0"/>
            </a:endParaRPr>
          </a:p>
        </p:txBody>
      </p:sp>
      <p:sp>
        <p:nvSpPr>
          <p:cNvPr id="42"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13</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latin typeface="Times New Roman" panose="02020603050405020304" pitchFamily="18" charset="0"/>
                <a:cs typeface="Times New Roman" panose="02020603050405020304" pitchFamily="18" charset="0"/>
              </a:rPr>
              <a:t>Request Flow, Docker Compose &amp; cấu hình chạy</a:t>
            </a:r>
            <a:endParaRPr lang="en-US" sz="2500" dirty="0">
              <a:latin typeface="Times New Roman" panose="02020603050405020304" pitchFamily="18" charset="0"/>
              <a:cs typeface="Times New Roman" panose="02020603050405020304" pitchFamily="18" charset="0"/>
            </a:endParaRPr>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latin typeface="Times New Roman" panose="02020603050405020304" pitchFamily="18" charset="0"/>
                <a:cs typeface="Times New Roman" panose="02020603050405020304" pitchFamily="18" charset="0"/>
              </a:rPr>
              <a:t>Luồng prediction được trace xuyên suốt bằng request_id</a:t>
            </a:r>
            <a:endParaRPr lang="en-US" sz="1080" dirty="0">
              <a:latin typeface="Times New Roman" panose="02020603050405020304" pitchFamily="18" charset="0"/>
              <a:cs typeface="Times New Roman" panose="02020603050405020304" pitchFamily="18" charset="0"/>
            </a:endParaRPr>
          </a:p>
        </p:txBody>
      </p:sp>
      <p:sp>
        <p:nvSpPr>
          <p:cNvPr id="5" name="Shape 3"/>
          <p:cNvSpPr/>
          <p:nvPr/>
        </p:nvSpPr>
        <p:spPr>
          <a:xfrm>
            <a:off x="658368" y="1572768"/>
            <a:ext cx="6400800" cy="4526280"/>
          </a:xfrm>
          <a:prstGeom prst="roundRect">
            <a:avLst>
              <a:gd name="adj" fmla="val 2424"/>
            </a:avLst>
          </a:prstGeom>
          <a:solidFill>
            <a:srgbClr val="FFFFFF"/>
          </a:solidFill>
          <a:ln w="10160">
            <a:solidFill>
              <a:srgbClr val="D9E3EE"/>
            </a:solidFill>
            <a:prstDash val="solid"/>
          </a:ln>
          <a:effectLst>
            <a:outerShdw algn="bl" rotWithShape="0">
              <a:srgbClr val="000000">
                <a:alpha val="0"/>
              </a:srgbClr>
            </a:outerShdw>
          </a:effectLst>
        </p:spPr>
      </p:sp>
      <p:sp>
        <p:nvSpPr>
          <p:cNvPr id="6" name="Text 4"/>
          <p:cNvSpPr/>
          <p:nvPr/>
        </p:nvSpPr>
        <p:spPr>
          <a:xfrm>
            <a:off x="914400" y="1801368"/>
            <a:ext cx="2743200" cy="256032"/>
          </a:xfrm>
          <a:prstGeom prst="rect">
            <a:avLst/>
          </a:prstGeom>
          <a:noFill/>
          <a:ln/>
        </p:spPr>
        <p:txBody>
          <a:bodyPr wrap="square" lIns="0" tIns="0" rIns="0" bIns="0" rtlCol="0" anchor="t">
            <a:normAutofit/>
          </a:bodyPr>
          <a:lstStyle/>
          <a:p>
            <a:pPr marL="0" indent="0" algn="l">
              <a:buNone/>
            </a:pPr>
            <a:r>
              <a:rPr lang="en-US" sz="1300" b="1" dirty="0">
                <a:solidFill>
                  <a:srgbClr val="102A43"/>
                </a:solidFill>
                <a:latin typeface="Times New Roman" panose="02020603050405020304" pitchFamily="18" charset="0"/>
                <a:ea typeface="Aptos" pitchFamily="34" charset="-122"/>
                <a:cs typeface="Times New Roman" panose="02020603050405020304" pitchFamily="18" charset="0"/>
              </a:rPr>
              <a:t>Luồng một request dự đoán</a:t>
            </a:r>
            <a:endParaRPr lang="en-US" sz="1300" dirty="0">
              <a:latin typeface="Times New Roman" panose="02020603050405020304" pitchFamily="18" charset="0"/>
              <a:cs typeface="Times New Roman" panose="02020603050405020304" pitchFamily="18" charset="0"/>
            </a:endParaRPr>
          </a:p>
        </p:txBody>
      </p:sp>
      <p:sp>
        <p:nvSpPr>
          <p:cNvPr id="7" name="Shape 5"/>
          <p:cNvSpPr/>
          <p:nvPr/>
        </p:nvSpPr>
        <p:spPr>
          <a:xfrm>
            <a:off x="932688" y="2221992"/>
            <a:ext cx="256032" cy="256032"/>
          </a:xfrm>
          <a:prstGeom prst="ellipse">
            <a:avLst/>
          </a:prstGeom>
          <a:solidFill>
            <a:srgbClr val="EDF4FF"/>
          </a:solidFill>
          <a:ln w="12700">
            <a:solidFill>
              <a:srgbClr val="2457D6"/>
            </a:solidFill>
            <a:prstDash val="solid"/>
          </a:ln>
        </p:spPr>
      </p:sp>
      <p:sp>
        <p:nvSpPr>
          <p:cNvPr id="8" name="Text 6"/>
          <p:cNvSpPr/>
          <p:nvPr/>
        </p:nvSpPr>
        <p:spPr>
          <a:xfrm>
            <a:off x="932688" y="2258568"/>
            <a:ext cx="256032" cy="173736"/>
          </a:xfrm>
          <a:prstGeom prst="rect">
            <a:avLst/>
          </a:prstGeom>
          <a:noFill/>
          <a:ln/>
        </p:spPr>
        <p:txBody>
          <a:bodyPr wrap="square" lIns="0" tIns="0" rIns="0" bIns="0" rtlCol="0" anchor="t">
            <a:normAutofit/>
          </a:bodyPr>
          <a:lstStyle/>
          <a:p>
            <a:pPr marL="0" indent="0" algn="ctr">
              <a:buNone/>
            </a:pPr>
            <a:r>
              <a:rPr lang="en-US" sz="850" b="1" dirty="0">
                <a:solidFill>
                  <a:srgbClr val="2457D6"/>
                </a:solidFill>
                <a:latin typeface="Times New Roman" panose="02020603050405020304" pitchFamily="18" charset="0"/>
                <a:ea typeface="Aptos" pitchFamily="34" charset="-122"/>
                <a:cs typeface="Times New Roman" panose="02020603050405020304" pitchFamily="18" charset="0"/>
              </a:rPr>
              <a:t>1</a:t>
            </a:r>
            <a:endParaRPr lang="en-US" sz="850" dirty="0">
              <a:latin typeface="Times New Roman" panose="02020603050405020304" pitchFamily="18" charset="0"/>
              <a:cs typeface="Times New Roman" panose="02020603050405020304" pitchFamily="18" charset="0"/>
            </a:endParaRPr>
          </a:p>
        </p:txBody>
      </p:sp>
      <p:sp>
        <p:nvSpPr>
          <p:cNvPr id="9" name="Text 7"/>
          <p:cNvSpPr/>
          <p:nvPr/>
        </p:nvSpPr>
        <p:spPr>
          <a:xfrm>
            <a:off x="1353312" y="2212848"/>
            <a:ext cx="5212080" cy="256032"/>
          </a:xfrm>
          <a:prstGeom prst="rect">
            <a:avLst/>
          </a:prstGeom>
          <a:noFill/>
          <a:ln/>
        </p:spPr>
        <p:txBody>
          <a:bodyPr wrap="square" lIns="0" tIns="0" rIns="0" bIns="0" rtlCol="0" anchor="t">
            <a:normAutofit/>
          </a:bodyPr>
          <a:lstStyle/>
          <a:p>
            <a:pPr marL="0" indent="0" algn="l">
              <a:buNone/>
            </a:pPr>
            <a:r>
              <a:rPr lang="en-US" sz="1050" dirty="0">
                <a:solidFill>
                  <a:srgbClr val="243B53"/>
                </a:solidFill>
                <a:latin typeface="Times New Roman" panose="02020603050405020304" pitchFamily="18" charset="0"/>
                <a:ea typeface="Aptos" pitchFamily="34" charset="-122"/>
                <a:cs typeface="Times New Roman" panose="02020603050405020304" pitchFamily="18" charset="0"/>
              </a:rPr>
              <a:t>Browser tạo request</a:t>
            </a:r>
            <a:endParaRPr lang="en-US" sz="1050" dirty="0">
              <a:latin typeface="Times New Roman" panose="02020603050405020304" pitchFamily="18" charset="0"/>
              <a:cs typeface="Times New Roman" panose="02020603050405020304" pitchFamily="18" charset="0"/>
            </a:endParaRPr>
          </a:p>
        </p:txBody>
      </p:sp>
      <p:sp>
        <p:nvSpPr>
          <p:cNvPr id="10" name="Shape 8"/>
          <p:cNvSpPr/>
          <p:nvPr/>
        </p:nvSpPr>
        <p:spPr>
          <a:xfrm>
            <a:off x="1060704" y="2478024"/>
            <a:ext cx="0" cy="182880"/>
          </a:xfrm>
          <a:prstGeom prst="line">
            <a:avLst/>
          </a:prstGeom>
          <a:noFill/>
          <a:ln w="15240">
            <a:solidFill>
              <a:srgbClr val="D9E3EE"/>
            </a:solidFill>
            <a:prstDash val="solid"/>
          </a:ln>
        </p:spPr>
      </p:sp>
      <p:sp>
        <p:nvSpPr>
          <p:cNvPr id="11" name="Shape 9"/>
          <p:cNvSpPr/>
          <p:nvPr/>
        </p:nvSpPr>
        <p:spPr>
          <a:xfrm>
            <a:off x="932688" y="2660904"/>
            <a:ext cx="256032" cy="256032"/>
          </a:xfrm>
          <a:prstGeom prst="ellipse">
            <a:avLst/>
          </a:prstGeom>
          <a:solidFill>
            <a:srgbClr val="EDF4FF"/>
          </a:solidFill>
          <a:ln w="12700">
            <a:solidFill>
              <a:srgbClr val="2457D6"/>
            </a:solidFill>
            <a:prstDash val="solid"/>
          </a:ln>
        </p:spPr>
      </p:sp>
      <p:sp>
        <p:nvSpPr>
          <p:cNvPr id="12" name="Text 10"/>
          <p:cNvSpPr/>
          <p:nvPr/>
        </p:nvSpPr>
        <p:spPr>
          <a:xfrm>
            <a:off x="932688" y="2697480"/>
            <a:ext cx="256032" cy="173736"/>
          </a:xfrm>
          <a:prstGeom prst="rect">
            <a:avLst/>
          </a:prstGeom>
          <a:noFill/>
          <a:ln/>
        </p:spPr>
        <p:txBody>
          <a:bodyPr wrap="square" lIns="0" tIns="0" rIns="0" bIns="0" rtlCol="0" anchor="t">
            <a:normAutofit/>
          </a:bodyPr>
          <a:lstStyle/>
          <a:p>
            <a:pPr marL="0" indent="0" algn="ctr">
              <a:buNone/>
            </a:pPr>
            <a:r>
              <a:rPr lang="en-US" sz="850" b="1" dirty="0">
                <a:solidFill>
                  <a:srgbClr val="2457D6"/>
                </a:solidFill>
                <a:latin typeface="Times New Roman" panose="02020603050405020304" pitchFamily="18" charset="0"/>
                <a:ea typeface="Aptos" pitchFamily="34" charset="-122"/>
                <a:cs typeface="Times New Roman" panose="02020603050405020304" pitchFamily="18" charset="0"/>
              </a:rPr>
              <a:t>2</a:t>
            </a:r>
            <a:endParaRPr lang="en-US" sz="850" dirty="0">
              <a:latin typeface="Times New Roman" panose="02020603050405020304" pitchFamily="18" charset="0"/>
              <a:cs typeface="Times New Roman" panose="02020603050405020304" pitchFamily="18" charset="0"/>
            </a:endParaRPr>
          </a:p>
        </p:txBody>
      </p:sp>
      <p:sp>
        <p:nvSpPr>
          <p:cNvPr id="13" name="Text 11"/>
          <p:cNvSpPr/>
          <p:nvPr/>
        </p:nvSpPr>
        <p:spPr>
          <a:xfrm>
            <a:off x="1353312" y="2651760"/>
            <a:ext cx="5212080" cy="256032"/>
          </a:xfrm>
          <a:prstGeom prst="rect">
            <a:avLst/>
          </a:prstGeom>
          <a:noFill/>
          <a:ln/>
        </p:spPr>
        <p:txBody>
          <a:bodyPr wrap="square" lIns="0" tIns="0" rIns="0" bIns="0" rtlCol="0" anchor="t">
            <a:normAutofit/>
          </a:bodyPr>
          <a:lstStyle/>
          <a:p>
            <a:pPr marL="0" indent="0" algn="l">
              <a:buNone/>
            </a:pPr>
            <a:r>
              <a:rPr lang="en-US" sz="1050" dirty="0">
                <a:solidFill>
                  <a:srgbClr val="243B53"/>
                </a:solidFill>
                <a:latin typeface="Times New Roman" panose="02020603050405020304" pitchFamily="18" charset="0"/>
                <a:ea typeface="Aptos" pitchFamily="34" charset="-122"/>
                <a:cs typeface="Times New Roman" panose="02020603050405020304" pitchFamily="18" charset="0"/>
              </a:rPr>
              <a:t>Nginx nhận /api</a:t>
            </a:r>
            <a:endParaRPr lang="en-US" sz="1050" dirty="0">
              <a:latin typeface="Times New Roman" panose="02020603050405020304" pitchFamily="18" charset="0"/>
              <a:cs typeface="Times New Roman" panose="02020603050405020304" pitchFamily="18" charset="0"/>
            </a:endParaRPr>
          </a:p>
        </p:txBody>
      </p:sp>
      <p:sp>
        <p:nvSpPr>
          <p:cNvPr id="14" name="Shape 12"/>
          <p:cNvSpPr/>
          <p:nvPr/>
        </p:nvSpPr>
        <p:spPr>
          <a:xfrm>
            <a:off x="1060704" y="2916936"/>
            <a:ext cx="0" cy="182880"/>
          </a:xfrm>
          <a:prstGeom prst="line">
            <a:avLst/>
          </a:prstGeom>
          <a:noFill/>
          <a:ln w="15240">
            <a:solidFill>
              <a:srgbClr val="D9E3EE"/>
            </a:solidFill>
            <a:prstDash val="solid"/>
          </a:ln>
        </p:spPr>
      </p:sp>
      <p:sp>
        <p:nvSpPr>
          <p:cNvPr id="15" name="Shape 13"/>
          <p:cNvSpPr/>
          <p:nvPr/>
        </p:nvSpPr>
        <p:spPr>
          <a:xfrm>
            <a:off x="932688" y="3099816"/>
            <a:ext cx="256032" cy="256032"/>
          </a:xfrm>
          <a:prstGeom prst="ellipse">
            <a:avLst/>
          </a:prstGeom>
          <a:solidFill>
            <a:srgbClr val="EDF4FF"/>
          </a:solidFill>
          <a:ln w="12700">
            <a:solidFill>
              <a:srgbClr val="2457D6"/>
            </a:solidFill>
            <a:prstDash val="solid"/>
          </a:ln>
        </p:spPr>
      </p:sp>
      <p:sp>
        <p:nvSpPr>
          <p:cNvPr id="16" name="Text 14"/>
          <p:cNvSpPr/>
          <p:nvPr/>
        </p:nvSpPr>
        <p:spPr>
          <a:xfrm>
            <a:off x="932688" y="3136392"/>
            <a:ext cx="256032" cy="173736"/>
          </a:xfrm>
          <a:prstGeom prst="rect">
            <a:avLst/>
          </a:prstGeom>
          <a:noFill/>
          <a:ln/>
        </p:spPr>
        <p:txBody>
          <a:bodyPr wrap="square" lIns="0" tIns="0" rIns="0" bIns="0" rtlCol="0" anchor="t">
            <a:normAutofit/>
          </a:bodyPr>
          <a:lstStyle/>
          <a:p>
            <a:pPr marL="0" indent="0" algn="ctr">
              <a:buNone/>
            </a:pPr>
            <a:r>
              <a:rPr lang="en-US" sz="850" b="1" dirty="0">
                <a:solidFill>
                  <a:srgbClr val="2457D6"/>
                </a:solidFill>
                <a:latin typeface="Times New Roman" panose="02020603050405020304" pitchFamily="18" charset="0"/>
                <a:ea typeface="Aptos" pitchFamily="34" charset="-122"/>
                <a:cs typeface="Times New Roman" panose="02020603050405020304" pitchFamily="18" charset="0"/>
              </a:rPr>
              <a:t>3</a:t>
            </a:r>
            <a:endParaRPr lang="en-US" sz="850" dirty="0">
              <a:latin typeface="Times New Roman" panose="02020603050405020304" pitchFamily="18" charset="0"/>
              <a:cs typeface="Times New Roman" panose="02020603050405020304" pitchFamily="18" charset="0"/>
            </a:endParaRPr>
          </a:p>
        </p:txBody>
      </p:sp>
      <p:sp>
        <p:nvSpPr>
          <p:cNvPr id="17" name="Text 15"/>
          <p:cNvSpPr/>
          <p:nvPr/>
        </p:nvSpPr>
        <p:spPr>
          <a:xfrm>
            <a:off x="1353312" y="3090672"/>
            <a:ext cx="5212080" cy="256032"/>
          </a:xfrm>
          <a:prstGeom prst="rect">
            <a:avLst/>
          </a:prstGeom>
          <a:noFill/>
          <a:ln/>
        </p:spPr>
        <p:txBody>
          <a:bodyPr wrap="square" lIns="0" tIns="0" rIns="0" bIns="0" rtlCol="0" anchor="t">
            <a:normAutofit/>
          </a:bodyPr>
          <a:lstStyle/>
          <a:p>
            <a:pPr marL="0" indent="0" algn="l">
              <a:buNone/>
            </a:pPr>
            <a:r>
              <a:rPr lang="en-US" sz="1050" dirty="0">
                <a:solidFill>
                  <a:srgbClr val="243B53"/>
                </a:solidFill>
                <a:latin typeface="Times New Roman" panose="02020603050405020304" pitchFamily="18" charset="0"/>
                <a:ea typeface="Aptos" pitchFamily="34" charset="-122"/>
                <a:cs typeface="Times New Roman" panose="02020603050405020304" pitchFamily="18" charset="0"/>
              </a:rPr>
              <a:t>Backend validate input</a:t>
            </a:r>
            <a:endParaRPr lang="en-US" sz="1050" dirty="0">
              <a:latin typeface="Times New Roman" panose="02020603050405020304" pitchFamily="18" charset="0"/>
              <a:cs typeface="Times New Roman" panose="02020603050405020304" pitchFamily="18" charset="0"/>
            </a:endParaRPr>
          </a:p>
        </p:txBody>
      </p:sp>
      <p:sp>
        <p:nvSpPr>
          <p:cNvPr id="18" name="Shape 16"/>
          <p:cNvSpPr/>
          <p:nvPr/>
        </p:nvSpPr>
        <p:spPr>
          <a:xfrm>
            <a:off x="1060704" y="3355848"/>
            <a:ext cx="0" cy="182880"/>
          </a:xfrm>
          <a:prstGeom prst="line">
            <a:avLst/>
          </a:prstGeom>
          <a:noFill/>
          <a:ln w="15240">
            <a:solidFill>
              <a:srgbClr val="D9E3EE"/>
            </a:solidFill>
            <a:prstDash val="solid"/>
          </a:ln>
        </p:spPr>
      </p:sp>
      <p:sp>
        <p:nvSpPr>
          <p:cNvPr id="19" name="Shape 17"/>
          <p:cNvSpPr/>
          <p:nvPr/>
        </p:nvSpPr>
        <p:spPr>
          <a:xfrm>
            <a:off x="932688" y="3538728"/>
            <a:ext cx="256032" cy="256032"/>
          </a:xfrm>
          <a:prstGeom prst="ellipse">
            <a:avLst/>
          </a:prstGeom>
          <a:solidFill>
            <a:srgbClr val="EDF4FF"/>
          </a:solidFill>
          <a:ln w="12700">
            <a:solidFill>
              <a:srgbClr val="2457D6"/>
            </a:solidFill>
            <a:prstDash val="solid"/>
          </a:ln>
        </p:spPr>
      </p:sp>
      <p:sp>
        <p:nvSpPr>
          <p:cNvPr id="20" name="Text 18"/>
          <p:cNvSpPr/>
          <p:nvPr/>
        </p:nvSpPr>
        <p:spPr>
          <a:xfrm>
            <a:off x="932688" y="3575304"/>
            <a:ext cx="256032" cy="173736"/>
          </a:xfrm>
          <a:prstGeom prst="rect">
            <a:avLst/>
          </a:prstGeom>
          <a:noFill/>
          <a:ln/>
        </p:spPr>
        <p:txBody>
          <a:bodyPr wrap="square" lIns="0" tIns="0" rIns="0" bIns="0" rtlCol="0" anchor="t">
            <a:normAutofit/>
          </a:bodyPr>
          <a:lstStyle/>
          <a:p>
            <a:pPr marL="0" indent="0" algn="ctr">
              <a:buNone/>
            </a:pPr>
            <a:r>
              <a:rPr lang="en-US" sz="850" b="1" dirty="0">
                <a:solidFill>
                  <a:srgbClr val="2457D6"/>
                </a:solidFill>
                <a:latin typeface="Times New Roman" panose="02020603050405020304" pitchFamily="18" charset="0"/>
                <a:ea typeface="Aptos" pitchFamily="34" charset="-122"/>
                <a:cs typeface="Times New Roman" panose="02020603050405020304" pitchFamily="18" charset="0"/>
              </a:rPr>
              <a:t>4</a:t>
            </a:r>
            <a:endParaRPr lang="en-US" sz="850" dirty="0">
              <a:latin typeface="Times New Roman" panose="02020603050405020304" pitchFamily="18" charset="0"/>
              <a:cs typeface="Times New Roman" panose="02020603050405020304" pitchFamily="18" charset="0"/>
            </a:endParaRPr>
          </a:p>
        </p:txBody>
      </p:sp>
      <p:sp>
        <p:nvSpPr>
          <p:cNvPr id="21" name="Text 19"/>
          <p:cNvSpPr/>
          <p:nvPr/>
        </p:nvSpPr>
        <p:spPr>
          <a:xfrm>
            <a:off x="1353312" y="3529584"/>
            <a:ext cx="5212080" cy="256032"/>
          </a:xfrm>
          <a:prstGeom prst="rect">
            <a:avLst/>
          </a:prstGeom>
          <a:noFill/>
          <a:ln/>
        </p:spPr>
        <p:txBody>
          <a:bodyPr wrap="square" lIns="0" tIns="0" rIns="0" bIns="0" rtlCol="0" anchor="t">
            <a:normAutofit/>
          </a:bodyPr>
          <a:lstStyle/>
          <a:p>
            <a:pPr marL="0" indent="0" algn="l">
              <a:buNone/>
            </a:pPr>
            <a:r>
              <a:rPr lang="en-US" sz="1050" dirty="0">
                <a:solidFill>
                  <a:srgbClr val="243B53"/>
                </a:solidFill>
                <a:latin typeface="Times New Roman" panose="02020603050405020304" pitchFamily="18" charset="0"/>
                <a:ea typeface="Aptos" pitchFamily="34" charset="-122"/>
                <a:cs typeface="Times New Roman" panose="02020603050405020304" pitchFamily="18" charset="0"/>
              </a:rPr>
              <a:t>Backend gọi AI Service</a:t>
            </a:r>
            <a:endParaRPr lang="en-US" sz="1050" dirty="0">
              <a:latin typeface="Times New Roman" panose="02020603050405020304" pitchFamily="18" charset="0"/>
              <a:cs typeface="Times New Roman" panose="02020603050405020304" pitchFamily="18" charset="0"/>
            </a:endParaRPr>
          </a:p>
        </p:txBody>
      </p:sp>
      <p:sp>
        <p:nvSpPr>
          <p:cNvPr id="22" name="Shape 20"/>
          <p:cNvSpPr/>
          <p:nvPr/>
        </p:nvSpPr>
        <p:spPr>
          <a:xfrm>
            <a:off x="1060704" y="3794760"/>
            <a:ext cx="0" cy="182880"/>
          </a:xfrm>
          <a:prstGeom prst="line">
            <a:avLst/>
          </a:prstGeom>
          <a:noFill/>
          <a:ln w="15240">
            <a:solidFill>
              <a:srgbClr val="D9E3EE"/>
            </a:solidFill>
            <a:prstDash val="solid"/>
          </a:ln>
        </p:spPr>
      </p:sp>
      <p:sp>
        <p:nvSpPr>
          <p:cNvPr id="23" name="Shape 21"/>
          <p:cNvSpPr/>
          <p:nvPr/>
        </p:nvSpPr>
        <p:spPr>
          <a:xfrm>
            <a:off x="932688" y="3977640"/>
            <a:ext cx="256032" cy="256032"/>
          </a:xfrm>
          <a:prstGeom prst="ellipse">
            <a:avLst/>
          </a:prstGeom>
          <a:solidFill>
            <a:srgbClr val="EDF4FF"/>
          </a:solidFill>
          <a:ln w="12700">
            <a:solidFill>
              <a:srgbClr val="2457D6"/>
            </a:solidFill>
            <a:prstDash val="solid"/>
          </a:ln>
        </p:spPr>
      </p:sp>
      <p:sp>
        <p:nvSpPr>
          <p:cNvPr id="24" name="Text 22"/>
          <p:cNvSpPr/>
          <p:nvPr/>
        </p:nvSpPr>
        <p:spPr>
          <a:xfrm>
            <a:off x="932688" y="4014216"/>
            <a:ext cx="256032" cy="173736"/>
          </a:xfrm>
          <a:prstGeom prst="rect">
            <a:avLst/>
          </a:prstGeom>
          <a:noFill/>
          <a:ln/>
        </p:spPr>
        <p:txBody>
          <a:bodyPr wrap="square" lIns="0" tIns="0" rIns="0" bIns="0" rtlCol="0" anchor="t">
            <a:normAutofit/>
          </a:bodyPr>
          <a:lstStyle/>
          <a:p>
            <a:pPr marL="0" indent="0" algn="ctr">
              <a:buNone/>
            </a:pPr>
            <a:r>
              <a:rPr lang="en-US" sz="850" b="1" dirty="0">
                <a:solidFill>
                  <a:srgbClr val="2457D6"/>
                </a:solidFill>
                <a:latin typeface="Times New Roman" panose="02020603050405020304" pitchFamily="18" charset="0"/>
                <a:ea typeface="Aptos" pitchFamily="34" charset="-122"/>
                <a:cs typeface="Times New Roman" panose="02020603050405020304" pitchFamily="18" charset="0"/>
              </a:rPr>
              <a:t>5</a:t>
            </a:r>
            <a:endParaRPr lang="en-US" sz="850" dirty="0">
              <a:latin typeface="Times New Roman" panose="02020603050405020304" pitchFamily="18" charset="0"/>
              <a:cs typeface="Times New Roman" panose="02020603050405020304" pitchFamily="18" charset="0"/>
            </a:endParaRPr>
          </a:p>
        </p:txBody>
      </p:sp>
      <p:sp>
        <p:nvSpPr>
          <p:cNvPr id="25" name="Text 23"/>
          <p:cNvSpPr/>
          <p:nvPr/>
        </p:nvSpPr>
        <p:spPr>
          <a:xfrm>
            <a:off x="1353312" y="3968496"/>
            <a:ext cx="5212080" cy="256032"/>
          </a:xfrm>
          <a:prstGeom prst="rect">
            <a:avLst/>
          </a:prstGeom>
          <a:noFill/>
          <a:ln/>
        </p:spPr>
        <p:txBody>
          <a:bodyPr wrap="square" lIns="0" tIns="0" rIns="0" bIns="0" rtlCol="0" anchor="t">
            <a:normAutofit/>
          </a:bodyPr>
          <a:lstStyle/>
          <a:p>
            <a:pPr marL="0" indent="0" algn="l">
              <a:buNone/>
            </a:pPr>
            <a:r>
              <a:rPr lang="en-US" sz="1050" b="1" dirty="0">
                <a:solidFill>
                  <a:srgbClr val="243B53"/>
                </a:solidFill>
                <a:latin typeface="Times New Roman" panose="02020603050405020304" pitchFamily="18" charset="0"/>
                <a:ea typeface="Aptos" pitchFamily="34" charset="-122"/>
                <a:cs typeface="Times New Roman" panose="02020603050405020304" pitchFamily="18" charset="0"/>
              </a:rPr>
              <a:t>AI validate + model inference</a:t>
            </a:r>
            <a:endParaRPr lang="en-US" sz="1050" dirty="0">
              <a:latin typeface="Times New Roman" panose="02020603050405020304" pitchFamily="18" charset="0"/>
              <a:cs typeface="Times New Roman" panose="02020603050405020304" pitchFamily="18" charset="0"/>
            </a:endParaRPr>
          </a:p>
        </p:txBody>
      </p:sp>
      <p:sp>
        <p:nvSpPr>
          <p:cNvPr id="26" name="Shape 24"/>
          <p:cNvSpPr/>
          <p:nvPr/>
        </p:nvSpPr>
        <p:spPr>
          <a:xfrm>
            <a:off x="1060704" y="4233672"/>
            <a:ext cx="0" cy="182880"/>
          </a:xfrm>
          <a:prstGeom prst="line">
            <a:avLst/>
          </a:prstGeom>
          <a:noFill/>
          <a:ln w="15240">
            <a:solidFill>
              <a:srgbClr val="D9E3EE"/>
            </a:solidFill>
            <a:prstDash val="solid"/>
          </a:ln>
        </p:spPr>
      </p:sp>
      <p:sp>
        <p:nvSpPr>
          <p:cNvPr id="27" name="Shape 25"/>
          <p:cNvSpPr/>
          <p:nvPr/>
        </p:nvSpPr>
        <p:spPr>
          <a:xfrm>
            <a:off x="932688" y="4416552"/>
            <a:ext cx="256032" cy="256032"/>
          </a:xfrm>
          <a:prstGeom prst="ellipse">
            <a:avLst/>
          </a:prstGeom>
          <a:solidFill>
            <a:srgbClr val="EAF8F7"/>
          </a:solidFill>
          <a:ln w="12700">
            <a:solidFill>
              <a:srgbClr val="0E9F9A"/>
            </a:solidFill>
            <a:prstDash val="solid"/>
          </a:ln>
        </p:spPr>
      </p:sp>
      <p:sp>
        <p:nvSpPr>
          <p:cNvPr id="28" name="Text 26"/>
          <p:cNvSpPr/>
          <p:nvPr/>
        </p:nvSpPr>
        <p:spPr>
          <a:xfrm>
            <a:off x="932688" y="4453128"/>
            <a:ext cx="256032" cy="173736"/>
          </a:xfrm>
          <a:prstGeom prst="rect">
            <a:avLst/>
          </a:prstGeom>
          <a:noFill/>
          <a:ln/>
        </p:spPr>
        <p:txBody>
          <a:bodyPr wrap="square" lIns="0" tIns="0" rIns="0" bIns="0" rtlCol="0" anchor="t">
            <a:normAutofit/>
          </a:bodyPr>
          <a:lstStyle/>
          <a:p>
            <a:pPr marL="0" indent="0" algn="ctr">
              <a:buNone/>
            </a:pPr>
            <a:r>
              <a:rPr lang="en-US" sz="850" b="1" dirty="0">
                <a:solidFill>
                  <a:srgbClr val="0E9F9A"/>
                </a:solidFill>
                <a:latin typeface="Times New Roman" panose="02020603050405020304" pitchFamily="18" charset="0"/>
                <a:ea typeface="Aptos" pitchFamily="34" charset="-122"/>
                <a:cs typeface="Times New Roman" panose="02020603050405020304" pitchFamily="18" charset="0"/>
              </a:rPr>
              <a:t>6</a:t>
            </a:r>
            <a:endParaRPr lang="en-US" sz="850" dirty="0">
              <a:latin typeface="Times New Roman" panose="02020603050405020304" pitchFamily="18" charset="0"/>
              <a:cs typeface="Times New Roman" panose="02020603050405020304" pitchFamily="18" charset="0"/>
            </a:endParaRPr>
          </a:p>
        </p:txBody>
      </p:sp>
      <p:sp>
        <p:nvSpPr>
          <p:cNvPr id="29" name="Text 27"/>
          <p:cNvSpPr/>
          <p:nvPr/>
        </p:nvSpPr>
        <p:spPr>
          <a:xfrm>
            <a:off x="1353312" y="4407408"/>
            <a:ext cx="5212080" cy="256032"/>
          </a:xfrm>
          <a:prstGeom prst="rect">
            <a:avLst/>
          </a:prstGeom>
          <a:noFill/>
          <a:ln/>
        </p:spPr>
        <p:txBody>
          <a:bodyPr wrap="square" lIns="0" tIns="0" rIns="0" bIns="0" rtlCol="0" anchor="t">
            <a:normAutofit/>
          </a:bodyPr>
          <a:lstStyle/>
          <a:p>
            <a:pPr marL="0" indent="0" algn="l">
              <a:buNone/>
            </a:pPr>
            <a:r>
              <a:rPr lang="en-US" sz="1050" b="1" dirty="0">
                <a:solidFill>
                  <a:srgbClr val="243B53"/>
                </a:solidFill>
                <a:latin typeface="Times New Roman" panose="02020603050405020304" pitchFamily="18" charset="0"/>
                <a:ea typeface="Aptos" pitchFamily="34" charset="-122"/>
                <a:cs typeface="Times New Roman" panose="02020603050405020304" pitchFamily="18" charset="0"/>
              </a:rPr>
              <a:t>Prediction + probability + explanation</a:t>
            </a:r>
            <a:endParaRPr lang="en-US" sz="1050" dirty="0">
              <a:latin typeface="Times New Roman" panose="02020603050405020304" pitchFamily="18" charset="0"/>
              <a:cs typeface="Times New Roman" panose="02020603050405020304" pitchFamily="18" charset="0"/>
            </a:endParaRPr>
          </a:p>
        </p:txBody>
      </p:sp>
      <p:sp>
        <p:nvSpPr>
          <p:cNvPr id="30" name="Shape 28"/>
          <p:cNvSpPr/>
          <p:nvPr/>
        </p:nvSpPr>
        <p:spPr>
          <a:xfrm>
            <a:off x="1060704" y="4672584"/>
            <a:ext cx="0" cy="182880"/>
          </a:xfrm>
          <a:prstGeom prst="line">
            <a:avLst/>
          </a:prstGeom>
          <a:noFill/>
          <a:ln w="15240">
            <a:solidFill>
              <a:srgbClr val="D9E3EE"/>
            </a:solidFill>
            <a:prstDash val="solid"/>
          </a:ln>
        </p:spPr>
      </p:sp>
      <p:sp>
        <p:nvSpPr>
          <p:cNvPr id="31" name="Shape 29"/>
          <p:cNvSpPr/>
          <p:nvPr/>
        </p:nvSpPr>
        <p:spPr>
          <a:xfrm>
            <a:off x="932688" y="4855464"/>
            <a:ext cx="256032" cy="256032"/>
          </a:xfrm>
          <a:prstGeom prst="ellipse">
            <a:avLst/>
          </a:prstGeom>
          <a:solidFill>
            <a:srgbClr val="EAF8F7"/>
          </a:solidFill>
          <a:ln w="12700">
            <a:solidFill>
              <a:srgbClr val="0E9F9A"/>
            </a:solidFill>
            <a:prstDash val="solid"/>
          </a:ln>
        </p:spPr>
      </p:sp>
      <p:sp>
        <p:nvSpPr>
          <p:cNvPr id="32" name="Text 30"/>
          <p:cNvSpPr/>
          <p:nvPr/>
        </p:nvSpPr>
        <p:spPr>
          <a:xfrm>
            <a:off x="932688" y="4892040"/>
            <a:ext cx="256032" cy="173736"/>
          </a:xfrm>
          <a:prstGeom prst="rect">
            <a:avLst/>
          </a:prstGeom>
          <a:noFill/>
          <a:ln/>
        </p:spPr>
        <p:txBody>
          <a:bodyPr wrap="square" lIns="0" tIns="0" rIns="0" bIns="0" rtlCol="0" anchor="t">
            <a:normAutofit/>
          </a:bodyPr>
          <a:lstStyle/>
          <a:p>
            <a:pPr marL="0" indent="0" algn="ctr">
              <a:buNone/>
            </a:pPr>
            <a:r>
              <a:rPr lang="en-US" sz="850" b="1" dirty="0">
                <a:solidFill>
                  <a:srgbClr val="0E9F9A"/>
                </a:solidFill>
                <a:latin typeface="Times New Roman" panose="02020603050405020304" pitchFamily="18" charset="0"/>
                <a:ea typeface="Aptos" pitchFamily="34" charset="-122"/>
                <a:cs typeface="Times New Roman" panose="02020603050405020304" pitchFamily="18" charset="0"/>
              </a:rPr>
              <a:t>7</a:t>
            </a:r>
            <a:endParaRPr lang="en-US" sz="850" dirty="0">
              <a:latin typeface="Times New Roman" panose="02020603050405020304" pitchFamily="18" charset="0"/>
              <a:cs typeface="Times New Roman" panose="02020603050405020304" pitchFamily="18" charset="0"/>
            </a:endParaRPr>
          </a:p>
        </p:txBody>
      </p:sp>
      <p:sp>
        <p:nvSpPr>
          <p:cNvPr id="33" name="Text 31"/>
          <p:cNvSpPr/>
          <p:nvPr/>
        </p:nvSpPr>
        <p:spPr>
          <a:xfrm>
            <a:off x="1353312" y="4846320"/>
            <a:ext cx="5212080" cy="256032"/>
          </a:xfrm>
          <a:prstGeom prst="rect">
            <a:avLst/>
          </a:prstGeom>
          <a:noFill/>
          <a:ln/>
        </p:spPr>
        <p:txBody>
          <a:bodyPr wrap="square" lIns="0" tIns="0" rIns="0" bIns="0" rtlCol="0" anchor="t">
            <a:normAutofit/>
          </a:bodyPr>
          <a:lstStyle/>
          <a:p>
            <a:pPr marL="0" indent="0" algn="l">
              <a:buNone/>
            </a:pPr>
            <a:r>
              <a:rPr lang="en-US" sz="1050" dirty="0">
                <a:solidFill>
                  <a:srgbClr val="243B53"/>
                </a:solidFill>
                <a:latin typeface="Times New Roman" panose="02020603050405020304" pitchFamily="18" charset="0"/>
                <a:ea typeface="Aptos" pitchFamily="34" charset="-122"/>
                <a:cs typeface="Times New Roman" panose="02020603050405020304" pitchFamily="18" charset="0"/>
              </a:rPr>
              <a:t>Backend lưu MongoDB</a:t>
            </a:r>
            <a:endParaRPr lang="en-US" sz="1050" dirty="0">
              <a:latin typeface="Times New Roman" panose="02020603050405020304" pitchFamily="18" charset="0"/>
              <a:cs typeface="Times New Roman" panose="02020603050405020304" pitchFamily="18" charset="0"/>
            </a:endParaRPr>
          </a:p>
        </p:txBody>
      </p:sp>
      <p:sp>
        <p:nvSpPr>
          <p:cNvPr id="34" name="Shape 32"/>
          <p:cNvSpPr/>
          <p:nvPr/>
        </p:nvSpPr>
        <p:spPr>
          <a:xfrm>
            <a:off x="1060704" y="5111496"/>
            <a:ext cx="0" cy="182880"/>
          </a:xfrm>
          <a:prstGeom prst="line">
            <a:avLst/>
          </a:prstGeom>
          <a:noFill/>
          <a:ln w="15240">
            <a:solidFill>
              <a:srgbClr val="D9E3EE"/>
            </a:solidFill>
            <a:prstDash val="solid"/>
          </a:ln>
        </p:spPr>
      </p:sp>
      <p:sp>
        <p:nvSpPr>
          <p:cNvPr id="35" name="Shape 33"/>
          <p:cNvSpPr/>
          <p:nvPr/>
        </p:nvSpPr>
        <p:spPr>
          <a:xfrm>
            <a:off x="932688" y="5294376"/>
            <a:ext cx="256032" cy="256032"/>
          </a:xfrm>
          <a:prstGeom prst="ellipse">
            <a:avLst/>
          </a:prstGeom>
          <a:solidFill>
            <a:srgbClr val="EAF8F7"/>
          </a:solidFill>
          <a:ln w="12700">
            <a:solidFill>
              <a:srgbClr val="0E9F9A"/>
            </a:solidFill>
            <a:prstDash val="solid"/>
          </a:ln>
        </p:spPr>
      </p:sp>
      <p:sp>
        <p:nvSpPr>
          <p:cNvPr id="36" name="Text 34"/>
          <p:cNvSpPr/>
          <p:nvPr/>
        </p:nvSpPr>
        <p:spPr>
          <a:xfrm>
            <a:off x="932688" y="5330952"/>
            <a:ext cx="256032" cy="173736"/>
          </a:xfrm>
          <a:prstGeom prst="rect">
            <a:avLst/>
          </a:prstGeom>
          <a:noFill/>
          <a:ln/>
        </p:spPr>
        <p:txBody>
          <a:bodyPr wrap="square" lIns="0" tIns="0" rIns="0" bIns="0" rtlCol="0" anchor="t">
            <a:normAutofit/>
          </a:bodyPr>
          <a:lstStyle/>
          <a:p>
            <a:pPr marL="0" indent="0" algn="ctr">
              <a:buNone/>
            </a:pPr>
            <a:r>
              <a:rPr lang="en-US" sz="850" b="1" dirty="0">
                <a:solidFill>
                  <a:srgbClr val="0E9F9A"/>
                </a:solidFill>
                <a:latin typeface="Times New Roman" panose="02020603050405020304" pitchFamily="18" charset="0"/>
                <a:ea typeface="Aptos" pitchFamily="34" charset="-122"/>
                <a:cs typeface="Times New Roman" panose="02020603050405020304" pitchFamily="18" charset="0"/>
              </a:rPr>
              <a:t>8</a:t>
            </a:r>
            <a:endParaRPr lang="en-US" sz="850" dirty="0">
              <a:latin typeface="Times New Roman" panose="02020603050405020304" pitchFamily="18" charset="0"/>
              <a:cs typeface="Times New Roman" panose="02020603050405020304" pitchFamily="18" charset="0"/>
            </a:endParaRPr>
          </a:p>
        </p:txBody>
      </p:sp>
      <p:sp>
        <p:nvSpPr>
          <p:cNvPr id="37" name="Text 35"/>
          <p:cNvSpPr/>
          <p:nvPr/>
        </p:nvSpPr>
        <p:spPr>
          <a:xfrm>
            <a:off x="1353312" y="5285232"/>
            <a:ext cx="5212080" cy="256032"/>
          </a:xfrm>
          <a:prstGeom prst="rect">
            <a:avLst/>
          </a:prstGeom>
          <a:noFill/>
          <a:ln/>
        </p:spPr>
        <p:txBody>
          <a:bodyPr wrap="square" lIns="0" tIns="0" rIns="0" bIns="0" rtlCol="0" anchor="t">
            <a:normAutofit/>
          </a:bodyPr>
          <a:lstStyle/>
          <a:p>
            <a:pPr marL="0" indent="0" algn="l">
              <a:buNone/>
            </a:pPr>
            <a:r>
              <a:rPr lang="en-US" sz="1050" dirty="0">
                <a:solidFill>
                  <a:srgbClr val="243B53"/>
                </a:solidFill>
                <a:latin typeface="Times New Roman" panose="02020603050405020304" pitchFamily="18" charset="0"/>
                <a:ea typeface="Aptos" pitchFamily="34" charset="-122"/>
                <a:cs typeface="Times New Roman" panose="02020603050405020304" pitchFamily="18" charset="0"/>
              </a:rPr>
              <a:t>Frontend hiển thị kết quả</a:t>
            </a:r>
            <a:endParaRPr lang="en-US" sz="1050" dirty="0">
              <a:latin typeface="Times New Roman" panose="02020603050405020304" pitchFamily="18" charset="0"/>
              <a:cs typeface="Times New Roman" panose="02020603050405020304" pitchFamily="18" charset="0"/>
            </a:endParaRPr>
          </a:p>
        </p:txBody>
      </p:sp>
      <p:sp>
        <p:nvSpPr>
          <p:cNvPr id="38" name="Shape 36"/>
          <p:cNvSpPr/>
          <p:nvPr/>
        </p:nvSpPr>
        <p:spPr>
          <a:xfrm>
            <a:off x="7296912" y="1572768"/>
            <a:ext cx="4251960" cy="2084832"/>
          </a:xfrm>
          <a:prstGeom prst="roundRect">
            <a:avLst>
              <a:gd name="adj" fmla="val 5263"/>
            </a:avLst>
          </a:prstGeom>
          <a:solidFill>
            <a:srgbClr val="FFFFFF"/>
          </a:solidFill>
          <a:ln w="10160">
            <a:solidFill>
              <a:srgbClr val="D9E3EE"/>
            </a:solidFill>
            <a:prstDash val="solid"/>
          </a:ln>
          <a:effectLst>
            <a:outerShdw algn="bl" rotWithShape="0">
              <a:srgbClr val="000000">
                <a:alpha val="0"/>
              </a:srgbClr>
            </a:outerShdw>
          </a:effectLst>
        </p:spPr>
      </p:sp>
      <p:sp>
        <p:nvSpPr>
          <p:cNvPr id="39" name="Text 37"/>
          <p:cNvSpPr/>
          <p:nvPr/>
        </p:nvSpPr>
        <p:spPr>
          <a:xfrm>
            <a:off x="7571232" y="1810512"/>
            <a:ext cx="2926080" cy="256032"/>
          </a:xfrm>
          <a:prstGeom prst="rect">
            <a:avLst/>
          </a:prstGeom>
          <a:noFill/>
          <a:ln/>
        </p:spPr>
        <p:txBody>
          <a:bodyPr wrap="square" lIns="0" tIns="0" rIns="0" bIns="0" rtlCol="0" anchor="t">
            <a:normAutofit/>
          </a:bodyPr>
          <a:lstStyle/>
          <a:p>
            <a:pPr marL="0" indent="0" algn="l">
              <a:buNone/>
            </a:pPr>
            <a:r>
              <a:rPr lang="en-US" sz="1300" b="1" dirty="0">
                <a:solidFill>
                  <a:srgbClr val="102A43"/>
                </a:solidFill>
                <a:latin typeface="Times New Roman" panose="02020603050405020304" pitchFamily="18" charset="0"/>
                <a:ea typeface="Aptos" pitchFamily="34" charset="-122"/>
                <a:cs typeface="Times New Roman" panose="02020603050405020304" pitchFamily="18" charset="0"/>
              </a:rPr>
              <a:t>Docker Compose — 4 service</a:t>
            </a:r>
            <a:endParaRPr lang="en-US" sz="1300" dirty="0">
              <a:latin typeface="Times New Roman" panose="02020603050405020304" pitchFamily="18" charset="0"/>
              <a:cs typeface="Times New Roman" panose="02020603050405020304" pitchFamily="18" charset="0"/>
            </a:endParaRPr>
          </a:p>
        </p:txBody>
      </p:sp>
      <p:sp>
        <p:nvSpPr>
          <p:cNvPr id="40" name="Text 38"/>
          <p:cNvSpPr/>
          <p:nvPr/>
        </p:nvSpPr>
        <p:spPr>
          <a:xfrm>
            <a:off x="7589520" y="2267712"/>
            <a:ext cx="1627632" cy="201168"/>
          </a:xfrm>
          <a:prstGeom prst="rect">
            <a:avLst/>
          </a:prstGeom>
          <a:noFill/>
          <a:ln/>
        </p:spPr>
        <p:txBody>
          <a:bodyPr wrap="square" lIns="0" tIns="0" rIns="0" bIns="0" rtlCol="0" anchor="t">
            <a:normAutofit/>
          </a:bodyPr>
          <a:lstStyle/>
          <a:p>
            <a:pPr marL="0" indent="0" algn="l">
              <a:buNone/>
            </a:pPr>
            <a:r>
              <a:rPr lang="en-US" sz="1000" b="1" dirty="0">
                <a:solidFill>
                  <a:srgbClr val="243B53"/>
                </a:solidFill>
                <a:latin typeface="Times New Roman" panose="02020603050405020304" pitchFamily="18" charset="0"/>
                <a:ea typeface="Aptos" pitchFamily="34" charset="-122"/>
                <a:cs typeface="Times New Roman" panose="02020603050405020304" pitchFamily="18" charset="0"/>
              </a:rPr>
              <a:t>Frontend / Nginx</a:t>
            </a:r>
            <a:endParaRPr lang="en-US" sz="1000" dirty="0">
              <a:latin typeface="Times New Roman" panose="02020603050405020304" pitchFamily="18" charset="0"/>
              <a:cs typeface="Times New Roman" panose="02020603050405020304" pitchFamily="18" charset="0"/>
            </a:endParaRPr>
          </a:p>
        </p:txBody>
      </p:sp>
      <p:sp>
        <p:nvSpPr>
          <p:cNvPr id="41" name="Text 39"/>
          <p:cNvSpPr/>
          <p:nvPr/>
        </p:nvSpPr>
        <p:spPr>
          <a:xfrm>
            <a:off x="9528048" y="2267712"/>
            <a:ext cx="1417320" cy="201168"/>
          </a:xfrm>
          <a:prstGeom prst="rect">
            <a:avLst/>
          </a:prstGeom>
          <a:noFill/>
          <a:ln/>
        </p:spPr>
        <p:txBody>
          <a:bodyPr wrap="square" lIns="0" tIns="0" rIns="0" bIns="0" rtlCol="0" anchor="t">
            <a:normAutofit/>
          </a:bodyPr>
          <a:lstStyle/>
          <a:p>
            <a:pPr marL="0" indent="0" algn="r">
              <a:buNone/>
            </a:pPr>
            <a:r>
              <a:rPr lang="en-US" sz="1000" b="1" dirty="0">
                <a:solidFill>
                  <a:srgbClr val="2457D6"/>
                </a:solidFill>
                <a:latin typeface="Times New Roman" panose="02020603050405020304" pitchFamily="18" charset="0"/>
                <a:ea typeface="Aptos" pitchFamily="34" charset="-122"/>
                <a:cs typeface="Times New Roman" panose="02020603050405020304" pitchFamily="18" charset="0"/>
              </a:rPr>
              <a:t>3000</a:t>
            </a:r>
            <a:endParaRPr lang="en-US" sz="1000" dirty="0">
              <a:latin typeface="Times New Roman" panose="02020603050405020304" pitchFamily="18" charset="0"/>
              <a:cs typeface="Times New Roman" panose="02020603050405020304" pitchFamily="18" charset="0"/>
            </a:endParaRPr>
          </a:p>
        </p:txBody>
      </p:sp>
      <p:sp>
        <p:nvSpPr>
          <p:cNvPr id="42" name="Text 40"/>
          <p:cNvSpPr/>
          <p:nvPr/>
        </p:nvSpPr>
        <p:spPr>
          <a:xfrm>
            <a:off x="7589520" y="2578608"/>
            <a:ext cx="1627632" cy="201168"/>
          </a:xfrm>
          <a:prstGeom prst="rect">
            <a:avLst/>
          </a:prstGeom>
          <a:noFill/>
          <a:ln/>
        </p:spPr>
        <p:txBody>
          <a:bodyPr wrap="square" lIns="0" tIns="0" rIns="0" bIns="0" rtlCol="0" anchor="t">
            <a:normAutofit/>
          </a:bodyPr>
          <a:lstStyle/>
          <a:p>
            <a:pPr marL="0" indent="0" algn="l">
              <a:buNone/>
            </a:pPr>
            <a:r>
              <a:rPr lang="en-US" sz="1000" b="1" dirty="0">
                <a:solidFill>
                  <a:srgbClr val="243B53"/>
                </a:solidFill>
                <a:latin typeface="Times New Roman" panose="02020603050405020304" pitchFamily="18" charset="0"/>
                <a:ea typeface="Aptos" pitchFamily="34" charset="-122"/>
                <a:cs typeface="Times New Roman" panose="02020603050405020304" pitchFamily="18" charset="0"/>
              </a:rPr>
              <a:t>Backend</a:t>
            </a:r>
            <a:endParaRPr lang="en-US" sz="1000" dirty="0">
              <a:latin typeface="Times New Roman" panose="02020603050405020304" pitchFamily="18" charset="0"/>
              <a:cs typeface="Times New Roman" panose="02020603050405020304" pitchFamily="18" charset="0"/>
            </a:endParaRPr>
          </a:p>
        </p:txBody>
      </p:sp>
      <p:sp>
        <p:nvSpPr>
          <p:cNvPr id="43" name="Text 41"/>
          <p:cNvSpPr/>
          <p:nvPr/>
        </p:nvSpPr>
        <p:spPr>
          <a:xfrm>
            <a:off x="9528048" y="2578608"/>
            <a:ext cx="1417320" cy="201168"/>
          </a:xfrm>
          <a:prstGeom prst="rect">
            <a:avLst/>
          </a:prstGeom>
          <a:noFill/>
          <a:ln/>
        </p:spPr>
        <p:txBody>
          <a:bodyPr wrap="square" lIns="0" tIns="0" rIns="0" bIns="0" rtlCol="0" anchor="t">
            <a:normAutofit/>
          </a:bodyPr>
          <a:lstStyle/>
          <a:p>
            <a:pPr marL="0" indent="0" algn="r">
              <a:buNone/>
            </a:pPr>
            <a:r>
              <a:rPr lang="en-US" sz="1000" b="1" dirty="0">
                <a:solidFill>
                  <a:srgbClr val="0E9F9A"/>
                </a:solidFill>
                <a:latin typeface="Times New Roman" panose="02020603050405020304" pitchFamily="18" charset="0"/>
                <a:ea typeface="Aptos" pitchFamily="34" charset="-122"/>
                <a:cs typeface="Times New Roman" panose="02020603050405020304" pitchFamily="18" charset="0"/>
              </a:rPr>
              <a:t>8000</a:t>
            </a:r>
            <a:endParaRPr lang="en-US" sz="1000" dirty="0">
              <a:latin typeface="Times New Roman" panose="02020603050405020304" pitchFamily="18" charset="0"/>
              <a:cs typeface="Times New Roman" panose="02020603050405020304" pitchFamily="18" charset="0"/>
            </a:endParaRPr>
          </a:p>
        </p:txBody>
      </p:sp>
      <p:sp>
        <p:nvSpPr>
          <p:cNvPr id="44" name="Text 42"/>
          <p:cNvSpPr/>
          <p:nvPr/>
        </p:nvSpPr>
        <p:spPr>
          <a:xfrm>
            <a:off x="7589520" y="2889504"/>
            <a:ext cx="1627632" cy="201168"/>
          </a:xfrm>
          <a:prstGeom prst="rect">
            <a:avLst/>
          </a:prstGeom>
          <a:noFill/>
          <a:ln/>
        </p:spPr>
        <p:txBody>
          <a:bodyPr wrap="square" lIns="0" tIns="0" rIns="0" bIns="0" rtlCol="0" anchor="t">
            <a:normAutofit/>
          </a:bodyPr>
          <a:lstStyle/>
          <a:p>
            <a:pPr marL="0" indent="0" algn="l">
              <a:buNone/>
            </a:pPr>
            <a:r>
              <a:rPr lang="en-US" sz="1000" b="1" dirty="0">
                <a:solidFill>
                  <a:srgbClr val="243B53"/>
                </a:solidFill>
                <a:latin typeface="Times New Roman" panose="02020603050405020304" pitchFamily="18" charset="0"/>
                <a:ea typeface="Aptos" pitchFamily="34" charset="-122"/>
                <a:cs typeface="Times New Roman" panose="02020603050405020304" pitchFamily="18" charset="0"/>
              </a:rPr>
              <a:t>AI Service</a:t>
            </a:r>
            <a:endParaRPr lang="en-US" sz="1000" dirty="0">
              <a:latin typeface="Times New Roman" panose="02020603050405020304" pitchFamily="18" charset="0"/>
              <a:cs typeface="Times New Roman" panose="02020603050405020304" pitchFamily="18" charset="0"/>
            </a:endParaRPr>
          </a:p>
        </p:txBody>
      </p:sp>
      <p:sp>
        <p:nvSpPr>
          <p:cNvPr id="45" name="Text 43"/>
          <p:cNvSpPr/>
          <p:nvPr/>
        </p:nvSpPr>
        <p:spPr>
          <a:xfrm>
            <a:off x="9528048" y="2889504"/>
            <a:ext cx="1417320" cy="201168"/>
          </a:xfrm>
          <a:prstGeom prst="rect">
            <a:avLst/>
          </a:prstGeom>
          <a:noFill/>
          <a:ln/>
        </p:spPr>
        <p:txBody>
          <a:bodyPr wrap="square" lIns="0" tIns="0" rIns="0" bIns="0" rtlCol="0" anchor="t">
            <a:normAutofit/>
          </a:bodyPr>
          <a:lstStyle/>
          <a:p>
            <a:pPr marL="0" indent="0" algn="r">
              <a:buNone/>
            </a:pPr>
            <a:r>
              <a:rPr lang="en-US" sz="1000" b="1" dirty="0">
                <a:solidFill>
                  <a:srgbClr val="E7A61A"/>
                </a:solidFill>
                <a:latin typeface="Times New Roman" panose="02020603050405020304" pitchFamily="18" charset="0"/>
                <a:ea typeface="Aptos" pitchFamily="34" charset="-122"/>
                <a:cs typeface="Times New Roman" panose="02020603050405020304" pitchFamily="18" charset="0"/>
              </a:rPr>
              <a:t>8001</a:t>
            </a:r>
            <a:endParaRPr lang="en-US" sz="1000" dirty="0">
              <a:latin typeface="Times New Roman" panose="02020603050405020304" pitchFamily="18" charset="0"/>
              <a:cs typeface="Times New Roman" panose="02020603050405020304" pitchFamily="18" charset="0"/>
            </a:endParaRPr>
          </a:p>
        </p:txBody>
      </p:sp>
      <p:sp>
        <p:nvSpPr>
          <p:cNvPr id="46" name="Text 44"/>
          <p:cNvSpPr/>
          <p:nvPr/>
        </p:nvSpPr>
        <p:spPr>
          <a:xfrm>
            <a:off x="7589520" y="3200400"/>
            <a:ext cx="1627632" cy="201168"/>
          </a:xfrm>
          <a:prstGeom prst="rect">
            <a:avLst/>
          </a:prstGeom>
          <a:noFill/>
          <a:ln/>
        </p:spPr>
        <p:txBody>
          <a:bodyPr wrap="square" lIns="0" tIns="0" rIns="0" bIns="0" rtlCol="0" anchor="t">
            <a:normAutofit/>
          </a:bodyPr>
          <a:lstStyle/>
          <a:p>
            <a:pPr marL="0" indent="0" algn="l">
              <a:buNone/>
            </a:pPr>
            <a:r>
              <a:rPr lang="en-US" sz="1000" b="1" dirty="0">
                <a:solidFill>
                  <a:srgbClr val="243B53"/>
                </a:solidFill>
                <a:latin typeface="Times New Roman" panose="02020603050405020304" pitchFamily="18" charset="0"/>
                <a:ea typeface="Aptos" pitchFamily="34" charset="-122"/>
                <a:cs typeface="Times New Roman" panose="02020603050405020304" pitchFamily="18" charset="0"/>
              </a:rPr>
              <a:t>MongoDB</a:t>
            </a:r>
            <a:endParaRPr lang="en-US" sz="1000" dirty="0">
              <a:latin typeface="Times New Roman" panose="02020603050405020304" pitchFamily="18" charset="0"/>
              <a:cs typeface="Times New Roman" panose="02020603050405020304" pitchFamily="18" charset="0"/>
            </a:endParaRPr>
          </a:p>
        </p:txBody>
      </p:sp>
      <p:sp>
        <p:nvSpPr>
          <p:cNvPr id="47" name="Text 45"/>
          <p:cNvSpPr/>
          <p:nvPr/>
        </p:nvSpPr>
        <p:spPr>
          <a:xfrm>
            <a:off x="9528048" y="3200400"/>
            <a:ext cx="1417320" cy="201168"/>
          </a:xfrm>
          <a:prstGeom prst="rect">
            <a:avLst/>
          </a:prstGeom>
          <a:noFill/>
          <a:ln/>
        </p:spPr>
        <p:txBody>
          <a:bodyPr wrap="square" lIns="0" tIns="0" rIns="0" bIns="0" rtlCol="0" anchor="t">
            <a:normAutofit/>
          </a:bodyPr>
          <a:lstStyle/>
          <a:p>
            <a:pPr marL="0" indent="0" algn="r">
              <a:buNone/>
            </a:pPr>
            <a:r>
              <a:rPr lang="en-US" sz="1000" b="1" dirty="0">
                <a:solidFill>
                  <a:srgbClr val="1FA971"/>
                </a:solidFill>
                <a:latin typeface="Times New Roman" panose="02020603050405020304" pitchFamily="18" charset="0"/>
                <a:ea typeface="Aptos" pitchFamily="34" charset="-122"/>
                <a:cs typeface="Times New Roman" panose="02020603050405020304" pitchFamily="18" charset="0"/>
              </a:rPr>
              <a:t>27017 internal</a:t>
            </a:r>
            <a:endParaRPr lang="en-US" sz="1000" dirty="0">
              <a:latin typeface="Times New Roman" panose="02020603050405020304" pitchFamily="18" charset="0"/>
              <a:cs typeface="Times New Roman" panose="02020603050405020304" pitchFamily="18" charset="0"/>
            </a:endParaRPr>
          </a:p>
        </p:txBody>
      </p:sp>
      <p:sp>
        <p:nvSpPr>
          <p:cNvPr id="48" name="Shape 46"/>
          <p:cNvSpPr/>
          <p:nvPr/>
        </p:nvSpPr>
        <p:spPr>
          <a:xfrm>
            <a:off x="7296912" y="3877056"/>
            <a:ext cx="4251960" cy="2221992"/>
          </a:xfrm>
          <a:prstGeom prst="roundRect">
            <a:avLst>
              <a:gd name="adj" fmla="val 4938"/>
            </a:avLst>
          </a:prstGeom>
          <a:solidFill>
            <a:srgbClr val="FCFDFE"/>
          </a:solidFill>
          <a:ln w="10160">
            <a:solidFill>
              <a:srgbClr val="D9E3EE"/>
            </a:solidFill>
            <a:prstDash val="solid"/>
          </a:ln>
          <a:effectLst>
            <a:outerShdw algn="bl" rotWithShape="0">
              <a:srgbClr val="000000">
                <a:alpha val="0"/>
              </a:srgbClr>
            </a:outerShdw>
          </a:effectLst>
        </p:spPr>
      </p:sp>
      <p:sp>
        <p:nvSpPr>
          <p:cNvPr id="49" name="Text 47"/>
          <p:cNvSpPr/>
          <p:nvPr/>
        </p:nvSpPr>
        <p:spPr>
          <a:xfrm>
            <a:off x="7571232" y="4114800"/>
            <a:ext cx="2743200" cy="256032"/>
          </a:xfrm>
          <a:prstGeom prst="rect">
            <a:avLst/>
          </a:prstGeom>
          <a:noFill/>
          <a:ln/>
        </p:spPr>
        <p:txBody>
          <a:bodyPr wrap="square" lIns="0" tIns="0" rIns="0" bIns="0" rtlCol="0" anchor="t">
            <a:normAutofit/>
          </a:bodyPr>
          <a:lstStyle/>
          <a:p>
            <a:pPr marL="0" indent="0" algn="l">
              <a:buNone/>
            </a:pPr>
            <a:r>
              <a:rPr lang="en-US" sz="1300" b="1" dirty="0">
                <a:solidFill>
                  <a:srgbClr val="102A43"/>
                </a:solidFill>
                <a:latin typeface="Times New Roman" panose="02020603050405020304" pitchFamily="18" charset="0"/>
                <a:ea typeface="Aptos" pitchFamily="34" charset="-122"/>
                <a:cs typeface="Times New Roman" panose="02020603050405020304" pitchFamily="18" charset="0"/>
              </a:rPr>
              <a:t>Biến môi trường chính</a:t>
            </a:r>
            <a:endParaRPr lang="en-US" sz="1300" dirty="0">
              <a:latin typeface="Times New Roman" panose="02020603050405020304" pitchFamily="18" charset="0"/>
              <a:cs typeface="Times New Roman" panose="02020603050405020304" pitchFamily="18" charset="0"/>
            </a:endParaRPr>
          </a:p>
        </p:txBody>
      </p:sp>
      <p:sp>
        <p:nvSpPr>
          <p:cNvPr id="50" name="Text 48"/>
          <p:cNvSpPr/>
          <p:nvPr/>
        </p:nvSpPr>
        <p:spPr>
          <a:xfrm>
            <a:off x="7571232" y="4517136"/>
            <a:ext cx="3547872" cy="1463040"/>
          </a:xfrm>
          <a:prstGeom prst="rect">
            <a:avLst/>
          </a:prstGeom>
          <a:noFill/>
          <a:ln/>
        </p:spPr>
        <p:txBody>
          <a:bodyPr wrap="square" lIns="0" tIns="0" rIns="0" bIns="0" rtlCol="0" anchor="t">
            <a:normAutofit fontScale="92500" lnSpcReduction="10000"/>
          </a:bodyPr>
          <a:lstStyle/>
          <a:p>
            <a:pPr marL="0" indent="0" algn="l">
              <a:lnSpc>
                <a:spcPct val="150000"/>
              </a:lnSpc>
              <a:buNone/>
            </a:pPr>
            <a:r>
              <a:rPr lang="en-US" sz="1200" dirty="0">
                <a:solidFill>
                  <a:srgbClr val="243B53"/>
                </a:solidFill>
                <a:latin typeface="Times New Roman" panose="02020603050405020304" pitchFamily="18" charset="0"/>
                <a:ea typeface="Aptos Mono" pitchFamily="34" charset="-122"/>
                <a:cs typeface="Times New Roman" panose="02020603050405020304" pitchFamily="18" charset="0"/>
              </a:rPr>
              <a:t>FRONTEND_PORT=3000</a:t>
            </a:r>
            <a:endParaRPr lang="en-US" sz="1200" dirty="0">
              <a:latin typeface="Times New Roman" panose="02020603050405020304" pitchFamily="18" charset="0"/>
              <a:cs typeface="Times New Roman" panose="02020603050405020304" pitchFamily="18" charset="0"/>
            </a:endParaRPr>
          </a:p>
          <a:p>
            <a:pPr marL="0" indent="0" algn="l">
              <a:lnSpc>
                <a:spcPct val="150000"/>
              </a:lnSpc>
              <a:buNone/>
            </a:pPr>
            <a:r>
              <a:rPr lang="en-US" sz="1200" dirty="0">
                <a:solidFill>
                  <a:srgbClr val="243B53"/>
                </a:solidFill>
                <a:latin typeface="Times New Roman" panose="02020603050405020304" pitchFamily="18" charset="0"/>
                <a:ea typeface="Aptos Mono" pitchFamily="34" charset="-122"/>
                <a:cs typeface="Times New Roman" panose="02020603050405020304" pitchFamily="18" charset="0"/>
              </a:rPr>
              <a:t>BACKEND_PORT=8000</a:t>
            </a:r>
            <a:endParaRPr lang="en-US" sz="1200" dirty="0">
              <a:latin typeface="Times New Roman" panose="02020603050405020304" pitchFamily="18" charset="0"/>
              <a:cs typeface="Times New Roman" panose="02020603050405020304" pitchFamily="18" charset="0"/>
            </a:endParaRPr>
          </a:p>
          <a:p>
            <a:pPr marL="0" indent="0" algn="l">
              <a:lnSpc>
                <a:spcPct val="150000"/>
              </a:lnSpc>
              <a:buNone/>
            </a:pPr>
            <a:r>
              <a:rPr lang="en-US" sz="1200" dirty="0">
                <a:solidFill>
                  <a:srgbClr val="243B53"/>
                </a:solidFill>
                <a:latin typeface="Times New Roman" panose="02020603050405020304" pitchFamily="18" charset="0"/>
                <a:ea typeface="Aptos Mono" pitchFamily="34" charset="-122"/>
                <a:cs typeface="Times New Roman" panose="02020603050405020304" pitchFamily="18" charset="0"/>
              </a:rPr>
              <a:t>AI_PORT=8001</a:t>
            </a:r>
            <a:endParaRPr lang="en-US" sz="1200" dirty="0">
              <a:latin typeface="Times New Roman" panose="02020603050405020304" pitchFamily="18" charset="0"/>
              <a:cs typeface="Times New Roman" panose="02020603050405020304" pitchFamily="18" charset="0"/>
            </a:endParaRPr>
          </a:p>
          <a:p>
            <a:pPr marL="0" indent="0" algn="l">
              <a:lnSpc>
                <a:spcPct val="150000"/>
              </a:lnSpc>
              <a:buNone/>
            </a:pPr>
            <a:r>
              <a:rPr lang="en-US" sz="1200" dirty="0">
                <a:solidFill>
                  <a:srgbClr val="243B53"/>
                </a:solidFill>
                <a:latin typeface="Times New Roman" panose="02020603050405020304" pitchFamily="18" charset="0"/>
                <a:ea typeface="Aptos Mono" pitchFamily="34" charset="-122"/>
                <a:cs typeface="Times New Roman" panose="02020603050405020304" pitchFamily="18" charset="0"/>
              </a:rPr>
              <a:t>BACKEND_UPSTREAM=http://backend:8000</a:t>
            </a:r>
            <a:endParaRPr lang="en-US" sz="1200" dirty="0">
              <a:latin typeface="Times New Roman" panose="02020603050405020304" pitchFamily="18" charset="0"/>
              <a:cs typeface="Times New Roman" panose="02020603050405020304" pitchFamily="18" charset="0"/>
            </a:endParaRPr>
          </a:p>
          <a:p>
            <a:pPr marL="0" indent="0" algn="l">
              <a:lnSpc>
                <a:spcPct val="150000"/>
              </a:lnSpc>
              <a:buNone/>
            </a:pPr>
            <a:r>
              <a:rPr lang="en-US" sz="1200" dirty="0">
                <a:solidFill>
                  <a:srgbClr val="243B53"/>
                </a:solidFill>
                <a:latin typeface="Times New Roman" panose="02020603050405020304" pitchFamily="18" charset="0"/>
                <a:ea typeface="Aptos Mono" pitchFamily="34" charset="-122"/>
                <a:cs typeface="Times New Roman" panose="02020603050405020304" pitchFamily="18" charset="0"/>
              </a:rPr>
              <a:t>AI_SERVICE_URL=http://ai-service:8001</a:t>
            </a:r>
            <a:endParaRPr lang="en-US" sz="1200" dirty="0">
              <a:latin typeface="Times New Roman" panose="02020603050405020304" pitchFamily="18" charset="0"/>
              <a:cs typeface="Times New Roman" panose="02020603050405020304" pitchFamily="18" charset="0"/>
            </a:endParaRPr>
          </a:p>
          <a:p>
            <a:pPr marL="0" indent="0" algn="l">
              <a:lnSpc>
                <a:spcPct val="150000"/>
              </a:lnSpc>
              <a:buNone/>
            </a:pPr>
            <a:r>
              <a:rPr lang="en-US" sz="1200" dirty="0">
                <a:solidFill>
                  <a:srgbClr val="243B53"/>
                </a:solidFill>
                <a:latin typeface="Times New Roman" panose="02020603050405020304" pitchFamily="18" charset="0"/>
                <a:ea typeface="Aptos Mono" pitchFamily="34" charset="-122"/>
                <a:cs typeface="Times New Roman" panose="02020603050405020304" pitchFamily="18" charset="0"/>
              </a:rPr>
              <a:t>MONGODB_URI=mongodb://mongodb:27017</a:t>
            </a:r>
            <a:endParaRPr lang="en-US" sz="1200" dirty="0">
              <a:latin typeface="Times New Roman" panose="02020603050405020304" pitchFamily="18" charset="0"/>
              <a:cs typeface="Times New Roman" panose="02020603050405020304" pitchFamily="18" charset="0"/>
            </a:endParaRPr>
          </a:p>
        </p:txBody>
      </p:sp>
      <p:sp>
        <p:nvSpPr>
          <p:cNvPr id="51" name="Text 49"/>
          <p:cNvSpPr/>
          <p:nvPr/>
        </p:nvSpPr>
        <p:spPr>
          <a:xfrm>
            <a:off x="640080" y="6291072"/>
            <a:ext cx="9875520" cy="182880"/>
          </a:xfrm>
          <a:prstGeom prst="rect">
            <a:avLst/>
          </a:prstGeom>
          <a:noFill/>
          <a:ln/>
        </p:spPr>
        <p:txBody>
          <a:bodyPr wrap="square" lIns="0" tIns="0" rIns="0" bIns="0" rtlCol="0" anchor="t">
            <a:normAutofit/>
          </a:bodyPr>
          <a:lstStyle/>
          <a:p>
            <a:pPr marL="0" indent="0" algn="l">
              <a:buNone/>
            </a:pPr>
            <a:r>
              <a:rPr lang="en-US" sz="860" dirty="0">
                <a:solidFill>
                  <a:srgbClr val="63758A"/>
                </a:solidFill>
                <a:latin typeface="Times New Roman" panose="02020603050405020304" pitchFamily="18" charset="0"/>
                <a:ea typeface="Aptos" pitchFamily="34" charset="-122"/>
                <a:cs typeface="Times New Roman" panose="02020603050405020304" pitchFamily="18" charset="0"/>
              </a:rPr>
              <a:t>Health endpoint của các service trả HTTP 200; AI Service xác nhận model_loaded = true.</a:t>
            </a:r>
            <a:endParaRPr lang="en-US" sz="860" dirty="0">
              <a:latin typeface="Times New Roman" panose="02020603050405020304" pitchFamily="18" charset="0"/>
              <a:cs typeface="Times New Roman" panose="02020603050405020304" pitchFamily="18" charset="0"/>
            </a:endParaRPr>
          </a:p>
        </p:txBody>
      </p:sp>
      <p:sp>
        <p:nvSpPr>
          <p:cNvPr id="52"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latin typeface="Times New Roman" panose="02020603050405020304" pitchFamily="18" charset="0"/>
                <a:cs typeface="Times New Roman" panose="02020603050405020304" pitchFamily="18" charset="0"/>
              </a:rPr>
              <a:t>16</a:t>
            </a:fld>
            <a:endParaRPr lang="en-US">
              <a:latin typeface="Times New Roman" panose="02020603050405020304" pitchFamily="18" charset="0"/>
              <a:cs typeface="Times New Roman" panose="02020603050405020304" pitchFamily="18" charset="0"/>
            </a:endParaRPr>
          </a:p>
        </p:txBody>
      </p:sp>
      <p:sp>
        <p:nvSpPr>
          <p:cNvPr id="53"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rPr>
              <a:t>14</a:t>
            </a:r>
            <a:endParaRPr lang="en-US" sz="1200" dirty="0"/>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rPr>
              <a:t>Web App, kiểm thử &amp; hiệu năng hệ thống</a:t>
            </a:r>
            <a:endParaRPr lang="en-US" sz="2500" dirty="0"/>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rPr>
              <a:t>Từ model offline đến một quy trình FE → BE → AI → DB có thể vận hành hoàn chỉnh</a:t>
            </a:r>
            <a:endParaRPr lang="en-US" sz="1080" dirty="0"/>
          </a:p>
        </p:txBody>
      </p:sp>
      <p:sp>
        <p:nvSpPr>
          <p:cNvPr id="5" name="Shape 3"/>
          <p:cNvSpPr/>
          <p:nvPr/>
        </p:nvSpPr>
        <p:spPr>
          <a:xfrm>
            <a:off x="658368" y="1572768"/>
            <a:ext cx="5687568" cy="4526280"/>
          </a:xfrm>
          <a:prstGeom prst="roundRect">
            <a:avLst>
              <a:gd name="adj" fmla="val 2424"/>
            </a:avLst>
          </a:prstGeom>
          <a:solidFill>
            <a:srgbClr val="FFFFFF"/>
          </a:solidFill>
          <a:ln w="10160">
            <a:solidFill>
              <a:srgbClr val="D9E3EE"/>
            </a:solidFill>
            <a:prstDash val="solid"/>
          </a:ln>
          <a:effectLst>
            <a:outerShdw algn="bl" rotWithShape="0">
              <a:srgbClr val="000000">
                <a:alpha val="0"/>
              </a:srgbClr>
            </a:outerShdw>
          </a:effectLst>
        </p:spPr>
      </p:sp>
      <p:sp>
        <p:nvSpPr>
          <p:cNvPr id="6" name="Text 4"/>
          <p:cNvSpPr/>
          <p:nvPr/>
        </p:nvSpPr>
        <p:spPr>
          <a:xfrm>
            <a:off x="914400" y="1801368"/>
            <a:ext cx="3108960" cy="256032"/>
          </a:xfrm>
          <a:prstGeom prst="rect">
            <a:avLst/>
          </a:prstGeom>
          <a:noFill/>
          <a:ln/>
        </p:spPr>
        <p:txBody>
          <a:bodyPr wrap="square" lIns="0" tIns="0" rIns="0" bIns="0" rtlCol="0" anchor="t">
            <a:normAutofit/>
          </a:bodyPr>
          <a:lstStyle/>
          <a:p>
            <a:pPr marL="0" indent="0" algn="l">
              <a:buNone/>
            </a:pPr>
            <a:r>
              <a:rPr lang="en-US" sz="1300" b="1" dirty="0">
                <a:solidFill>
                  <a:srgbClr val="102A43"/>
                </a:solidFill>
                <a:latin typeface="Aptos" pitchFamily="34" charset="0"/>
                <a:ea typeface="Aptos" pitchFamily="34" charset="-122"/>
                <a:cs typeface="Aptos" pitchFamily="34" charset="-120"/>
              </a:rPr>
              <a:t>Giao diện Web &amp; kết quả dự đoán</a:t>
            </a:r>
            <a:endParaRPr lang="en-US" sz="1300" dirty="0"/>
          </a:p>
        </p:txBody>
      </p:sp>
      <p:pic>
        <p:nvPicPr>
          <p:cNvPr id="7" name="Image 0" descr="/mnt/data/ckd_web_ui.png"/>
          <p:cNvPicPr>
            <a:picLocks noChangeAspect="1"/>
          </p:cNvPicPr>
          <p:nvPr/>
        </p:nvPicPr>
        <p:blipFill>
          <a:blip r:embed="rId3"/>
          <a:stretch>
            <a:fillRect/>
          </a:stretch>
        </p:blipFill>
        <p:spPr>
          <a:xfrm>
            <a:off x="2379358" y="2031050"/>
            <a:ext cx="2233790" cy="4059215"/>
          </a:xfrm>
          <a:prstGeom prst="rect">
            <a:avLst/>
          </a:prstGeom>
        </p:spPr>
      </p:pic>
      <p:sp>
        <p:nvSpPr>
          <p:cNvPr id="8" name="Shape 5"/>
          <p:cNvSpPr/>
          <p:nvPr/>
        </p:nvSpPr>
        <p:spPr>
          <a:xfrm>
            <a:off x="6565392" y="1572768"/>
            <a:ext cx="4983480" cy="2212848"/>
          </a:xfrm>
          <a:prstGeom prst="roundRect">
            <a:avLst>
              <a:gd name="adj" fmla="val 4959"/>
            </a:avLst>
          </a:prstGeom>
          <a:solidFill>
            <a:srgbClr val="FFFFFF"/>
          </a:solidFill>
          <a:ln w="10160">
            <a:solidFill>
              <a:srgbClr val="D9E3EE"/>
            </a:solidFill>
            <a:prstDash val="solid"/>
          </a:ln>
          <a:effectLst>
            <a:outerShdw algn="bl" rotWithShape="0">
              <a:srgbClr val="000000">
                <a:alpha val="0"/>
              </a:srgbClr>
            </a:outerShdw>
          </a:effectLst>
        </p:spPr>
      </p:sp>
      <p:sp>
        <p:nvSpPr>
          <p:cNvPr id="9" name="Text 6"/>
          <p:cNvSpPr/>
          <p:nvPr/>
        </p:nvSpPr>
        <p:spPr>
          <a:xfrm>
            <a:off x="6839712" y="1810512"/>
            <a:ext cx="2377440" cy="256032"/>
          </a:xfrm>
          <a:prstGeom prst="rect">
            <a:avLst/>
          </a:prstGeom>
          <a:noFill/>
          <a:ln/>
        </p:spPr>
        <p:txBody>
          <a:bodyPr wrap="square" lIns="0" tIns="0" rIns="0" bIns="0" rtlCol="0" anchor="t">
            <a:normAutofit/>
          </a:bodyPr>
          <a:lstStyle/>
          <a:p>
            <a:pPr marL="0" indent="0" algn="l">
              <a:buNone/>
            </a:pPr>
            <a:r>
              <a:rPr lang="en-US" sz="1300" b="1" dirty="0">
                <a:solidFill>
                  <a:srgbClr val="102A43"/>
                </a:solidFill>
                <a:latin typeface="Aptos" pitchFamily="34" charset="0"/>
                <a:ea typeface="Aptos" pitchFamily="34" charset="-122"/>
                <a:cs typeface="Aptos" pitchFamily="34" charset="-120"/>
              </a:rPr>
              <a:t>Kiểm thử chức năng</a:t>
            </a:r>
            <a:endParaRPr lang="en-US" sz="1300" dirty="0"/>
          </a:p>
        </p:txBody>
      </p:sp>
      <p:sp>
        <p:nvSpPr>
          <p:cNvPr id="10" name="Shape 7"/>
          <p:cNvSpPr/>
          <p:nvPr/>
        </p:nvSpPr>
        <p:spPr>
          <a:xfrm>
            <a:off x="6839712" y="2267712"/>
            <a:ext cx="1444752" cy="768096"/>
          </a:xfrm>
          <a:prstGeom prst="roundRect">
            <a:avLst>
              <a:gd name="adj" fmla="val 11905"/>
            </a:avLst>
          </a:prstGeom>
          <a:solidFill>
            <a:srgbClr val="FFFFFF"/>
          </a:solidFill>
          <a:ln w="10160">
            <a:solidFill>
              <a:srgbClr val="D9E3EE"/>
            </a:solidFill>
            <a:prstDash val="solid"/>
          </a:ln>
        </p:spPr>
      </p:sp>
      <p:sp>
        <p:nvSpPr>
          <p:cNvPr id="11" name="Shape 8"/>
          <p:cNvSpPr/>
          <p:nvPr/>
        </p:nvSpPr>
        <p:spPr>
          <a:xfrm>
            <a:off x="6839712" y="2267712"/>
            <a:ext cx="54864" cy="768096"/>
          </a:xfrm>
          <a:prstGeom prst="rect">
            <a:avLst/>
          </a:prstGeom>
          <a:solidFill>
            <a:srgbClr val="2457D6"/>
          </a:solidFill>
          <a:ln w="12700">
            <a:solidFill>
              <a:srgbClr val="2457D6"/>
            </a:solidFill>
            <a:prstDash val="solid"/>
          </a:ln>
        </p:spPr>
      </p:sp>
      <p:sp>
        <p:nvSpPr>
          <p:cNvPr id="12" name="Text 9"/>
          <p:cNvSpPr/>
          <p:nvPr/>
        </p:nvSpPr>
        <p:spPr>
          <a:xfrm>
            <a:off x="7004304" y="2386584"/>
            <a:ext cx="1188720"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Aptos" pitchFamily="34" charset="0"/>
                <a:ea typeface="Aptos" pitchFamily="34" charset="-122"/>
                <a:cs typeface="Aptos" pitchFamily="34" charset="-120"/>
              </a:rPr>
              <a:t>BACKEND</a:t>
            </a:r>
            <a:endParaRPr lang="en-US" sz="850" dirty="0"/>
          </a:p>
        </p:txBody>
      </p:sp>
      <p:sp>
        <p:nvSpPr>
          <p:cNvPr id="13" name="Text 10"/>
          <p:cNvSpPr/>
          <p:nvPr/>
        </p:nvSpPr>
        <p:spPr>
          <a:xfrm>
            <a:off x="7004304" y="2569464"/>
            <a:ext cx="1188720" cy="274320"/>
          </a:xfrm>
          <a:prstGeom prst="rect">
            <a:avLst/>
          </a:prstGeom>
          <a:noFill/>
          <a:ln/>
        </p:spPr>
        <p:txBody>
          <a:bodyPr wrap="square" lIns="0" tIns="0" rIns="0" bIns="0" rtlCol="0" anchor="t">
            <a:normAutofit/>
          </a:bodyPr>
          <a:lstStyle/>
          <a:p>
            <a:pPr marL="0" indent="0" algn="l">
              <a:buNone/>
            </a:pPr>
            <a:r>
              <a:rPr lang="en-US" sz="1800" b="1" dirty="0">
                <a:solidFill>
                  <a:srgbClr val="2457D6"/>
                </a:solidFill>
                <a:latin typeface="Aptos" pitchFamily="34" charset="0"/>
                <a:ea typeface="Aptos" pitchFamily="34" charset="-122"/>
                <a:cs typeface="Aptos" pitchFamily="34" charset="-120"/>
              </a:rPr>
              <a:t>6/6 PASS</a:t>
            </a:r>
            <a:endParaRPr lang="en-US" sz="1800" dirty="0"/>
          </a:p>
        </p:txBody>
      </p:sp>
      <p:sp>
        <p:nvSpPr>
          <p:cNvPr id="14" name="Shape 11"/>
          <p:cNvSpPr/>
          <p:nvPr/>
        </p:nvSpPr>
        <p:spPr>
          <a:xfrm>
            <a:off x="8430768" y="2267712"/>
            <a:ext cx="1444752" cy="768096"/>
          </a:xfrm>
          <a:prstGeom prst="roundRect">
            <a:avLst>
              <a:gd name="adj" fmla="val 11905"/>
            </a:avLst>
          </a:prstGeom>
          <a:solidFill>
            <a:srgbClr val="FFFFFF"/>
          </a:solidFill>
          <a:ln w="10160">
            <a:solidFill>
              <a:srgbClr val="D9E3EE"/>
            </a:solidFill>
            <a:prstDash val="solid"/>
          </a:ln>
        </p:spPr>
      </p:sp>
      <p:sp>
        <p:nvSpPr>
          <p:cNvPr id="15" name="Shape 12"/>
          <p:cNvSpPr/>
          <p:nvPr/>
        </p:nvSpPr>
        <p:spPr>
          <a:xfrm>
            <a:off x="8430768" y="2267712"/>
            <a:ext cx="54864" cy="768096"/>
          </a:xfrm>
          <a:prstGeom prst="rect">
            <a:avLst/>
          </a:prstGeom>
          <a:solidFill>
            <a:srgbClr val="0E9F9A"/>
          </a:solidFill>
          <a:ln w="12700">
            <a:solidFill>
              <a:srgbClr val="0E9F9A"/>
            </a:solidFill>
            <a:prstDash val="solid"/>
          </a:ln>
        </p:spPr>
      </p:sp>
      <p:sp>
        <p:nvSpPr>
          <p:cNvPr id="16" name="Text 13"/>
          <p:cNvSpPr/>
          <p:nvPr/>
        </p:nvSpPr>
        <p:spPr>
          <a:xfrm>
            <a:off x="8595360" y="2386584"/>
            <a:ext cx="1188720"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Aptos" pitchFamily="34" charset="0"/>
                <a:ea typeface="Aptos" pitchFamily="34" charset="-122"/>
                <a:cs typeface="Aptos" pitchFamily="34" charset="-120"/>
              </a:rPr>
              <a:t>AI SERVICE</a:t>
            </a:r>
            <a:endParaRPr lang="en-US" sz="850" dirty="0"/>
          </a:p>
        </p:txBody>
      </p:sp>
      <p:sp>
        <p:nvSpPr>
          <p:cNvPr id="17" name="Text 14"/>
          <p:cNvSpPr/>
          <p:nvPr/>
        </p:nvSpPr>
        <p:spPr>
          <a:xfrm>
            <a:off x="8595360" y="2569464"/>
            <a:ext cx="1188720" cy="274320"/>
          </a:xfrm>
          <a:prstGeom prst="rect">
            <a:avLst/>
          </a:prstGeom>
          <a:noFill/>
          <a:ln/>
        </p:spPr>
        <p:txBody>
          <a:bodyPr wrap="square" lIns="0" tIns="0" rIns="0" bIns="0" rtlCol="0" anchor="t">
            <a:normAutofit/>
          </a:bodyPr>
          <a:lstStyle/>
          <a:p>
            <a:pPr marL="0" indent="0" algn="l">
              <a:buNone/>
            </a:pPr>
            <a:r>
              <a:rPr lang="en-US" sz="1800" b="1" dirty="0">
                <a:solidFill>
                  <a:srgbClr val="0E9F9A"/>
                </a:solidFill>
                <a:latin typeface="Aptos" pitchFamily="34" charset="0"/>
                <a:ea typeface="Aptos" pitchFamily="34" charset="-122"/>
                <a:cs typeface="Aptos" pitchFamily="34" charset="-120"/>
              </a:rPr>
              <a:t>17 PASS</a:t>
            </a:r>
            <a:endParaRPr lang="en-US" sz="1800" dirty="0"/>
          </a:p>
        </p:txBody>
      </p:sp>
      <p:sp>
        <p:nvSpPr>
          <p:cNvPr id="18" name="Shape 15"/>
          <p:cNvSpPr/>
          <p:nvPr/>
        </p:nvSpPr>
        <p:spPr>
          <a:xfrm>
            <a:off x="10021824" y="2267712"/>
            <a:ext cx="1234440" cy="768096"/>
          </a:xfrm>
          <a:prstGeom prst="roundRect">
            <a:avLst>
              <a:gd name="adj" fmla="val 11905"/>
            </a:avLst>
          </a:prstGeom>
          <a:solidFill>
            <a:srgbClr val="FFFFFF"/>
          </a:solidFill>
          <a:ln w="10160">
            <a:solidFill>
              <a:srgbClr val="D9E3EE"/>
            </a:solidFill>
            <a:prstDash val="solid"/>
          </a:ln>
        </p:spPr>
      </p:sp>
      <p:sp>
        <p:nvSpPr>
          <p:cNvPr id="19" name="Shape 16"/>
          <p:cNvSpPr/>
          <p:nvPr/>
        </p:nvSpPr>
        <p:spPr>
          <a:xfrm>
            <a:off x="10021824" y="2267712"/>
            <a:ext cx="54864" cy="768096"/>
          </a:xfrm>
          <a:prstGeom prst="rect">
            <a:avLst/>
          </a:prstGeom>
          <a:solidFill>
            <a:srgbClr val="1FA971"/>
          </a:solidFill>
          <a:ln w="12700">
            <a:solidFill>
              <a:srgbClr val="1FA971"/>
            </a:solidFill>
            <a:prstDash val="solid"/>
          </a:ln>
        </p:spPr>
      </p:sp>
      <p:sp>
        <p:nvSpPr>
          <p:cNvPr id="20" name="Text 17"/>
          <p:cNvSpPr/>
          <p:nvPr/>
        </p:nvSpPr>
        <p:spPr>
          <a:xfrm>
            <a:off x="10186416" y="2386584"/>
            <a:ext cx="978408" cy="182880"/>
          </a:xfrm>
          <a:prstGeom prst="rect">
            <a:avLst/>
          </a:prstGeom>
          <a:noFill/>
          <a:ln/>
        </p:spPr>
        <p:txBody>
          <a:bodyPr wrap="square" lIns="0" tIns="0" rIns="0" bIns="0" rtlCol="0" anchor="t">
            <a:normAutofit/>
          </a:bodyPr>
          <a:lstStyle/>
          <a:p>
            <a:pPr marL="0" indent="0" algn="l">
              <a:buNone/>
            </a:pPr>
            <a:r>
              <a:rPr lang="en-US" sz="850" b="1" dirty="0">
                <a:solidFill>
                  <a:srgbClr val="63758A"/>
                </a:solidFill>
                <a:latin typeface="Aptos" pitchFamily="34" charset="0"/>
                <a:ea typeface="Aptos" pitchFamily="34" charset="-122"/>
                <a:cs typeface="Aptos" pitchFamily="34" charset="-120"/>
              </a:rPr>
              <a:t>E2E</a:t>
            </a:r>
            <a:endParaRPr lang="en-US" sz="850" dirty="0"/>
          </a:p>
        </p:txBody>
      </p:sp>
      <p:sp>
        <p:nvSpPr>
          <p:cNvPr id="21" name="Text 18"/>
          <p:cNvSpPr/>
          <p:nvPr/>
        </p:nvSpPr>
        <p:spPr>
          <a:xfrm>
            <a:off x="10186416" y="2569464"/>
            <a:ext cx="978408" cy="274320"/>
          </a:xfrm>
          <a:prstGeom prst="rect">
            <a:avLst/>
          </a:prstGeom>
          <a:noFill/>
          <a:ln/>
        </p:spPr>
        <p:txBody>
          <a:bodyPr wrap="square" lIns="0" tIns="0" rIns="0" bIns="0" rtlCol="0" anchor="t">
            <a:normAutofit/>
          </a:bodyPr>
          <a:lstStyle/>
          <a:p>
            <a:pPr marL="0" indent="0" algn="l">
              <a:buNone/>
            </a:pPr>
            <a:r>
              <a:rPr lang="en-US" sz="1800" b="1" dirty="0">
                <a:solidFill>
                  <a:srgbClr val="1FA971"/>
                </a:solidFill>
                <a:latin typeface="Aptos" pitchFamily="34" charset="0"/>
                <a:ea typeface="Aptos" pitchFamily="34" charset="-122"/>
                <a:cs typeface="Aptos" pitchFamily="34" charset="-120"/>
              </a:rPr>
              <a:t>27/27</a:t>
            </a:r>
            <a:endParaRPr lang="en-US" sz="1800" dirty="0"/>
          </a:p>
        </p:txBody>
      </p:sp>
      <p:sp>
        <p:nvSpPr>
          <p:cNvPr id="22" name="Shape 19"/>
          <p:cNvSpPr/>
          <p:nvPr/>
        </p:nvSpPr>
        <p:spPr>
          <a:xfrm>
            <a:off x="6876288" y="3246120"/>
            <a:ext cx="1847088" cy="310896"/>
          </a:xfrm>
          <a:prstGeom prst="roundRect">
            <a:avLst/>
          </a:prstGeom>
          <a:solidFill>
            <a:srgbClr val="EDF4FF"/>
          </a:solidFill>
          <a:ln w="12700">
            <a:solidFill>
              <a:srgbClr val="EDF4FF"/>
            </a:solidFill>
            <a:prstDash val="solid"/>
          </a:ln>
        </p:spPr>
      </p:sp>
      <p:sp>
        <p:nvSpPr>
          <p:cNvPr id="23" name="Text 20"/>
          <p:cNvSpPr/>
          <p:nvPr/>
        </p:nvSpPr>
        <p:spPr>
          <a:xfrm>
            <a:off x="6876288" y="3273552"/>
            <a:ext cx="1847088" cy="246888"/>
          </a:xfrm>
          <a:prstGeom prst="rect">
            <a:avLst/>
          </a:prstGeom>
          <a:noFill/>
          <a:ln/>
        </p:spPr>
        <p:txBody>
          <a:bodyPr wrap="square" lIns="0" tIns="0" rIns="0" bIns="0" rtlCol="0" anchor="ctr">
            <a:normAutofit/>
          </a:bodyPr>
          <a:lstStyle/>
          <a:p>
            <a:pPr marL="0" indent="0" algn="ctr">
              <a:buNone/>
            </a:pPr>
            <a:r>
              <a:rPr lang="en-US" sz="900" b="1" dirty="0">
                <a:solidFill>
                  <a:srgbClr val="2457D6"/>
                </a:solidFill>
                <a:latin typeface="Aptos" pitchFamily="34" charset="0"/>
                <a:ea typeface="Aptos" pitchFamily="34" charset="-122"/>
                <a:cs typeface="Aptos" pitchFamily="34" charset="-120"/>
              </a:rPr>
              <a:t>Chrome headless • PASS</a:t>
            </a:r>
            <a:endParaRPr lang="en-US" sz="900" dirty="0"/>
          </a:p>
        </p:txBody>
      </p:sp>
      <p:sp>
        <p:nvSpPr>
          <p:cNvPr id="24" name="Shape 21"/>
          <p:cNvSpPr/>
          <p:nvPr/>
        </p:nvSpPr>
        <p:spPr>
          <a:xfrm>
            <a:off x="8924544" y="3246120"/>
            <a:ext cx="2084832" cy="310896"/>
          </a:xfrm>
          <a:prstGeom prst="roundRect">
            <a:avLst/>
          </a:prstGeom>
          <a:solidFill>
            <a:srgbClr val="EAF8F0"/>
          </a:solidFill>
          <a:ln w="12700">
            <a:solidFill>
              <a:srgbClr val="EAF8F0"/>
            </a:solidFill>
            <a:prstDash val="solid"/>
          </a:ln>
        </p:spPr>
      </p:sp>
      <p:sp>
        <p:nvSpPr>
          <p:cNvPr id="25" name="Text 22"/>
          <p:cNvSpPr/>
          <p:nvPr/>
        </p:nvSpPr>
        <p:spPr>
          <a:xfrm>
            <a:off x="8924544" y="3273552"/>
            <a:ext cx="2084832" cy="246888"/>
          </a:xfrm>
          <a:prstGeom prst="rect">
            <a:avLst/>
          </a:prstGeom>
          <a:noFill/>
          <a:ln/>
        </p:spPr>
        <p:txBody>
          <a:bodyPr wrap="square" lIns="0" tIns="0" rIns="0" bIns="0" rtlCol="0" anchor="ctr">
            <a:normAutofit/>
          </a:bodyPr>
          <a:lstStyle/>
          <a:p>
            <a:pPr marL="0" indent="0" algn="ctr">
              <a:buNone/>
            </a:pPr>
            <a:r>
              <a:rPr lang="en-US" sz="900" b="1" dirty="0">
                <a:solidFill>
                  <a:srgbClr val="1FA971"/>
                </a:solidFill>
                <a:latin typeface="Aptos" pitchFamily="34" charset="0"/>
                <a:ea typeface="Aptos" pitchFamily="34" charset="-122"/>
                <a:cs typeface="Aptos" pitchFamily="34" charset="-120"/>
              </a:rPr>
              <a:t>Responsive 390 px • PASS</a:t>
            </a:r>
            <a:endParaRPr lang="en-US" sz="900" dirty="0"/>
          </a:p>
        </p:txBody>
      </p:sp>
      <p:sp>
        <p:nvSpPr>
          <p:cNvPr id="26" name="Shape 23"/>
          <p:cNvSpPr/>
          <p:nvPr/>
        </p:nvSpPr>
        <p:spPr>
          <a:xfrm>
            <a:off x="6565392" y="4023360"/>
            <a:ext cx="4983480" cy="2075688"/>
          </a:xfrm>
          <a:prstGeom prst="roundRect">
            <a:avLst>
              <a:gd name="adj" fmla="val 5286"/>
            </a:avLst>
          </a:prstGeom>
          <a:solidFill>
            <a:srgbClr val="FCFDFE"/>
          </a:solidFill>
          <a:ln w="10160">
            <a:solidFill>
              <a:srgbClr val="D9E3EE"/>
            </a:solidFill>
            <a:prstDash val="solid"/>
          </a:ln>
          <a:effectLst>
            <a:outerShdw algn="bl" rotWithShape="0">
              <a:srgbClr val="000000">
                <a:alpha val="0"/>
              </a:srgbClr>
            </a:outerShdw>
          </a:effectLst>
        </p:spPr>
      </p:sp>
      <p:sp>
        <p:nvSpPr>
          <p:cNvPr id="27" name="Text 24"/>
          <p:cNvSpPr/>
          <p:nvPr/>
        </p:nvSpPr>
        <p:spPr>
          <a:xfrm>
            <a:off x="6839712" y="4261104"/>
            <a:ext cx="3108960" cy="256032"/>
          </a:xfrm>
          <a:prstGeom prst="rect">
            <a:avLst/>
          </a:prstGeom>
          <a:noFill/>
          <a:ln/>
        </p:spPr>
        <p:txBody>
          <a:bodyPr wrap="square" lIns="0" tIns="0" rIns="0" bIns="0" rtlCol="0" anchor="t">
            <a:normAutofit/>
          </a:bodyPr>
          <a:lstStyle/>
          <a:p>
            <a:pPr marL="0" indent="0" algn="l">
              <a:buNone/>
            </a:pPr>
            <a:r>
              <a:rPr lang="en-US" sz="1300" b="1" dirty="0">
                <a:solidFill>
                  <a:srgbClr val="102A43"/>
                </a:solidFill>
                <a:latin typeface="Aptos" pitchFamily="34" charset="0"/>
                <a:ea typeface="Aptos" pitchFamily="34" charset="-122"/>
                <a:cs typeface="Aptos" pitchFamily="34" charset="-120"/>
              </a:rPr>
              <a:t>Load test toàn tuyến /api/predict</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945690559"/>
              </p:ext>
            </p:extLst>
          </p:nvPr>
        </p:nvGraphicFramePr>
        <p:xfrm>
          <a:off x="6839712" y="4672584"/>
          <a:ext cx="4160520" cy="932688"/>
        </p:xfrm>
        <a:graphic>
          <a:graphicData uri="http://schemas.openxmlformats.org/drawingml/2006/table">
            <a:tbl>
              <a:tblPr/>
              <a:tblGrid>
                <a:gridCol w="658368">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310896">
                <a:tc>
                  <a:txBody>
                    <a:bodyPr/>
                    <a:lstStyle/>
                    <a:p>
                      <a:pPr marL="0" indent="0">
                        <a:buNone/>
                      </a:pPr>
                      <a:r>
                        <a:rPr lang="en-US" sz="920" b="1" dirty="0">
                          <a:solidFill>
                            <a:schemeClr val="tx1"/>
                          </a:solidFill>
                          <a:latin typeface="Aptos" pitchFamily="34" charset="0"/>
                          <a:ea typeface="Aptos" pitchFamily="34" charset="-122"/>
                          <a:cs typeface="Aptos" pitchFamily="34" charset="-120"/>
                        </a:rPr>
                        <a:t>USERS</a:t>
                      </a:r>
                      <a:endParaRPr lang="en-US" sz="920" dirty="0">
                        <a:solidFill>
                          <a:schemeClr val="tx1"/>
                        </a:solidFill>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920" b="1" dirty="0">
                          <a:solidFill>
                            <a:schemeClr val="tx1"/>
                          </a:solidFill>
                          <a:latin typeface="Aptos" pitchFamily="34" charset="0"/>
                          <a:ea typeface="Aptos" pitchFamily="34" charset="-122"/>
                          <a:cs typeface="Aptos" pitchFamily="34" charset="-120"/>
                        </a:rPr>
                        <a:t>REQUESTS</a:t>
                      </a:r>
                      <a:endParaRPr lang="en-US" sz="920" dirty="0">
                        <a:solidFill>
                          <a:schemeClr val="tx1"/>
                        </a:solidFill>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920" b="1" dirty="0">
                          <a:solidFill>
                            <a:schemeClr val="tx1"/>
                          </a:solidFill>
                          <a:latin typeface="Aptos" pitchFamily="34" charset="0"/>
                          <a:ea typeface="Aptos" pitchFamily="34" charset="-122"/>
                          <a:cs typeface="Aptos" pitchFamily="34" charset="-120"/>
                        </a:rPr>
                        <a:t>RPS</a:t>
                      </a:r>
                      <a:endParaRPr lang="en-US" sz="920" dirty="0">
                        <a:solidFill>
                          <a:schemeClr val="tx1"/>
                        </a:solidFill>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920" b="1" dirty="0">
                          <a:solidFill>
                            <a:schemeClr val="tx1"/>
                          </a:solidFill>
                          <a:latin typeface="Aptos" pitchFamily="34" charset="0"/>
                          <a:ea typeface="Aptos" pitchFamily="34" charset="-122"/>
                          <a:cs typeface="Aptos" pitchFamily="34" charset="-120"/>
                        </a:rPr>
                        <a:t>p95</a:t>
                      </a:r>
                      <a:endParaRPr lang="en-US" sz="920" dirty="0">
                        <a:solidFill>
                          <a:schemeClr val="tx1"/>
                        </a:solidFill>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920" b="1" dirty="0">
                          <a:solidFill>
                            <a:schemeClr val="tx1"/>
                          </a:solidFill>
                          <a:latin typeface="Aptos" pitchFamily="34" charset="0"/>
                          <a:ea typeface="Aptos" pitchFamily="34" charset="-122"/>
                          <a:cs typeface="Aptos" pitchFamily="34" charset="-120"/>
                        </a:rPr>
                        <a:t>ERROR</a:t>
                      </a:r>
                      <a:endParaRPr lang="en-US" sz="920" dirty="0">
                        <a:solidFill>
                          <a:schemeClr val="tx1"/>
                        </a:solidFill>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10896">
                <a:tc>
                  <a:txBody>
                    <a:bodyPr/>
                    <a:lstStyle/>
                    <a:p>
                      <a:pPr marL="0" indent="0">
                        <a:buNone/>
                      </a:pPr>
                      <a:r>
                        <a:rPr lang="en-US" sz="920" dirty="0">
                          <a:solidFill>
                            <a:srgbClr val="243B53"/>
                          </a:solidFill>
                          <a:latin typeface="Aptos" pitchFamily="34" charset="0"/>
                          <a:ea typeface="Aptos" pitchFamily="34" charset="-122"/>
                          <a:cs typeface="Aptos" pitchFamily="34" charset="-120"/>
                        </a:rPr>
                        <a:t>10</a:t>
                      </a:r>
                      <a:endParaRPr lang="en-US" sz="920" dirty="0">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1,196</a:t>
                      </a:r>
                      <a:endParaRPr lang="en-US" sz="920" dirty="0">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19.82</a:t>
                      </a:r>
                      <a:endParaRPr lang="en-US" sz="920" dirty="0">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710.93 ms</a:t>
                      </a:r>
                      <a:endParaRPr lang="en-US" sz="920" dirty="0">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0%</a:t>
                      </a:r>
                      <a:endParaRPr lang="en-US" sz="920" dirty="0">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920" dirty="0">
                          <a:solidFill>
                            <a:srgbClr val="243B53"/>
                          </a:solidFill>
                          <a:latin typeface="Aptos" pitchFamily="34" charset="0"/>
                          <a:ea typeface="Aptos" pitchFamily="34" charset="-122"/>
                          <a:cs typeface="Aptos" pitchFamily="34" charset="-120"/>
                        </a:rPr>
                        <a:t>20</a:t>
                      </a:r>
                      <a:endParaRPr lang="en-US" sz="920" dirty="0">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1,081</a:t>
                      </a:r>
                      <a:endParaRPr lang="en-US" sz="920" dirty="0">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17.90</a:t>
                      </a:r>
                      <a:endParaRPr lang="en-US" sz="920" dirty="0">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1,592.10 ms</a:t>
                      </a:r>
                      <a:endParaRPr lang="en-US" sz="920" dirty="0">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0%</a:t>
                      </a:r>
                      <a:endParaRPr lang="en-US" sz="920" dirty="0">
                        <a:latin typeface="Aptos" charset="0"/>
                        <a:ea typeface="Aptos" charset="0"/>
                        <a:cs typeface="Aptos" charset="0"/>
                      </a:endParaRPr>
                    </a:p>
                  </a:txBody>
                  <a:tcPr marL="36576" marR="36576" marT="36576" marB="36576">
                    <a:lnL w="7620" cap="flat" cmpd="sng" algn="ctr">
                      <a:solidFill>
                        <a:srgbClr val="D9E3EE"/>
                      </a:solidFill>
                      <a:prstDash val="solid"/>
                      <a:round/>
                      <a:headEnd type="none" w="med" len="med"/>
                      <a:tailEnd type="none" w="med" len="med"/>
                    </a:lnL>
                    <a:lnR w="7620" cap="flat" cmpd="sng" algn="ctr">
                      <a:solidFill>
                        <a:srgbClr val="D9E3EE"/>
                      </a:solidFill>
                      <a:prstDash val="solid"/>
                      <a:round/>
                      <a:headEnd type="none" w="med" len="med"/>
                      <a:tailEnd type="none" w="med" len="med"/>
                    </a:lnR>
                    <a:lnT w="7620" cap="flat" cmpd="sng" algn="ctr">
                      <a:solidFill>
                        <a:srgbClr val="D9E3EE"/>
                      </a:solidFill>
                      <a:prstDash val="solid"/>
                      <a:round/>
                      <a:headEnd type="none" w="med" len="med"/>
                      <a:tailEnd type="none" w="med" len="med"/>
                    </a:lnT>
                    <a:lnB w="762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9" name="Text 25"/>
          <p:cNvSpPr/>
          <p:nvPr/>
        </p:nvSpPr>
        <p:spPr>
          <a:xfrm>
            <a:off x="6839712" y="5696712"/>
            <a:ext cx="4160520" cy="256032"/>
          </a:xfrm>
          <a:prstGeom prst="rect">
            <a:avLst/>
          </a:prstGeom>
          <a:noFill/>
          <a:ln/>
        </p:spPr>
        <p:txBody>
          <a:bodyPr wrap="square" lIns="0" tIns="0" rIns="0" bIns="0" rtlCol="0" anchor="t">
            <a:normAutofit/>
          </a:bodyPr>
          <a:lstStyle/>
          <a:p>
            <a:pPr marL="0" indent="0" algn="l">
              <a:buNone/>
            </a:pPr>
            <a:r>
              <a:rPr lang="en-US" sz="940" b="1" dirty="0">
                <a:solidFill>
                  <a:srgbClr val="63758A"/>
                </a:solidFill>
                <a:latin typeface="Aptos" pitchFamily="34" charset="0"/>
                <a:ea typeface="Aptos" pitchFamily="34" charset="-122"/>
                <a:cs typeface="Aptos" pitchFamily="34" charset="-120"/>
              </a:rPr>
              <a:t>Cả hai mức: p95 &lt; 2s và lỗi &lt; 1%; mới kiểm chứng tới 20 users.</a:t>
            </a:r>
            <a:endParaRPr lang="en-US" sz="940" dirty="0"/>
          </a:p>
        </p:txBody>
      </p:sp>
      <p:sp>
        <p:nvSpPr>
          <p:cNvPr id="30"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t>17</a:t>
            </a:fld>
            <a:endParaRPr lang="en-US"/>
          </a:p>
        </p:txBody>
      </p:sp>
      <p:sp>
        <p:nvSpPr>
          <p:cNvPr id="31"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15</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latin typeface="Times New Roman" panose="02020603050405020304" pitchFamily="18" charset="0"/>
                <a:cs typeface="Times New Roman" panose="02020603050405020304" pitchFamily="18" charset="0"/>
              </a:rPr>
              <a:t>Kết luận, hạn chế &amp; phân công</a:t>
            </a:r>
            <a:endParaRPr lang="en-US" sz="2500" dirty="0">
              <a:latin typeface="Times New Roman" panose="02020603050405020304" pitchFamily="18" charset="0"/>
              <a:cs typeface="Times New Roman" panose="02020603050405020304" pitchFamily="18" charset="0"/>
            </a:endParaRPr>
          </a:p>
        </p:txBody>
      </p:sp>
      <p:sp>
        <p:nvSpPr>
          <p:cNvPr id="5" name="Shape 3"/>
          <p:cNvSpPr/>
          <p:nvPr/>
        </p:nvSpPr>
        <p:spPr>
          <a:xfrm>
            <a:off x="658368" y="1572768"/>
            <a:ext cx="3657600" cy="3355848"/>
          </a:xfrm>
          <a:prstGeom prst="roundRect">
            <a:avLst>
              <a:gd name="adj" fmla="val 3270"/>
            </a:avLst>
          </a:prstGeom>
          <a:solidFill>
            <a:srgbClr val="EAF8F0"/>
          </a:solidFill>
          <a:ln w="10160">
            <a:solidFill>
              <a:srgbClr val="EAF8F0"/>
            </a:solidFill>
            <a:prstDash val="solid"/>
          </a:ln>
          <a:effectLst>
            <a:outerShdw algn="bl" rotWithShape="0">
              <a:srgbClr val="000000">
                <a:alpha val="0"/>
              </a:srgbClr>
            </a:outerShdw>
          </a:effectLst>
        </p:spPr>
      </p:sp>
      <p:sp>
        <p:nvSpPr>
          <p:cNvPr id="6" name="Shape 4"/>
          <p:cNvSpPr/>
          <p:nvPr/>
        </p:nvSpPr>
        <p:spPr>
          <a:xfrm>
            <a:off x="914400" y="1847088"/>
            <a:ext cx="1051560" cy="310896"/>
          </a:xfrm>
          <a:prstGeom prst="roundRect">
            <a:avLst/>
          </a:prstGeom>
          <a:solidFill>
            <a:srgbClr val="EDF4FF"/>
          </a:solidFill>
          <a:ln w="12700">
            <a:solidFill>
              <a:srgbClr val="EDF4FF"/>
            </a:solidFill>
            <a:prstDash val="solid"/>
          </a:ln>
        </p:spPr>
      </p:sp>
      <p:sp>
        <p:nvSpPr>
          <p:cNvPr id="7" name="Text 5"/>
          <p:cNvSpPr/>
          <p:nvPr/>
        </p:nvSpPr>
        <p:spPr>
          <a:xfrm>
            <a:off x="914400" y="1874520"/>
            <a:ext cx="1051560" cy="246888"/>
          </a:xfrm>
          <a:prstGeom prst="rect">
            <a:avLst/>
          </a:prstGeom>
          <a:noFill/>
          <a:ln/>
        </p:spPr>
        <p:txBody>
          <a:bodyPr wrap="square" lIns="0" tIns="0" rIns="0" bIns="0" rtlCol="0" anchor="ctr">
            <a:normAutofit/>
          </a:bodyPr>
          <a:lstStyle/>
          <a:p>
            <a:pPr marL="0" indent="0" algn="ctr">
              <a:buNone/>
            </a:pPr>
            <a:r>
              <a:rPr lang="en-US" sz="900" b="1" dirty="0">
                <a:solidFill>
                  <a:srgbClr val="1FA971"/>
                </a:solidFill>
                <a:latin typeface="Times New Roman" panose="02020603050405020304" pitchFamily="18" charset="0"/>
                <a:ea typeface="Aptos" pitchFamily="34" charset="-122"/>
                <a:cs typeface="Times New Roman" panose="02020603050405020304" pitchFamily="18" charset="0"/>
              </a:rPr>
              <a:t>KẾT QUẢ</a:t>
            </a:r>
            <a:endParaRPr lang="en-US" sz="900" dirty="0">
              <a:latin typeface="Times New Roman" panose="02020603050405020304" pitchFamily="18" charset="0"/>
              <a:cs typeface="Times New Roman" panose="02020603050405020304" pitchFamily="18" charset="0"/>
            </a:endParaRPr>
          </a:p>
        </p:txBody>
      </p:sp>
      <p:sp>
        <p:nvSpPr>
          <p:cNvPr id="8" name="Text 6"/>
          <p:cNvSpPr/>
          <p:nvPr/>
        </p:nvSpPr>
        <p:spPr>
          <a:xfrm>
            <a:off x="914400" y="2340864"/>
            <a:ext cx="3127248" cy="2212848"/>
          </a:xfrm>
          <a:prstGeom prst="rect">
            <a:avLst/>
          </a:prstGeom>
          <a:noFill/>
          <a:ln/>
        </p:spPr>
        <p:txBody>
          <a:bodyPr wrap="square" lIns="0" tIns="0" rIns="0" bIns="0" rtlCol="0" anchor="ctr">
            <a:normAutofit/>
          </a:bodyPr>
          <a:lstStyle/>
          <a:p>
            <a:pPr marL="0" indent="0">
              <a:buNone/>
            </a:pPr>
            <a:r>
              <a:rPr lang="en-US" sz="1100" b="1" dirty="0">
                <a:solidFill>
                  <a:srgbClr val="1FA971"/>
                </a:solidFill>
                <a:latin typeface="Times New Roman" panose="02020603050405020304" pitchFamily="18" charset="0"/>
                <a:ea typeface="Aptos" pitchFamily="34" charset="-122"/>
                <a:cs typeface="Times New Roman" panose="02020603050405020304" pitchFamily="18" charset="0"/>
              </a:rPr>
              <a:t>• </a:t>
            </a: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Hoàn thành pipeline EDA → preprocess → train → evaluate → deploy.</a:t>
            </a:r>
            <a:r>
              <a:rPr lang="en-US" sz="110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100" dirty="0">
              <a:latin typeface="Times New Roman" panose="02020603050405020304" pitchFamily="18" charset="0"/>
              <a:cs typeface="Times New Roman" panose="02020603050405020304" pitchFamily="18" charset="0"/>
            </a:endParaRPr>
          </a:p>
          <a:p>
            <a:pPr marL="0" indent="0">
              <a:buNone/>
            </a:pPr>
            <a:r>
              <a:rPr lang="en-US" sz="1100" b="1" dirty="0">
                <a:solidFill>
                  <a:srgbClr val="1FA971"/>
                </a:solidFill>
                <a:latin typeface="Times New Roman" panose="02020603050405020304" pitchFamily="18" charset="0"/>
                <a:ea typeface="Aptos" pitchFamily="34" charset="-122"/>
                <a:cs typeface="Times New Roman" panose="02020603050405020304" pitchFamily="18" charset="0"/>
              </a:rPr>
              <a:t>• </a:t>
            </a: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Logistic Regression v1.0.0 được chọn làm model triển khai.</a:t>
            </a:r>
            <a:r>
              <a:rPr lang="en-US" sz="110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100" dirty="0">
              <a:latin typeface="Times New Roman" panose="02020603050405020304" pitchFamily="18" charset="0"/>
              <a:cs typeface="Times New Roman" panose="02020603050405020304" pitchFamily="18" charset="0"/>
            </a:endParaRPr>
          </a:p>
          <a:p>
            <a:pPr marL="0" indent="0">
              <a:buNone/>
            </a:pPr>
            <a:r>
              <a:rPr lang="en-US" sz="1100" b="1" dirty="0">
                <a:solidFill>
                  <a:srgbClr val="1FA971"/>
                </a:solidFill>
                <a:latin typeface="Times New Roman" panose="02020603050405020304" pitchFamily="18" charset="0"/>
                <a:ea typeface="Aptos" pitchFamily="34" charset="-122"/>
                <a:cs typeface="Times New Roman" panose="02020603050405020304" pitchFamily="18" charset="0"/>
              </a:rPr>
              <a:t>• </a:t>
            </a: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Đóng gói model.joblib + schema.json + metadata.json.</a:t>
            </a:r>
            <a:r>
              <a:rPr lang="en-US" sz="110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100" dirty="0">
              <a:latin typeface="Times New Roman" panose="02020603050405020304" pitchFamily="18" charset="0"/>
              <a:cs typeface="Times New Roman" panose="02020603050405020304" pitchFamily="18" charset="0"/>
            </a:endParaRPr>
          </a:p>
          <a:p>
            <a:pPr marL="0" indent="0">
              <a:buNone/>
            </a:pPr>
            <a:r>
              <a:rPr lang="en-US" sz="1100" b="1" dirty="0">
                <a:solidFill>
                  <a:srgbClr val="1FA971"/>
                </a:solidFill>
                <a:latin typeface="Times New Roman" panose="02020603050405020304" pitchFamily="18" charset="0"/>
                <a:ea typeface="Aptos" pitchFamily="34" charset="-122"/>
                <a:cs typeface="Times New Roman" panose="02020603050405020304" pitchFamily="18" charset="0"/>
              </a:rPr>
              <a:t>• </a:t>
            </a: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Tích hợp FastAPI, Node.js/Express, MongoDB và Docker Compose.</a:t>
            </a:r>
            <a:r>
              <a:rPr lang="en-US" sz="110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100" dirty="0">
              <a:latin typeface="Times New Roman" panose="02020603050405020304" pitchFamily="18" charset="0"/>
              <a:cs typeface="Times New Roman" panose="02020603050405020304" pitchFamily="18" charset="0"/>
            </a:endParaRPr>
          </a:p>
          <a:p>
            <a:pPr marL="0" indent="0">
              <a:buNone/>
            </a:pPr>
            <a:r>
              <a:rPr lang="en-US" sz="1100" b="1" dirty="0">
                <a:solidFill>
                  <a:srgbClr val="1FA971"/>
                </a:solidFill>
                <a:latin typeface="Times New Roman" panose="02020603050405020304" pitchFamily="18" charset="0"/>
                <a:ea typeface="Aptos" pitchFamily="34" charset="-122"/>
                <a:cs typeface="Times New Roman" panose="02020603050405020304" pitchFamily="18" charset="0"/>
              </a:rPr>
              <a:t>• </a:t>
            </a:r>
            <a:r>
              <a:rPr lang="en-US" sz="1100" dirty="0">
                <a:solidFill>
                  <a:srgbClr val="243B53"/>
                </a:solidFill>
                <a:latin typeface="Times New Roman" panose="02020603050405020304" pitchFamily="18" charset="0"/>
                <a:ea typeface="Aptos" pitchFamily="34" charset="-122"/>
                <a:cs typeface="Times New Roman" panose="02020603050405020304" pitchFamily="18" charset="0"/>
              </a:rPr>
              <a:t>Hoàn thành API test, browser test và load test.</a:t>
            </a:r>
            <a:endParaRPr lang="en-US" sz="1100" dirty="0">
              <a:latin typeface="Times New Roman" panose="02020603050405020304" pitchFamily="18" charset="0"/>
              <a:cs typeface="Times New Roman" panose="02020603050405020304" pitchFamily="18" charset="0"/>
            </a:endParaRPr>
          </a:p>
        </p:txBody>
      </p:sp>
      <p:sp>
        <p:nvSpPr>
          <p:cNvPr id="9" name="Shape 7"/>
          <p:cNvSpPr/>
          <p:nvPr/>
        </p:nvSpPr>
        <p:spPr>
          <a:xfrm>
            <a:off x="4526280" y="1572768"/>
            <a:ext cx="3310128" cy="3355848"/>
          </a:xfrm>
          <a:prstGeom prst="roundRect">
            <a:avLst>
              <a:gd name="adj" fmla="val 3315"/>
            </a:avLst>
          </a:prstGeom>
          <a:solidFill>
            <a:srgbClr val="FFF7E6"/>
          </a:solidFill>
          <a:ln w="10160">
            <a:solidFill>
              <a:srgbClr val="FFF7E6"/>
            </a:solidFill>
            <a:prstDash val="solid"/>
          </a:ln>
          <a:effectLst>
            <a:outerShdw algn="bl" rotWithShape="0">
              <a:srgbClr val="000000">
                <a:alpha val="0"/>
              </a:srgbClr>
            </a:outerShdw>
          </a:effectLst>
        </p:spPr>
      </p:sp>
      <p:sp>
        <p:nvSpPr>
          <p:cNvPr id="10" name="Shape 8"/>
          <p:cNvSpPr/>
          <p:nvPr/>
        </p:nvSpPr>
        <p:spPr>
          <a:xfrm>
            <a:off x="4773168" y="1847088"/>
            <a:ext cx="1078992" cy="310896"/>
          </a:xfrm>
          <a:prstGeom prst="roundRect">
            <a:avLst/>
          </a:prstGeom>
          <a:solidFill>
            <a:srgbClr val="EDF4FF"/>
          </a:solidFill>
          <a:ln w="12700">
            <a:solidFill>
              <a:srgbClr val="EDF4FF"/>
            </a:solidFill>
            <a:prstDash val="solid"/>
          </a:ln>
        </p:spPr>
      </p:sp>
      <p:sp>
        <p:nvSpPr>
          <p:cNvPr id="11" name="Text 9"/>
          <p:cNvSpPr/>
          <p:nvPr/>
        </p:nvSpPr>
        <p:spPr>
          <a:xfrm>
            <a:off x="4773168" y="1874520"/>
            <a:ext cx="1078992" cy="246888"/>
          </a:xfrm>
          <a:prstGeom prst="rect">
            <a:avLst/>
          </a:prstGeom>
          <a:noFill/>
          <a:ln/>
        </p:spPr>
        <p:txBody>
          <a:bodyPr wrap="square" lIns="0" tIns="0" rIns="0" bIns="0" rtlCol="0" anchor="ctr">
            <a:normAutofit/>
          </a:bodyPr>
          <a:lstStyle/>
          <a:p>
            <a:pPr marL="0" indent="0" algn="ctr">
              <a:buNone/>
            </a:pPr>
            <a:r>
              <a:rPr lang="en-US" sz="900" b="1" dirty="0">
                <a:solidFill>
                  <a:srgbClr val="E7A61A"/>
                </a:solidFill>
                <a:latin typeface="Times New Roman" panose="02020603050405020304" pitchFamily="18" charset="0"/>
                <a:ea typeface="Aptos" pitchFamily="34" charset="-122"/>
                <a:cs typeface="Times New Roman" panose="02020603050405020304" pitchFamily="18" charset="0"/>
              </a:rPr>
              <a:t>HẠN CHẾ</a:t>
            </a:r>
            <a:endParaRPr lang="en-US" sz="900" dirty="0">
              <a:latin typeface="Times New Roman" panose="02020603050405020304" pitchFamily="18" charset="0"/>
              <a:cs typeface="Times New Roman" panose="02020603050405020304" pitchFamily="18" charset="0"/>
            </a:endParaRPr>
          </a:p>
        </p:txBody>
      </p:sp>
      <p:sp>
        <p:nvSpPr>
          <p:cNvPr id="12" name="Text 10"/>
          <p:cNvSpPr/>
          <p:nvPr/>
        </p:nvSpPr>
        <p:spPr>
          <a:xfrm>
            <a:off x="4773168" y="2340864"/>
            <a:ext cx="2761488" cy="2011680"/>
          </a:xfrm>
          <a:prstGeom prst="rect">
            <a:avLst/>
          </a:prstGeom>
          <a:noFill/>
          <a:ln/>
        </p:spPr>
        <p:txBody>
          <a:bodyPr wrap="square" lIns="0" tIns="0" rIns="0" bIns="0" rtlCol="0" anchor="ctr">
            <a:normAutofit/>
          </a:bodyPr>
          <a:lstStyle/>
          <a:p>
            <a:pPr marL="0" indent="0">
              <a:buNone/>
            </a:pPr>
            <a:r>
              <a:rPr lang="en-US" sz="1090" b="1" dirty="0">
                <a:solidFill>
                  <a:srgbClr val="E7A61A"/>
                </a:solidFill>
                <a:latin typeface="Times New Roman" panose="02020603050405020304" pitchFamily="18" charset="0"/>
                <a:ea typeface="Aptos" pitchFamily="34" charset="-122"/>
                <a:cs typeface="Times New Roman" panose="02020603050405020304" pitchFamily="18" charset="0"/>
              </a:rPr>
              <a:t>• </a:t>
            </a:r>
            <a:r>
              <a:rPr lang="en-US" sz="1090" dirty="0">
                <a:solidFill>
                  <a:srgbClr val="243B53"/>
                </a:solidFill>
                <a:latin typeface="Times New Roman" panose="02020603050405020304" pitchFamily="18" charset="0"/>
                <a:ea typeface="Aptos" pitchFamily="34" charset="-122"/>
                <a:cs typeface="Times New Roman" panose="02020603050405020304" pitchFamily="18" charset="0"/>
              </a:rPr>
              <a:t>Dataset chỉ 400 mẫu; test set 80 mẫu.</a:t>
            </a:r>
            <a:r>
              <a:rPr lang="en-US" sz="109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090" dirty="0">
              <a:latin typeface="Times New Roman" panose="02020603050405020304" pitchFamily="18" charset="0"/>
              <a:cs typeface="Times New Roman" panose="02020603050405020304" pitchFamily="18" charset="0"/>
            </a:endParaRPr>
          </a:p>
          <a:p>
            <a:pPr marL="0" indent="0">
              <a:buNone/>
            </a:pPr>
            <a:r>
              <a:rPr lang="en-US" sz="1090" b="1" dirty="0">
                <a:solidFill>
                  <a:srgbClr val="E7A61A"/>
                </a:solidFill>
                <a:latin typeface="Times New Roman" panose="02020603050405020304" pitchFamily="18" charset="0"/>
                <a:ea typeface="Aptos" pitchFamily="34" charset="-122"/>
                <a:cs typeface="Times New Roman" panose="02020603050405020304" pitchFamily="18" charset="0"/>
              </a:rPr>
              <a:t>• </a:t>
            </a:r>
            <a:r>
              <a:rPr lang="en-US" sz="1090" dirty="0">
                <a:solidFill>
                  <a:srgbClr val="243B53"/>
                </a:solidFill>
                <a:latin typeface="Times New Roman" panose="02020603050405020304" pitchFamily="18" charset="0"/>
                <a:ea typeface="Aptos" pitchFamily="34" charset="-122"/>
                <a:cs typeface="Times New Roman" panose="02020603050405020304" pitchFamily="18" charset="0"/>
              </a:rPr>
              <a:t>Chưa external validation / multi-center validation.</a:t>
            </a:r>
            <a:r>
              <a:rPr lang="en-US" sz="109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090" dirty="0">
              <a:latin typeface="Times New Roman" panose="02020603050405020304" pitchFamily="18" charset="0"/>
              <a:cs typeface="Times New Roman" panose="02020603050405020304" pitchFamily="18" charset="0"/>
            </a:endParaRPr>
          </a:p>
          <a:p>
            <a:pPr marL="0" indent="0">
              <a:buNone/>
            </a:pPr>
            <a:r>
              <a:rPr lang="en-US" sz="1090" b="1" dirty="0">
                <a:solidFill>
                  <a:srgbClr val="E7A61A"/>
                </a:solidFill>
                <a:latin typeface="Times New Roman" panose="02020603050405020304" pitchFamily="18" charset="0"/>
                <a:ea typeface="Aptos" pitchFamily="34" charset="-122"/>
                <a:cs typeface="Times New Roman" panose="02020603050405020304" pitchFamily="18" charset="0"/>
              </a:rPr>
              <a:t>• </a:t>
            </a:r>
            <a:r>
              <a:rPr lang="en-US" sz="1090" dirty="0">
                <a:solidFill>
                  <a:srgbClr val="243B53"/>
                </a:solidFill>
                <a:latin typeface="Times New Roman" panose="02020603050405020304" pitchFamily="18" charset="0"/>
                <a:ea typeface="Aptos" pitchFamily="34" charset="-122"/>
                <a:cs typeface="Times New Roman" panose="02020603050405020304" pitchFamily="18" charset="0"/>
              </a:rPr>
              <a:t>Chưa calibration, confidence interval và fairness đầy đủ.</a:t>
            </a:r>
            <a:r>
              <a:rPr lang="en-US" sz="109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090" dirty="0">
              <a:latin typeface="Times New Roman" panose="02020603050405020304" pitchFamily="18" charset="0"/>
              <a:cs typeface="Times New Roman" panose="02020603050405020304" pitchFamily="18" charset="0"/>
            </a:endParaRPr>
          </a:p>
          <a:p>
            <a:pPr marL="0" indent="0">
              <a:buNone/>
            </a:pPr>
            <a:r>
              <a:rPr lang="en-US" sz="1090" b="1" dirty="0">
                <a:solidFill>
                  <a:srgbClr val="E7A61A"/>
                </a:solidFill>
                <a:latin typeface="Times New Roman" panose="02020603050405020304" pitchFamily="18" charset="0"/>
                <a:ea typeface="Aptos" pitchFamily="34" charset="-122"/>
                <a:cs typeface="Times New Roman" panose="02020603050405020304" pitchFamily="18" charset="0"/>
              </a:rPr>
              <a:t>• </a:t>
            </a:r>
            <a:r>
              <a:rPr lang="en-US" sz="1090" dirty="0">
                <a:solidFill>
                  <a:srgbClr val="243B53"/>
                </a:solidFill>
                <a:latin typeface="Times New Roman" panose="02020603050405020304" pitchFamily="18" charset="0"/>
                <a:ea typeface="Aptos" pitchFamily="34" charset="-122"/>
                <a:cs typeface="Times New Roman" panose="02020603050405020304" pitchFamily="18" charset="0"/>
              </a:rPr>
              <a:t>Kết quả không thay thế chẩn đoán hoặc quyết định điều trị.</a:t>
            </a:r>
            <a:endParaRPr lang="en-US" sz="1090" dirty="0">
              <a:latin typeface="Times New Roman" panose="02020603050405020304" pitchFamily="18" charset="0"/>
              <a:cs typeface="Times New Roman" panose="02020603050405020304" pitchFamily="18" charset="0"/>
            </a:endParaRPr>
          </a:p>
        </p:txBody>
      </p:sp>
      <p:sp>
        <p:nvSpPr>
          <p:cNvPr id="13" name="Shape 11"/>
          <p:cNvSpPr/>
          <p:nvPr/>
        </p:nvSpPr>
        <p:spPr>
          <a:xfrm>
            <a:off x="8046720" y="1572768"/>
            <a:ext cx="3502152" cy="3355848"/>
          </a:xfrm>
          <a:prstGeom prst="roundRect">
            <a:avLst>
              <a:gd name="adj" fmla="val 3270"/>
            </a:avLst>
          </a:prstGeom>
          <a:solidFill>
            <a:srgbClr val="EDF4FF"/>
          </a:solidFill>
          <a:ln w="10160">
            <a:solidFill>
              <a:srgbClr val="EDF4FF"/>
            </a:solidFill>
            <a:prstDash val="solid"/>
          </a:ln>
          <a:effectLst>
            <a:outerShdw algn="bl" rotWithShape="0">
              <a:srgbClr val="000000">
                <a:alpha val="0"/>
              </a:srgbClr>
            </a:outerShdw>
          </a:effectLst>
        </p:spPr>
      </p:sp>
      <p:sp>
        <p:nvSpPr>
          <p:cNvPr id="14" name="Shape 12"/>
          <p:cNvSpPr/>
          <p:nvPr/>
        </p:nvSpPr>
        <p:spPr>
          <a:xfrm>
            <a:off x="8302752" y="1847088"/>
            <a:ext cx="1627632" cy="310896"/>
          </a:xfrm>
          <a:prstGeom prst="roundRect">
            <a:avLst/>
          </a:prstGeom>
          <a:solidFill>
            <a:srgbClr val="EDF4FF"/>
          </a:solidFill>
          <a:ln w="12700">
            <a:solidFill>
              <a:srgbClr val="EDF4FF"/>
            </a:solidFill>
            <a:prstDash val="solid"/>
          </a:ln>
        </p:spPr>
      </p:sp>
      <p:sp>
        <p:nvSpPr>
          <p:cNvPr id="15" name="Text 13"/>
          <p:cNvSpPr/>
          <p:nvPr/>
        </p:nvSpPr>
        <p:spPr>
          <a:xfrm>
            <a:off x="8302752" y="1874520"/>
            <a:ext cx="1627632" cy="246888"/>
          </a:xfrm>
          <a:prstGeom prst="rect">
            <a:avLst/>
          </a:prstGeom>
          <a:noFill/>
          <a:ln/>
        </p:spPr>
        <p:txBody>
          <a:bodyPr wrap="square" lIns="0" tIns="0" rIns="0" bIns="0" rtlCol="0" anchor="ctr">
            <a:normAutofit/>
          </a:bodyPr>
          <a:lstStyle/>
          <a:p>
            <a:pPr marL="0" indent="0" algn="ctr">
              <a:buNone/>
            </a:pPr>
            <a:r>
              <a:rPr lang="en-US" sz="900" b="1" dirty="0">
                <a:solidFill>
                  <a:srgbClr val="2457D6"/>
                </a:solidFill>
                <a:latin typeface="Times New Roman" panose="02020603050405020304" pitchFamily="18" charset="0"/>
                <a:ea typeface="Aptos" pitchFamily="34" charset="-122"/>
                <a:cs typeface="Times New Roman" panose="02020603050405020304" pitchFamily="18" charset="0"/>
              </a:rPr>
              <a:t>HƯỚNG PHÁT TRIỂN</a:t>
            </a:r>
            <a:endParaRPr lang="en-US" sz="900" dirty="0">
              <a:latin typeface="Times New Roman" panose="02020603050405020304" pitchFamily="18" charset="0"/>
              <a:cs typeface="Times New Roman" panose="02020603050405020304" pitchFamily="18" charset="0"/>
            </a:endParaRPr>
          </a:p>
        </p:txBody>
      </p:sp>
      <p:sp>
        <p:nvSpPr>
          <p:cNvPr id="16" name="Text 14"/>
          <p:cNvSpPr/>
          <p:nvPr/>
        </p:nvSpPr>
        <p:spPr>
          <a:xfrm>
            <a:off x="8302752" y="2340864"/>
            <a:ext cx="2880360" cy="2011680"/>
          </a:xfrm>
          <a:prstGeom prst="rect">
            <a:avLst/>
          </a:prstGeom>
          <a:noFill/>
          <a:ln/>
        </p:spPr>
        <p:txBody>
          <a:bodyPr wrap="square" lIns="0" tIns="0" rIns="0" bIns="0" rtlCol="0" anchor="ctr">
            <a:normAutofit/>
          </a:bodyPr>
          <a:lstStyle/>
          <a:p>
            <a:pPr marL="0" indent="0">
              <a:buNone/>
            </a:pPr>
            <a:r>
              <a:rPr lang="en-US" sz="1090" b="1" dirty="0">
                <a:solidFill>
                  <a:srgbClr val="2457D6"/>
                </a:solidFill>
                <a:latin typeface="Times New Roman" panose="02020603050405020304" pitchFamily="18" charset="0"/>
                <a:ea typeface="Aptos" pitchFamily="34" charset="-122"/>
                <a:cs typeface="Times New Roman" panose="02020603050405020304" pitchFamily="18" charset="0"/>
              </a:rPr>
              <a:t>• </a:t>
            </a:r>
            <a:r>
              <a:rPr lang="en-US" sz="1090" dirty="0">
                <a:solidFill>
                  <a:srgbClr val="243B53"/>
                </a:solidFill>
                <a:latin typeface="Times New Roman" panose="02020603050405020304" pitchFamily="18" charset="0"/>
                <a:ea typeface="Aptos" pitchFamily="34" charset="-122"/>
                <a:cs typeface="Times New Roman" panose="02020603050405020304" pitchFamily="18" charset="0"/>
              </a:rPr>
              <a:t>Mở rộng dữ liệu và external validation.</a:t>
            </a:r>
            <a:r>
              <a:rPr lang="en-US" sz="109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090" dirty="0">
              <a:latin typeface="Times New Roman" panose="02020603050405020304" pitchFamily="18" charset="0"/>
              <a:cs typeface="Times New Roman" panose="02020603050405020304" pitchFamily="18" charset="0"/>
            </a:endParaRPr>
          </a:p>
          <a:p>
            <a:pPr marL="0" indent="0">
              <a:buNone/>
            </a:pPr>
            <a:r>
              <a:rPr lang="en-US" sz="1090" b="1" dirty="0">
                <a:solidFill>
                  <a:srgbClr val="2457D6"/>
                </a:solidFill>
                <a:latin typeface="Times New Roman" panose="02020603050405020304" pitchFamily="18" charset="0"/>
                <a:ea typeface="Aptos" pitchFamily="34" charset="-122"/>
                <a:cs typeface="Times New Roman" panose="02020603050405020304" pitchFamily="18" charset="0"/>
              </a:rPr>
              <a:t>• </a:t>
            </a:r>
            <a:r>
              <a:rPr lang="en-US" sz="1090" dirty="0">
                <a:solidFill>
                  <a:srgbClr val="243B53"/>
                </a:solidFill>
                <a:latin typeface="Times New Roman" panose="02020603050405020304" pitchFamily="18" charset="0"/>
                <a:ea typeface="Aptos" pitchFamily="34" charset="-122"/>
                <a:cs typeface="Times New Roman" panose="02020603050405020304" pitchFamily="18" charset="0"/>
              </a:rPr>
              <a:t>Calibration + confidence interval + fairness.</a:t>
            </a:r>
            <a:r>
              <a:rPr lang="en-US" sz="109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090" dirty="0">
              <a:latin typeface="Times New Roman" panose="02020603050405020304" pitchFamily="18" charset="0"/>
              <a:cs typeface="Times New Roman" panose="02020603050405020304" pitchFamily="18" charset="0"/>
            </a:endParaRPr>
          </a:p>
          <a:p>
            <a:pPr marL="0" indent="0">
              <a:buNone/>
            </a:pPr>
            <a:r>
              <a:rPr lang="en-US" sz="1090" b="1" dirty="0">
                <a:solidFill>
                  <a:srgbClr val="2457D6"/>
                </a:solidFill>
                <a:latin typeface="Times New Roman" panose="02020603050405020304" pitchFamily="18" charset="0"/>
                <a:ea typeface="Aptos" pitchFamily="34" charset="-122"/>
                <a:cs typeface="Times New Roman" panose="02020603050405020304" pitchFamily="18" charset="0"/>
              </a:rPr>
              <a:t>• </a:t>
            </a:r>
            <a:r>
              <a:rPr lang="en-US" sz="1090" dirty="0">
                <a:solidFill>
                  <a:srgbClr val="243B53"/>
                </a:solidFill>
                <a:latin typeface="Times New Roman" panose="02020603050405020304" pitchFamily="18" charset="0"/>
                <a:ea typeface="Aptos" pitchFamily="34" charset="-122"/>
                <a:cs typeface="Times New Roman" panose="02020603050405020304" pitchFamily="18" charset="0"/>
              </a:rPr>
              <a:t>Authentication, phân quyền, mã hóa, audit log.</a:t>
            </a:r>
            <a:r>
              <a:rPr lang="en-US" sz="1090" dirty="0">
                <a:solidFill>
                  <a:srgbClr val="000000"/>
                </a:solidFill>
                <a:latin typeface="Times New Roman" panose="02020603050405020304" pitchFamily="18" charset="0"/>
                <a:ea typeface="Aptos" pitchFamily="34" charset="-122"/>
                <a:cs typeface="Times New Roman" panose="02020603050405020304" pitchFamily="18" charset="0"/>
              </a:rPr>
              <a:t>
</a:t>
            </a:r>
            <a:endParaRPr lang="en-US" sz="1090" dirty="0">
              <a:latin typeface="Times New Roman" panose="02020603050405020304" pitchFamily="18" charset="0"/>
              <a:cs typeface="Times New Roman" panose="02020603050405020304" pitchFamily="18" charset="0"/>
            </a:endParaRPr>
          </a:p>
          <a:p>
            <a:pPr marL="0" indent="0">
              <a:buNone/>
            </a:pPr>
            <a:r>
              <a:rPr lang="en-US" sz="1090" b="1" dirty="0">
                <a:solidFill>
                  <a:srgbClr val="2457D6"/>
                </a:solidFill>
                <a:latin typeface="Times New Roman" panose="02020603050405020304" pitchFamily="18" charset="0"/>
                <a:ea typeface="Aptos" pitchFamily="34" charset="-122"/>
                <a:cs typeface="Times New Roman" panose="02020603050405020304" pitchFamily="18" charset="0"/>
              </a:rPr>
              <a:t>• </a:t>
            </a:r>
            <a:r>
              <a:rPr lang="en-US" sz="1090" dirty="0">
                <a:solidFill>
                  <a:srgbClr val="243B53"/>
                </a:solidFill>
                <a:latin typeface="Times New Roman" panose="02020603050405020304" pitchFamily="18" charset="0"/>
                <a:ea typeface="Aptos" pitchFamily="34" charset="-122"/>
                <a:cs typeface="Times New Roman" panose="02020603050405020304" pitchFamily="18" charset="0"/>
              </a:rPr>
              <a:t>Monitoring production, CI/CD và rollback.</a:t>
            </a:r>
            <a:endParaRPr lang="en-US" sz="1090" dirty="0">
              <a:latin typeface="Times New Roman" panose="02020603050405020304" pitchFamily="18" charset="0"/>
              <a:cs typeface="Times New Roman" panose="02020603050405020304" pitchFamily="18" charset="0"/>
            </a:endParaRPr>
          </a:p>
        </p:txBody>
      </p:sp>
      <p:sp>
        <p:nvSpPr>
          <p:cNvPr id="17" name="Text 15"/>
          <p:cNvSpPr/>
          <p:nvPr/>
        </p:nvSpPr>
        <p:spPr>
          <a:xfrm>
            <a:off x="685800" y="5230368"/>
            <a:ext cx="2194560" cy="256032"/>
          </a:xfrm>
          <a:prstGeom prst="rect">
            <a:avLst/>
          </a:prstGeom>
          <a:noFill/>
          <a:ln/>
        </p:spPr>
        <p:txBody>
          <a:bodyPr wrap="square" lIns="0" tIns="0" rIns="0" bIns="0" rtlCol="0" anchor="t">
            <a:normAutofit/>
          </a:bodyPr>
          <a:lstStyle/>
          <a:p>
            <a:pPr marL="0" indent="0" algn="l">
              <a:buNone/>
            </a:pPr>
            <a:r>
              <a:rPr lang="en-US" sz="1300" b="1" dirty="0">
                <a:solidFill>
                  <a:srgbClr val="102A43"/>
                </a:solidFill>
                <a:latin typeface="Times New Roman" panose="02020603050405020304" pitchFamily="18" charset="0"/>
                <a:ea typeface="Aptos" pitchFamily="34" charset="-122"/>
                <a:cs typeface="Times New Roman" panose="02020603050405020304" pitchFamily="18" charset="0"/>
              </a:rPr>
              <a:t>Phân công công việc</a:t>
            </a:r>
            <a:endParaRPr lang="en-US" sz="1300" dirty="0">
              <a:latin typeface="Times New Roman" panose="02020603050405020304" pitchFamily="18" charset="0"/>
              <a:cs typeface="Times New Roman" panose="02020603050405020304" pitchFamily="18" charset="0"/>
            </a:endParaRPr>
          </a:p>
        </p:txBody>
      </p:sp>
      <p:graphicFrame>
        <p:nvGraphicFramePr>
          <p:cNvPr id="18" name="Table 0"/>
          <p:cNvGraphicFramePr>
            <a:graphicFrameLocks noGrp="1"/>
          </p:cNvGraphicFramePr>
          <p:nvPr>
            <p:extLst>
              <p:ext uri="{D42A27DB-BD31-4B8C-83A1-F6EECF244321}">
                <p14:modId xmlns:p14="http://schemas.microsoft.com/office/powerpoint/2010/main" val="1874917743"/>
              </p:ext>
            </p:extLst>
          </p:nvPr>
        </p:nvGraphicFramePr>
        <p:xfrm>
          <a:off x="685800" y="5559552"/>
          <a:ext cx="10863072" cy="987552"/>
        </p:xfrm>
        <a:graphic>
          <a:graphicData uri="http://schemas.openxmlformats.org/drawingml/2006/table">
            <a:tbl>
              <a:tblPr/>
              <a:tblGrid>
                <a:gridCol w="1874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7754112">
                  <a:extLst>
                    <a:ext uri="{9D8B030D-6E8A-4147-A177-3AD203B41FA5}">
                      <a16:colId xmlns:a16="http://schemas.microsoft.com/office/drawing/2014/main" val="20002"/>
                    </a:ext>
                  </a:extLst>
                </a:gridCol>
              </a:tblGrid>
              <a:tr h="228600">
                <a:tc>
                  <a:txBody>
                    <a:bodyPr/>
                    <a:lstStyle/>
                    <a:p>
                      <a:pPr marL="0" indent="0">
                        <a:buNone/>
                      </a:pPr>
                      <a:r>
                        <a:rPr lang="en-US" sz="1200" b="1" dirty="0">
                          <a:solidFill>
                            <a:schemeClr val="tx1"/>
                          </a:solidFill>
                          <a:latin typeface="Times New Roman" panose="02020603050405020304" pitchFamily="18" charset="0"/>
                          <a:ea typeface="Aptos" pitchFamily="34" charset="-122"/>
                          <a:cs typeface="Times New Roman" panose="02020603050405020304" pitchFamily="18" charset="0"/>
                        </a:rPr>
                        <a:t>THÀNH </a:t>
                      </a:r>
                      <a:r>
                        <a:rPr lang="en-US" sz="1200" b="1" dirty="0" smtClean="0">
                          <a:solidFill>
                            <a:schemeClr val="tx1"/>
                          </a:solidFill>
                          <a:latin typeface="Times New Roman" panose="02020603050405020304" pitchFamily="18" charset="0"/>
                          <a:ea typeface="Aptos" pitchFamily="34" charset="-122"/>
                          <a:cs typeface="Times New Roman" panose="02020603050405020304" pitchFamily="18" charset="0"/>
                        </a:rPr>
                        <a:t>VIÊN</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32004" marR="32004" marT="32004" marB="32004">
                    <a:lnL w="6350" cap="flat" cmpd="sng" algn="ctr">
                      <a:solidFill>
                        <a:srgbClr val="D9E3EE"/>
                      </a:solidFill>
                      <a:prstDash val="solid"/>
                      <a:round/>
                      <a:headEnd type="none" w="med" len="med"/>
                      <a:tailEnd type="none" w="med" len="med"/>
                    </a:lnL>
                    <a:lnR w="6350" cap="flat" cmpd="sng" algn="ctr">
                      <a:solidFill>
                        <a:srgbClr val="D9E3EE"/>
                      </a:solidFill>
                      <a:prstDash val="solid"/>
                      <a:round/>
                      <a:headEnd type="none" w="med" len="med"/>
                      <a:tailEnd type="none" w="med" len="med"/>
                    </a:lnR>
                    <a:lnT w="6350" cap="flat" cmpd="sng" algn="ctr">
                      <a:solidFill>
                        <a:srgbClr val="D9E3EE"/>
                      </a:solidFill>
                      <a:prstDash val="solid"/>
                      <a:round/>
                      <a:headEnd type="none" w="med" len="med"/>
                      <a:tailEnd type="none" w="med" len="med"/>
                    </a:lnT>
                    <a:lnB w="635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200" b="1" dirty="0">
                          <a:solidFill>
                            <a:schemeClr val="tx1"/>
                          </a:solidFill>
                          <a:latin typeface="Times New Roman" panose="02020603050405020304" pitchFamily="18" charset="0"/>
                          <a:ea typeface="Aptos" pitchFamily="34" charset="-122"/>
                          <a:cs typeface="Times New Roman" panose="02020603050405020304" pitchFamily="18" charset="0"/>
                        </a:rPr>
                        <a:t>MSSV</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32004" marR="32004" marT="32004" marB="32004">
                    <a:lnL w="6350" cap="flat" cmpd="sng" algn="ctr">
                      <a:solidFill>
                        <a:srgbClr val="D9E3EE"/>
                      </a:solidFill>
                      <a:prstDash val="solid"/>
                      <a:round/>
                      <a:headEnd type="none" w="med" len="med"/>
                      <a:tailEnd type="none" w="med" len="med"/>
                    </a:lnL>
                    <a:lnR w="6350" cap="flat" cmpd="sng" algn="ctr">
                      <a:solidFill>
                        <a:srgbClr val="D9E3EE"/>
                      </a:solidFill>
                      <a:prstDash val="solid"/>
                      <a:round/>
                      <a:headEnd type="none" w="med" len="med"/>
                      <a:tailEnd type="none" w="med" len="med"/>
                    </a:lnR>
                    <a:lnT w="6350" cap="flat" cmpd="sng" algn="ctr">
                      <a:solidFill>
                        <a:srgbClr val="D9E3EE"/>
                      </a:solidFill>
                      <a:prstDash val="solid"/>
                      <a:round/>
                      <a:headEnd type="none" w="med" len="med"/>
                      <a:tailEnd type="none" w="med" len="med"/>
                    </a:lnT>
                    <a:lnB w="635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200" b="1" dirty="0">
                          <a:solidFill>
                            <a:schemeClr val="tx1"/>
                          </a:solidFill>
                          <a:latin typeface="Times New Roman" panose="02020603050405020304" pitchFamily="18" charset="0"/>
                          <a:ea typeface="Aptos" pitchFamily="34" charset="-122"/>
                          <a:cs typeface="Times New Roman" panose="02020603050405020304" pitchFamily="18" charset="0"/>
                        </a:rPr>
                        <a:t>PHẦN VIỆC CHÍNH</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32004" marR="32004" marT="32004" marB="32004">
                    <a:lnL w="6350" cap="flat" cmpd="sng" algn="ctr">
                      <a:solidFill>
                        <a:srgbClr val="D9E3EE"/>
                      </a:solidFill>
                      <a:prstDash val="solid"/>
                      <a:round/>
                      <a:headEnd type="none" w="med" len="med"/>
                      <a:tailEnd type="none" w="med" len="med"/>
                    </a:lnL>
                    <a:lnR w="6350" cap="flat" cmpd="sng" algn="ctr">
                      <a:solidFill>
                        <a:srgbClr val="D9E3EE"/>
                      </a:solidFill>
                      <a:prstDash val="solid"/>
                      <a:round/>
                      <a:headEnd type="none" w="med" len="med"/>
                      <a:tailEnd type="none" w="med" len="med"/>
                    </a:lnR>
                    <a:lnT w="6350" cap="flat" cmpd="sng" algn="ctr">
                      <a:solidFill>
                        <a:srgbClr val="D9E3EE"/>
                      </a:solidFill>
                      <a:prstDash val="solid"/>
                      <a:round/>
                      <a:headEnd type="none" w="med" len="med"/>
                      <a:tailEnd type="none" w="med" len="med"/>
                    </a:lnT>
                    <a:lnB w="635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28600">
                <a:tc>
                  <a:txBody>
                    <a:bodyPr/>
                    <a:lstStyle/>
                    <a:p>
                      <a:pPr marL="0" indent="0">
                        <a:buNone/>
                      </a:pPr>
                      <a:r>
                        <a:rPr lang="en-US" sz="1200" dirty="0">
                          <a:solidFill>
                            <a:srgbClr val="243B53"/>
                          </a:solidFill>
                          <a:latin typeface="Times New Roman" panose="02020603050405020304" pitchFamily="18" charset="0"/>
                          <a:ea typeface="Aptos" pitchFamily="34" charset="-122"/>
                          <a:cs typeface="Times New Roman" panose="02020603050405020304" pitchFamily="18" charset="0"/>
                        </a:rPr>
                        <a:t>Vũ Tiến Đạt</a:t>
                      </a:r>
                      <a:endParaRPr lang="en-US" sz="1200" dirty="0">
                        <a:latin typeface="Times New Roman" panose="02020603050405020304" pitchFamily="18" charset="0"/>
                        <a:ea typeface="Aptos" charset="0"/>
                        <a:cs typeface="Times New Roman" panose="02020603050405020304" pitchFamily="18" charset="0"/>
                      </a:endParaRPr>
                    </a:p>
                  </a:txBody>
                  <a:tcPr marL="32004" marR="32004" marT="32004" marB="32004">
                    <a:lnL w="6350" cap="flat" cmpd="sng" algn="ctr">
                      <a:solidFill>
                        <a:srgbClr val="D9E3EE"/>
                      </a:solidFill>
                      <a:prstDash val="solid"/>
                      <a:round/>
                      <a:headEnd type="none" w="med" len="med"/>
                      <a:tailEnd type="none" w="med" len="med"/>
                    </a:lnL>
                    <a:lnR w="6350" cap="flat" cmpd="sng" algn="ctr">
                      <a:solidFill>
                        <a:srgbClr val="D9E3EE"/>
                      </a:solidFill>
                      <a:prstDash val="solid"/>
                      <a:round/>
                      <a:headEnd type="none" w="med" len="med"/>
                      <a:tailEnd type="none" w="med" len="med"/>
                    </a:lnR>
                    <a:lnT w="6350" cap="flat" cmpd="sng" algn="ctr">
                      <a:solidFill>
                        <a:srgbClr val="D9E3EE"/>
                      </a:solidFill>
                      <a:prstDash val="solid"/>
                      <a:round/>
                      <a:headEnd type="none" w="med" len="med"/>
                      <a:tailEnd type="none" w="med" len="med"/>
                    </a:lnT>
                    <a:lnB w="635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200" dirty="0">
                          <a:solidFill>
                            <a:srgbClr val="243B53"/>
                          </a:solidFill>
                          <a:latin typeface="Times New Roman" panose="02020603050405020304" pitchFamily="18" charset="0"/>
                          <a:ea typeface="Aptos" pitchFamily="34" charset="-122"/>
                          <a:cs typeface="Times New Roman" panose="02020603050405020304" pitchFamily="18" charset="0"/>
                        </a:rPr>
                        <a:t>10122121</a:t>
                      </a:r>
                      <a:endParaRPr lang="en-US" sz="1200" dirty="0">
                        <a:latin typeface="Times New Roman" panose="02020603050405020304" pitchFamily="18" charset="0"/>
                        <a:ea typeface="Aptos" charset="0"/>
                        <a:cs typeface="Times New Roman" panose="02020603050405020304" pitchFamily="18" charset="0"/>
                      </a:endParaRPr>
                    </a:p>
                  </a:txBody>
                  <a:tcPr marL="32004" marR="32004" marT="32004" marB="32004">
                    <a:lnL w="6350" cap="flat" cmpd="sng" algn="ctr">
                      <a:solidFill>
                        <a:srgbClr val="D9E3EE"/>
                      </a:solidFill>
                      <a:prstDash val="solid"/>
                      <a:round/>
                      <a:headEnd type="none" w="med" len="med"/>
                      <a:tailEnd type="none" w="med" len="med"/>
                    </a:lnL>
                    <a:lnR w="6350" cap="flat" cmpd="sng" algn="ctr">
                      <a:solidFill>
                        <a:srgbClr val="D9E3EE"/>
                      </a:solidFill>
                      <a:prstDash val="solid"/>
                      <a:round/>
                      <a:headEnd type="none" w="med" len="med"/>
                      <a:tailEnd type="none" w="med" len="med"/>
                    </a:lnR>
                    <a:lnT w="6350" cap="flat" cmpd="sng" algn="ctr">
                      <a:solidFill>
                        <a:srgbClr val="D9E3EE"/>
                      </a:solidFill>
                      <a:prstDash val="solid"/>
                      <a:round/>
                      <a:headEnd type="none" w="med" len="med"/>
                      <a:tailEnd type="none" w="med" len="med"/>
                    </a:lnT>
                    <a:lnB w="635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200" dirty="0">
                          <a:solidFill>
                            <a:srgbClr val="243B53"/>
                          </a:solidFill>
                          <a:latin typeface="Times New Roman" panose="02020603050405020304" pitchFamily="18" charset="0"/>
                          <a:ea typeface="Aptos" pitchFamily="34" charset="-122"/>
                          <a:cs typeface="Times New Roman" panose="02020603050405020304" pitchFamily="18" charset="0"/>
                        </a:rPr>
                        <a:t>EDA • tiền xử lý • code ML • Frontend • Docker Frontend</a:t>
                      </a:r>
                      <a:endParaRPr lang="en-US" sz="1200" dirty="0">
                        <a:latin typeface="Times New Roman" panose="02020603050405020304" pitchFamily="18" charset="0"/>
                        <a:ea typeface="Aptos" charset="0"/>
                        <a:cs typeface="Times New Roman" panose="02020603050405020304" pitchFamily="18" charset="0"/>
                      </a:endParaRPr>
                    </a:p>
                  </a:txBody>
                  <a:tcPr marL="32004" marR="32004" marT="32004" marB="32004">
                    <a:lnL w="6350" cap="flat" cmpd="sng" algn="ctr">
                      <a:solidFill>
                        <a:srgbClr val="D9E3EE"/>
                      </a:solidFill>
                      <a:prstDash val="solid"/>
                      <a:round/>
                      <a:headEnd type="none" w="med" len="med"/>
                      <a:tailEnd type="none" w="med" len="med"/>
                    </a:lnL>
                    <a:lnR w="6350" cap="flat" cmpd="sng" algn="ctr">
                      <a:solidFill>
                        <a:srgbClr val="D9E3EE"/>
                      </a:solidFill>
                      <a:prstDash val="solid"/>
                      <a:round/>
                      <a:headEnd type="none" w="med" len="med"/>
                      <a:tailEnd type="none" w="med" len="med"/>
                    </a:lnR>
                    <a:lnT w="6350" cap="flat" cmpd="sng" algn="ctr">
                      <a:solidFill>
                        <a:srgbClr val="D9E3EE"/>
                      </a:solidFill>
                      <a:prstDash val="solid"/>
                      <a:round/>
                      <a:headEnd type="none" w="med" len="med"/>
                      <a:tailEnd type="none" w="med" len="med"/>
                    </a:lnT>
                    <a:lnB w="635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buNone/>
                      </a:pPr>
                      <a:r>
                        <a:rPr lang="en-US" sz="1200" dirty="0">
                          <a:solidFill>
                            <a:srgbClr val="243B53"/>
                          </a:solidFill>
                          <a:latin typeface="Times New Roman" panose="02020603050405020304" pitchFamily="18" charset="0"/>
                          <a:ea typeface="Aptos" pitchFamily="34" charset="-122"/>
                          <a:cs typeface="Times New Roman" panose="02020603050405020304" pitchFamily="18" charset="0"/>
                        </a:rPr>
                        <a:t>Nguyễn Hồng Sơn</a:t>
                      </a:r>
                      <a:endParaRPr lang="en-US" sz="1200" dirty="0">
                        <a:latin typeface="Times New Roman" panose="02020603050405020304" pitchFamily="18" charset="0"/>
                        <a:ea typeface="Aptos" charset="0"/>
                        <a:cs typeface="Times New Roman" panose="02020603050405020304" pitchFamily="18" charset="0"/>
                      </a:endParaRPr>
                    </a:p>
                  </a:txBody>
                  <a:tcPr marL="32004" marR="32004" marT="32004" marB="32004">
                    <a:lnL w="6350" cap="flat" cmpd="sng" algn="ctr">
                      <a:solidFill>
                        <a:srgbClr val="D9E3EE"/>
                      </a:solidFill>
                      <a:prstDash val="solid"/>
                      <a:round/>
                      <a:headEnd type="none" w="med" len="med"/>
                      <a:tailEnd type="none" w="med" len="med"/>
                    </a:lnL>
                    <a:lnR w="6350" cap="flat" cmpd="sng" algn="ctr">
                      <a:solidFill>
                        <a:srgbClr val="D9E3EE"/>
                      </a:solidFill>
                      <a:prstDash val="solid"/>
                      <a:round/>
                      <a:headEnd type="none" w="med" len="med"/>
                      <a:tailEnd type="none" w="med" len="med"/>
                    </a:lnR>
                    <a:lnT w="6350" cap="flat" cmpd="sng" algn="ctr">
                      <a:solidFill>
                        <a:srgbClr val="D9E3EE"/>
                      </a:solidFill>
                      <a:prstDash val="solid"/>
                      <a:round/>
                      <a:headEnd type="none" w="med" len="med"/>
                      <a:tailEnd type="none" w="med" len="med"/>
                    </a:lnT>
                    <a:lnB w="635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200" dirty="0">
                          <a:solidFill>
                            <a:srgbClr val="243B53"/>
                          </a:solidFill>
                          <a:latin typeface="Times New Roman" panose="02020603050405020304" pitchFamily="18" charset="0"/>
                          <a:ea typeface="Aptos" pitchFamily="34" charset="-122"/>
                          <a:cs typeface="Times New Roman" panose="02020603050405020304" pitchFamily="18" charset="0"/>
                        </a:rPr>
                        <a:t>12523075</a:t>
                      </a:r>
                      <a:endParaRPr lang="en-US" sz="1200" dirty="0">
                        <a:latin typeface="Times New Roman" panose="02020603050405020304" pitchFamily="18" charset="0"/>
                        <a:ea typeface="Aptos" charset="0"/>
                        <a:cs typeface="Times New Roman" panose="02020603050405020304" pitchFamily="18" charset="0"/>
                      </a:endParaRPr>
                    </a:p>
                  </a:txBody>
                  <a:tcPr marL="32004" marR="32004" marT="32004" marB="32004">
                    <a:lnL w="6350" cap="flat" cmpd="sng" algn="ctr">
                      <a:solidFill>
                        <a:srgbClr val="D9E3EE"/>
                      </a:solidFill>
                      <a:prstDash val="solid"/>
                      <a:round/>
                      <a:headEnd type="none" w="med" len="med"/>
                      <a:tailEnd type="none" w="med" len="med"/>
                    </a:lnL>
                    <a:lnR w="6350" cap="flat" cmpd="sng" algn="ctr">
                      <a:solidFill>
                        <a:srgbClr val="D9E3EE"/>
                      </a:solidFill>
                      <a:prstDash val="solid"/>
                      <a:round/>
                      <a:headEnd type="none" w="med" len="med"/>
                      <a:tailEnd type="none" w="med" len="med"/>
                    </a:lnR>
                    <a:lnT w="6350" cap="flat" cmpd="sng" algn="ctr">
                      <a:solidFill>
                        <a:srgbClr val="D9E3EE"/>
                      </a:solidFill>
                      <a:prstDash val="solid"/>
                      <a:round/>
                      <a:headEnd type="none" w="med" len="med"/>
                      <a:tailEnd type="none" w="med" len="med"/>
                    </a:lnT>
                    <a:lnB w="635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200" dirty="0">
                          <a:solidFill>
                            <a:srgbClr val="243B53"/>
                          </a:solidFill>
                          <a:latin typeface="Times New Roman" panose="02020603050405020304" pitchFamily="18" charset="0"/>
                          <a:ea typeface="Aptos" pitchFamily="34" charset="-122"/>
                          <a:cs typeface="Times New Roman" panose="02020603050405020304" pitchFamily="18" charset="0"/>
                        </a:rPr>
                        <a:t>Train/evaluate/export model • AI API • Backend API • Docker Compose • triển khai</a:t>
                      </a:r>
                      <a:endParaRPr lang="en-US" sz="1200" dirty="0">
                        <a:latin typeface="Times New Roman" panose="02020603050405020304" pitchFamily="18" charset="0"/>
                        <a:ea typeface="Aptos" charset="0"/>
                        <a:cs typeface="Times New Roman" panose="02020603050405020304" pitchFamily="18" charset="0"/>
                      </a:endParaRPr>
                    </a:p>
                  </a:txBody>
                  <a:tcPr marL="32004" marR="32004" marT="32004" marB="32004">
                    <a:lnL w="6350" cap="flat" cmpd="sng" algn="ctr">
                      <a:solidFill>
                        <a:srgbClr val="D9E3EE"/>
                      </a:solidFill>
                      <a:prstDash val="solid"/>
                      <a:round/>
                      <a:headEnd type="none" w="med" len="med"/>
                      <a:tailEnd type="none" w="med" len="med"/>
                    </a:lnL>
                    <a:lnR w="6350" cap="flat" cmpd="sng" algn="ctr">
                      <a:solidFill>
                        <a:srgbClr val="D9E3EE"/>
                      </a:solidFill>
                      <a:prstDash val="solid"/>
                      <a:round/>
                      <a:headEnd type="none" w="med" len="med"/>
                      <a:tailEnd type="none" w="med" len="med"/>
                    </a:lnR>
                    <a:lnT w="6350" cap="flat" cmpd="sng" algn="ctr">
                      <a:solidFill>
                        <a:srgbClr val="D9E3EE"/>
                      </a:solidFill>
                      <a:prstDash val="solid"/>
                      <a:round/>
                      <a:headEnd type="none" w="med" len="med"/>
                      <a:tailEnd type="none" w="med" len="med"/>
                    </a:lnT>
                    <a:lnB w="635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8600">
                <a:tc>
                  <a:txBody>
                    <a:bodyPr/>
                    <a:lstStyle/>
                    <a:p>
                      <a:pPr marL="0" indent="0">
                        <a:buNone/>
                      </a:pPr>
                      <a:r>
                        <a:rPr lang="en-US" sz="1200" dirty="0">
                          <a:solidFill>
                            <a:srgbClr val="243B53"/>
                          </a:solidFill>
                          <a:latin typeface="Times New Roman" panose="02020603050405020304" pitchFamily="18" charset="0"/>
                          <a:ea typeface="Aptos" pitchFamily="34" charset="-122"/>
                          <a:cs typeface="Times New Roman" panose="02020603050405020304" pitchFamily="18" charset="0"/>
                        </a:rPr>
                        <a:t>Cả nhóm</a:t>
                      </a:r>
                      <a:endParaRPr lang="en-US" sz="1200" dirty="0">
                        <a:latin typeface="Times New Roman" panose="02020603050405020304" pitchFamily="18" charset="0"/>
                        <a:ea typeface="Aptos" charset="0"/>
                        <a:cs typeface="Times New Roman" panose="02020603050405020304" pitchFamily="18" charset="0"/>
                      </a:endParaRPr>
                    </a:p>
                  </a:txBody>
                  <a:tcPr marL="32004" marR="32004" marT="32004" marB="32004">
                    <a:lnL w="6350" cap="flat" cmpd="sng" algn="ctr">
                      <a:solidFill>
                        <a:srgbClr val="D9E3EE"/>
                      </a:solidFill>
                      <a:prstDash val="solid"/>
                      <a:round/>
                      <a:headEnd type="none" w="med" len="med"/>
                      <a:tailEnd type="none" w="med" len="med"/>
                    </a:lnL>
                    <a:lnR w="6350" cap="flat" cmpd="sng" algn="ctr">
                      <a:solidFill>
                        <a:srgbClr val="D9E3EE"/>
                      </a:solidFill>
                      <a:prstDash val="solid"/>
                      <a:round/>
                      <a:headEnd type="none" w="med" len="med"/>
                      <a:tailEnd type="none" w="med" len="med"/>
                    </a:lnR>
                    <a:lnT w="6350" cap="flat" cmpd="sng" algn="ctr">
                      <a:solidFill>
                        <a:srgbClr val="D9E3EE"/>
                      </a:solidFill>
                      <a:prstDash val="solid"/>
                      <a:round/>
                      <a:headEnd type="none" w="med" len="med"/>
                      <a:tailEnd type="none" w="med" len="med"/>
                    </a:lnT>
                    <a:lnB w="635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200" dirty="0">
                          <a:solidFill>
                            <a:srgbClr val="243B53"/>
                          </a:solidFill>
                          <a:latin typeface="Times New Roman" panose="02020603050405020304" pitchFamily="18" charset="0"/>
                          <a:ea typeface="Aptos" pitchFamily="34" charset="-122"/>
                          <a:cs typeface="Times New Roman" panose="02020603050405020304" pitchFamily="18" charset="0"/>
                        </a:rPr>
                        <a:t>—</a:t>
                      </a:r>
                      <a:endParaRPr lang="en-US" sz="1200" dirty="0">
                        <a:latin typeface="Times New Roman" panose="02020603050405020304" pitchFamily="18" charset="0"/>
                        <a:ea typeface="Aptos" charset="0"/>
                        <a:cs typeface="Times New Roman" panose="02020603050405020304" pitchFamily="18" charset="0"/>
                      </a:endParaRPr>
                    </a:p>
                  </a:txBody>
                  <a:tcPr marL="32004" marR="32004" marT="32004" marB="32004">
                    <a:lnL w="6350" cap="flat" cmpd="sng" algn="ctr">
                      <a:solidFill>
                        <a:srgbClr val="D9E3EE"/>
                      </a:solidFill>
                      <a:prstDash val="solid"/>
                      <a:round/>
                      <a:headEnd type="none" w="med" len="med"/>
                      <a:tailEnd type="none" w="med" len="med"/>
                    </a:lnL>
                    <a:lnR w="6350" cap="flat" cmpd="sng" algn="ctr">
                      <a:solidFill>
                        <a:srgbClr val="D9E3EE"/>
                      </a:solidFill>
                      <a:prstDash val="solid"/>
                      <a:round/>
                      <a:headEnd type="none" w="med" len="med"/>
                      <a:tailEnd type="none" w="med" len="med"/>
                    </a:lnR>
                    <a:lnT w="6350" cap="flat" cmpd="sng" algn="ctr">
                      <a:solidFill>
                        <a:srgbClr val="D9E3EE"/>
                      </a:solidFill>
                      <a:prstDash val="solid"/>
                      <a:round/>
                      <a:headEnd type="none" w="med" len="med"/>
                      <a:tailEnd type="none" w="med" len="med"/>
                    </a:lnT>
                    <a:lnB w="6350" cap="flat" cmpd="sng" algn="ctr">
                      <a:solidFill>
                        <a:srgbClr val="D9E3EE"/>
                      </a:solidFill>
                      <a:prstDash val="solid"/>
                      <a:round/>
                      <a:headEnd type="none" w="med" len="med"/>
                      <a:tailEnd type="none" w="med" len="med"/>
                    </a:lnB>
                    <a:solidFill>
                      <a:srgbClr val="FFFFFF"/>
                    </a:solidFill>
                  </a:tcPr>
                </a:tc>
                <a:tc>
                  <a:txBody>
                    <a:bodyPr/>
                    <a:lstStyle/>
                    <a:p>
                      <a:pPr marL="0" indent="0">
                        <a:buNone/>
                      </a:pPr>
                      <a:r>
                        <a:rPr lang="en-US" sz="1200" dirty="0">
                          <a:solidFill>
                            <a:srgbClr val="243B53"/>
                          </a:solidFill>
                          <a:latin typeface="Times New Roman" panose="02020603050405020304" pitchFamily="18" charset="0"/>
                          <a:ea typeface="Aptos" pitchFamily="34" charset="-122"/>
                          <a:cs typeface="Times New Roman" panose="02020603050405020304" pitchFamily="18" charset="0"/>
                        </a:rPr>
                        <a:t>Tích hợp FE → BE → AI → DB • kiểm thử • báo cáo • slide</a:t>
                      </a:r>
                      <a:endParaRPr lang="en-US" sz="1200" dirty="0">
                        <a:latin typeface="Times New Roman" panose="02020603050405020304" pitchFamily="18" charset="0"/>
                        <a:ea typeface="Aptos" charset="0"/>
                        <a:cs typeface="Times New Roman" panose="02020603050405020304" pitchFamily="18" charset="0"/>
                      </a:endParaRPr>
                    </a:p>
                  </a:txBody>
                  <a:tcPr marL="32004" marR="32004" marT="32004" marB="32004">
                    <a:lnL w="6350" cap="flat" cmpd="sng" algn="ctr">
                      <a:solidFill>
                        <a:srgbClr val="D9E3EE"/>
                      </a:solidFill>
                      <a:prstDash val="solid"/>
                      <a:round/>
                      <a:headEnd type="none" w="med" len="med"/>
                      <a:tailEnd type="none" w="med" len="med"/>
                    </a:lnL>
                    <a:lnR w="6350" cap="flat" cmpd="sng" algn="ctr">
                      <a:solidFill>
                        <a:srgbClr val="D9E3EE"/>
                      </a:solidFill>
                      <a:prstDash val="solid"/>
                      <a:round/>
                      <a:headEnd type="none" w="med" len="med"/>
                      <a:tailEnd type="none" w="med" len="med"/>
                    </a:lnR>
                    <a:lnT w="6350" cap="flat" cmpd="sng" algn="ctr">
                      <a:solidFill>
                        <a:srgbClr val="D9E3EE"/>
                      </a:solidFill>
                      <a:prstDash val="solid"/>
                      <a:round/>
                      <a:headEnd type="none" w="med" len="med"/>
                      <a:tailEnd type="none" w="med" len="med"/>
                    </a:lnT>
                    <a:lnB w="6350" cap="flat" cmpd="sng" algn="ctr">
                      <a:solidFill>
                        <a:srgbClr val="D9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latin typeface="Times New Roman" panose="02020603050405020304" pitchFamily="18" charset="0"/>
                <a:cs typeface="Times New Roman" panose="02020603050405020304" pitchFamily="18" charset="0"/>
              </a:rPr>
              <a:t>18</a:t>
            </a:fld>
            <a:endParaRPr lang="en-US">
              <a:latin typeface="Times New Roman" panose="02020603050405020304" pitchFamily="18" charset="0"/>
              <a:cs typeface="Times New Roman" panose="02020603050405020304" pitchFamily="18" charset="0"/>
            </a:endParaRPr>
          </a:p>
        </p:txBody>
      </p:sp>
      <p:sp>
        <p:nvSpPr>
          <p:cNvPr id="20"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21792" y="658368"/>
            <a:ext cx="420624" cy="320040"/>
          </a:xfrm>
          <a:prstGeom prst="rect">
            <a:avLst/>
          </a:prstGeom>
          <a:solidFill>
            <a:srgbClr val="2457D6"/>
          </a:solidFill>
          <a:ln>
            <a:solidFill>
              <a:srgbClr val="2457D6"/>
            </a:solidFill>
          </a:ln>
        </p:spPr>
        <p:txBody>
          <a:bodyPr wrap="square" lIns="0" tIns="0" rIns="0" bIns="0" rtlCol="0" anchor="ctr"/>
          <a:lstStyle/>
          <a:p>
            <a:pPr marL="0" indent="0" algn="ctr">
              <a:buNone/>
            </a:pPr>
            <a:r>
              <a:rPr lang="en-US" sz="1200" b="1" dirty="0">
                <a:solidFill>
                  <a:srgbClr val="FFFFFF"/>
                </a:solidFill>
              </a:rPr>
              <a:t>16</a:t>
            </a:r>
            <a:endParaRPr lang="en-US" sz="1200" dirty="0"/>
          </a:p>
        </p:txBody>
      </p:sp>
      <p:sp>
        <p:nvSpPr>
          <p:cNvPr id="3" name="Text 1"/>
          <p:cNvSpPr/>
          <p:nvPr/>
        </p:nvSpPr>
        <p:spPr>
          <a:xfrm>
            <a:off x="1170432" y="566928"/>
            <a:ext cx="10104120" cy="512064"/>
          </a:xfrm>
          <a:prstGeom prst="rect">
            <a:avLst/>
          </a:prstGeom>
          <a:noFill/>
          <a:ln/>
        </p:spPr>
        <p:txBody>
          <a:bodyPr wrap="square" lIns="0" tIns="0" rIns="0" bIns="0" rtlCol="0" anchor="ctr">
            <a:normAutofit/>
          </a:bodyPr>
          <a:lstStyle/>
          <a:p>
            <a:pPr marL="0" indent="0">
              <a:buNone/>
            </a:pPr>
            <a:r>
              <a:rPr lang="en-US" sz="2500" b="1" dirty="0">
                <a:solidFill>
                  <a:srgbClr val="102A43"/>
                </a:solidFill>
              </a:rPr>
              <a:t>Tài liệu tham khảo &amp; hướng dẫn vận hành</a:t>
            </a:r>
            <a:endParaRPr lang="en-US" sz="2500" dirty="0"/>
          </a:p>
        </p:txBody>
      </p:sp>
      <p:sp>
        <p:nvSpPr>
          <p:cNvPr id="4" name="Text 2"/>
          <p:cNvSpPr/>
          <p:nvPr/>
        </p:nvSpPr>
        <p:spPr>
          <a:xfrm>
            <a:off x="1179576" y="1078992"/>
            <a:ext cx="10058400" cy="310896"/>
          </a:xfrm>
          <a:prstGeom prst="rect">
            <a:avLst/>
          </a:prstGeom>
          <a:noFill/>
          <a:ln/>
        </p:spPr>
        <p:txBody>
          <a:bodyPr wrap="square" lIns="0" tIns="0" rIns="0" bIns="0" rtlCol="0" anchor="ctr">
            <a:normAutofit/>
          </a:bodyPr>
          <a:lstStyle/>
          <a:p>
            <a:pPr marL="0" indent="0">
              <a:buNone/>
            </a:pPr>
            <a:r>
              <a:rPr lang="en-US" sz="1080" dirty="0">
                <a:solidFill>
                  <a:srgbClr val="63758A"/>
                </a:solidFill>
              </a:rPr>
              <a:t>Slide cuối dùng cho kiểm tra nhanh nguồn tham khảo, cách chạy dự án và Q&amp;A</a:t>
            </a:r>
            <a:endParaRPr lang="en-US" sz="1080" dirty="0"/>
          </a:p>
        </p:txBody>
      </p:sp>
      <p:sp>
        <p:nvSpPr>
          <p:cNvPr id="5" name="Shape 3"/>
          <p:cNvSpPr/>
          <p:nvPr/>
        </p:nvSpPr>
        <p:spPr>
          <a:xfrm>
            <a:off x="658368" y="1572768"/>
            <a:ext cx="5705856" cy="4498848"/>
          </a:xfrm>
          <a:prstGeom prst="roundRect">
            <a:avLst>
              <a:gd name="adj" fmla="val 2439"/>
            </a:avLst>
          </a:prstGeom>
          <a:solidFill>
            <a:srgbClr val="FFFFFF"/>
          </a:solidFill>
          <a:ln w="10160">
            <a:solidFill>
              <a:srgbClr val="D9E3EE"/>
            </a:solidFill>
            <a:prstDash val="solid"/>
          </a:ln>
          <a:effectLst>
            <a:outerShdw algn="bl" rotWithShape="0">
              <a:srgbClr val="000000">
                <a:alpha val="0"/>
              </a:srgbClr>
            </a:outerShdw>
          </a:effectLst>
        </p:spPr>
      </p:sp>
      <p:sp>
        <p:nvSpPr>
          <p:cNvPr id="6" name="Shape 4"/>
          <p:cNvSpPr/>
          <p:nvPr/>
        </p:nvSpPr>
        <p:spPr>
          <a:xfrm>
            <a:off x="914400" y="1856232"/>
            <a:ext cx="1828800" cy="310896"/>
          </a:xfrm>
          <a:prstGeom prst="roundRect">
            <a:avLst/>
          </a:prstGeom>
          <a:solidFill>
            <a:srgbClr val="EDF4FF"/>
          </a:solidFill>
          <a:ln w="12700">
            <a:solidFill>
              <a:srgbClr val="EDF4FF"/>
            </a:solidFill>
            <a:prstDash val="solid"/>
          </a:ln>
        </p:spPr>
      </p:sp>
      <p:sp>
        <p:nvSpPr>
          <p:cNvPr id="7" name="Text 5"/>
          <p:cNvSpPr/>
          <p:nvPr/>
        </p:nvSpPr>
        <p:spPr>
          <a:xfrm>
            <a:off x="914400" y="1883664"/>
            <a:ext cx="1828800" cy="246888"/>
          </a:xfrm>
          <a:prstGeom prst="rect">
            <a:avLst/>
          </a:prstGeom>
          <a:noFill/>
          <a:ln/>
        </p:spPr>
        <p:txBody>
          <a:bodyPr wrap="square" lIns="0" tIns="0" rIns="0" bIns="0" rtlCol="0" anchor="ctr">
            <a:normAutofit/>
          </a:bodyPr>
          <a:lstStyle/>
          <a:p>
            <a:pPr marL="0" indent="0" algn="ctr">
              <a:buNone/>
            </a:pPr>
            <a:r>
              <a:rPr lang="en-US" sz="900" b="1" dirty="0">
                <a:solidFill>
                  <a:srgbClr val="2457D6"/>
                </a:solidFill>
                <a:latin typeface="Aptos" pitchFamily="34" charset="0"/>
                <a:ea typeface="Aptos" pitchFamily="34" charset="-122"/>
                <a:cs typeface="Aptos" pitchFamily="34" charset="-120"/>
              </a:rPr>
              <a:t>TÀI LIỆU THAM KHẢO</a:t>
            </a:r>
            <a:endParaRPr lang="en-US" sz="900" dirty="0"/>
          </a:p>
        </p:txBody>
      </p:sp>
      <p:sp>
        <p:nvSpPr>
          <p:cNvPr id="8" name="Text 6"/>
          <p:cNvSpPr/>
          <p:nvPr/>
        </p:nvSpPr>
        <p:spPr>
          <a:xfrm>
            <a:off x="914400" y="2359152"/>
            <a:ext cx="5102352" cy="3236976"/>
          </a:xfrm>
          <a:prstGeom prst="rect">
            <a:avLst/>
          </a:prstGeom>
          <a:noFill/>
          <a:ln/>
        </p:spPr>
        <p:txBody>
          <a:bodyPr wrap="square" lIns="0" tIns="0" rIns="0" bIns="0" rtlCol="0" anchor="ctr">
            <a:normAutofit/>
          </a:bodyPr>
          <a:lstStyle/>
          <a:p>
            <a:pPr marL="0" indent="0">
              <a:buNone/>
            </a:pPr>
            <a:r>
              <a:rPr lang="en-US" sz="1020" b="1" dirty="0">
                <a:solidFill>
                  <a:srgbClr val="2457D6"/>
                </a:solidFill>
                <a:latin typeface="Aptos" pitchFamily="34" charset="0"/>
                <a:ea typeface="Aptos" pitchFamily="34" charset="-122"/>
                <a:cs typeface="Aptos" pitchFamily="34" charset="-120"/>
              </a:rPr>
              <a:t>• </a:t>
            </a:r>
            <a:r>
              <a:rPr lang="en-US" sz="1020" dirty="0">
                <a:solidFill>
                  <a:srgbClr val="243B53"/>
                </a:solidFill>
                <a:latin typeface="Aptos" pitchFamily="34" charset="0"/>
                <a:ea typeface="Aptos" pitchFamily="34" charset="-122"/>
                <a:cs typeface="Aptos" pitchFamily="34" charset="-120"/>
              </a:rPr>
              <a:t>[1] Khoa CNTT, Trường ĐH Công nghệ Kỹ thuật Hưng Yên (2022). Đề cương bài giảng Học máy cơ bản.</a:t>
            </a:r>
            <a:r>
              <a:rPr lang="en-US" sz="1020" dirty="0">
                <a:solidFill>
                  <a:srgbClr val="000000"/>
                </a:solidFill>
                <a:latin typeface="Aptos" pitchFamily="34" charset="0"/>
                <a:ea typeface="Aptos" pitchFamily="34" charset="-122"/>
                <a:cs typeface="Aptos" pitchFamily="34" charset="-120"/>
              </a:rPr>
              <a:t>
</a:t>
            </a:r>
            <a:endParaRPr lang="en-US" sz="1020" dirty="0"/>
          </a:p>
          <a:p>
            <a:pPr marL="0" indent="0">
              <a:buNone/>
            </a:pPr>
            <a:r>
              <a:rPr lang="en-US" sz="1020" b="1" dirty="0">
                <a:solidFill>
                  <a:srgbClr val="2457D6"/>
                </a:solidFill>
                <a:latin typeface="Aptos" pitchFamily="34" charset="0"/>
                <a:ea typeface="Aptos" pitchFamily="34" charset="-122"/>
                <a:cs typeface="Aptos" pitchFamily="34" charset="-120"/>
              </a:rPr>
              <a:t>• </a:t>
            </a:r>
            <a:r>
              <a:rPr lang="en-US" sz="1020" dirty="0">
                <a:solidFill>
                  <a:srgbClr val="243B53"/>
                </a:solidFill>
                <a:latin typeface="Aptos" pitchFamily="34" charset="0"/>
                <a:ea typeface="Aptos" pitchFamily="34" charset="-122"/>
                <a:cs typeface="Aptos" pitchFamily="34" charset="-120"/>
              </a:rPr>
              <a:t>[2] Cambridge Core — Logistic Regression in Rare Events Data.</a:t>
            </a:r>
            <a:r>
              <a:rPr lang="en-US" sz="1020" dirty="0">
                <a:solidFill>
                  <a:srgbClr val="000000"/>
                </a:solidFill>
                <a:latin typeface="Aptos" pitchFamily="34" charset="0"/>
                <a:ea typeface="Aptos" pitchFamily="34" charset="-122"/>
                <a:cs typeface="Aptos" pitchFamily="34" charset="-120"/>
              </a:rPr>
              <a:t>
</a:t>
            </a:r>
            <a:endParaRPr lang="en-US" sz="1020" dirty="0"/>
          </a:p>
          <a:p>
            <a:pPr marL="0" indent="0">
              <a:buNone/>
            </a:pPr>
            <a:r>
              <a:rPr lang="en-US" sz="1020" b="1" dirty="0">
                <a:solidFill>
                  <a:srgbClr val="2457D6"/>
                </a:solidFill>
                <a:latin typeface="Aptos" pitchFamily="34" charset="0"/>
                <a:ea typeface="Aptos" pitchFamily="34" charset="-122"/>
                <a:cs typeface="Aptos" pitchFamily="34" charset="-120"/>
              </a:rPr>
              <a:t>• </a:t>
            </a:r>
            <a:r>
              <a:rPr lang="en-US" sz="1020" dirty="0">
                <a:solidFill>
                  <a:srgbClr val="243B53"/>
                </a:solidFill>
                <a:latin typeface="Aptos" pitchFamily="34" charset="0"/>
                <a:ea typeface="Aptos" pitchFamily="34" charset="-122"/>
                <a:cs typeface="Aptos" pitchFamily="34" charset="-120"/>
              </a:rPr>
              <a:t>[3] ScienceDirect — Expert Systems with Applications article (PII S0957417419305573).</a:t>
            </a:r>
            <a:r>
              <a:rPr lang="en-US" sz="1020" dirty="0">
                <a:solidFill>
                  <a:srgbClr val="000000"/>
                </a:solidFill>
                <a:latin typeface="Aptos" pitchFamily="34" charset="0"/>
                <a:ea typeface="Aptos" pitchFamily="34" charset="-122"/>
                <a:cs typeface="Aptos" pitchFamily="34" charset="-120"/>
              </a:rPr>
              <a:t>
</a:t>
            </a:r>
            <a:endParaRPr lang="en-US" sz="1020" dirty="0"/>
          </a:p>
          <a:p>
            <a:pPr marL="0" indent="0">
              <a:buNone/>
            </a:pPr>
            <a:r>
              <a:rPr lang="en-US" sz="1020" b="1" dirty="0">
                <a:solidFill>
                  <a:srgbClr val="2457D6"/>
                </a:solidFill>
                <a:latin typeface="Aptos" pitchFamily="34" charset="0"/>
                <a:ea typeface="Aptos" pitchFamily="34" charset="-122"/>
                <a:cs typeface="Aptos" pitchFamily="34" charset="-120"/>
              </a:rPr>
              <a:t>• </a:t>
            </a:r>
            <a:r>
              <a:rPr lang="en-US" sz="1020" dirty="0">
                <a:solidFill>
                  <a:srgbClr val="243B53"/>
                </a:solidFill>
                <a:latin typeface="Aptos" pitchFamily="34" charset="0"/>
                <a:ea typeface="Aptos" pitchFamily="34" charset="-122"/>
                <a:cs typeface="Aptos" pitchFamily="34" charset="-120"/>
              </a:rPr>
              <a:t>[4] Berkeley Statistics — Technical Report 666.</a:t>
            </a:r>
            <a:r>
              <a:rPr lang="en-US" sz="1020" dirty="0">
                <a:solidFill>
                  <a:srgbClr val="000000"/>
                </a:solidFill>
                <a:latin typeface="Aptos" pitchFamily="34" charset="0"/>
                <a:ea typeface="Aptos" pitchFamily="34" charset="-122"/>
                <a:cs typeface="Aptos" pitchFamily="34" charset="-120"/>
              </a:rPr>
              <a:t>
</a:t>
            </a:r>
            <a:endParaRPr lang="en-US" sz="1020" dirty="0"/>
          </a:p>
          <a:p>
            <a:pPr marL="0" indent="0">
              <a:buNone/>
            </a:pPr>
            <a:r>
              <a:rPr lang="en-US" sz="1020" b="1" dirty="0">
                <a:solidFill>
                  <a:srgbClr val="2457D6"/>
                </a:solidFill>
                <a:latin typeface="Aptos" pitchFamily="34" charset="0"/>
                <a:ea typeface="Aptos" pitchFamily="34" charset="-122"/>
                <a:cs typeface="Aptos" pitchFamily="34" charset="-120"/>
              </a:rPr>
              <a:t>• </a:t>
            </a:r>
            <a:r>
              <a:rPr lang="en-US" sz="1020" dirty="0">
                <a:solidFill>
                  <a:srgbClr val="243B53"/>
                </a:solidFill>
                <a:latin typeface="Aptos" pitchFamily="34" charset="0"/>
                <a:ea typeface="Aptos" pitchFamily="34" charset="-122"/>
                <a:cs typeface="Aptos" pitchFamily="34" charset="-120"/>
              </a:rPr>
              <a:t>[5] Masters in Data Science — Undersampling.</a:t>
            </a:r>
            <a:r>
              <a:rPr lang="en-US" sz="1020" dirty="0">
                <a:solidFill>
                  <a:srgbClr val="000000"/>
                </a:solidFill>
                <a:latin typeface="Aptos" pitchFamily="34" charset="0"/>
                <a:ea typeface="Aptos" pitchFamily="34" charset="-122"/>
                <a:cs typeface="Aptos" pitchFamily="34" charset="-120"/>
              </a:rPr>
              <a:t>
</a:t>
            </a:r>
            <a:endParaRPr lang="en-US" sz="1020" dirty="0"/>
          </a:p>
          <a:p>
            <a:pPr marL="0" indent="0">
              <a:buNone/>
            </a:pPr>
            <a:r>
              <a:rPr lang="en-US" sz="1020" b="1" dirty="0">
                <a:solidFill>
                  <a:srgbClr val="2457D6"/>
                </a:solidFill>
                <a:latin typeface="Aptos" pitchFamily="34" charset="0"/>
                <a:ea typeface="Aptos" pitchFamily="34" charset="-122"/>
                <a:cs typeface="Aptos" pitchFamily="34" charset="-120"/>
              </a:rPr>
              <a:t>• </a:t>
            </a:r>
            <a:r>
              <a:rPr lang="en-US" sz="1020" dirty="0">
                <a:solidFill>
                  <a:srgbClr val="243B53"/>
                </a:solidFill>
                <a:latin typeface="Aptos" pitchFamily="34" charset="0"/>
                <a:ea typeface="Aptos" pitchFamily="34" charset="-122"/>
                <a:cs typeface="Aptos" pitchFamily="34" charset="-120"/>
              </a:rPr>
              <a:t>[6] YouTube — tài liệu tham khảo video trong báo cáo.</a:t>
            </a:r>
            <a:r>
              <a:rPr lang="en-US" sz="1020" dirty="0">
                <a:solidFill>
                  <a:srgbClr val="000000"/>
                </a:solidFill>
                <a:latin typeface="Aptos" pitchFamily="34" charset="0"/>
                <a:ea typeface="Aptos" pitchFamily="34" charset="-122"/>
                <a:cs typeface="Aptos" pitchFamily="34" charset="-120"/>
              </a:rPr>
              <a:t>
</a:t>
            </a:r>
            <a:endParaRPr lang="en-US" sz="1020" dirty="0"/>
          </a:p>
          <a:p>
            <a:pPr marL="0" indent="0">
              <a:buNone/>
            </a:pPr>
            <a:r>
              <a:rPr lang="en-US" sz="1020" b="1" dirty="0">
                <a:solidFill>
                  <a:srgbClr val="2457D6"/>
                </a:solidFill>
                <a:latin typeface="Aptos" pitchFamily="34" charset="0"/>
                <a:ea typeface="Aptos" pitchFamily="34" charset="-122"/>
                <a:cs typeface="Aptos" pitchFamily="34" charset="-120"/>
              </a:rPr>
              <a:t>• </a:t>
            </a:r>
            <a:r>
              <a:rPr lang="en-US" sz="1020" dirty="0">
                <a:solidFill>
                  <a:srgbClr val="243B53"/>
                </a:solidFill>
                <a:latin typeface="Aptos" pitchFamily="34" charset="0"/>
                <a:ea typeface="Aptos" pitchFamily="34" charset="-122"/>
                <a:cs typeface="Aptos" pitchFamily="34" charset="-120"/>
              </a:rPr>
              <a:t>[7] MachineLearningCoban — Giới thiệu Machine Learning.</a:t>
            </a:r>
            <a:endParaRPr lang="en-US" sz="1020" dirty="0"/>
          </a:p>
        </p:txBody>
      </p:sp>
      <p:sp>
        <p:nvSpPr>
          <p:cNvPr id="9" name="Shape 7"/>
          <p:cNvSpPr/>
          <p:nvPr/>
        </p:nvSpPr>
        <p:spPr>
          <a:xfrm>
            <a:off x="6601968" y="1572768"/>
            <a:ext cx="4946904" cy="4498848"/>
          </a:xfrm>
          <a:prstGeom prst="roundRect">
            <a:avLst>
              <a:gd name="adj" fmla="val 2439"/>
            </a:avLst>
          </a:prstGeom>
          <a:solidFill>
            <a:srgbClr val="FCFDFE"/>
          </a:solidFill>
          <a:ln w="10160">
            <a:solidFill>
              <a:srgbClr val="D9E3EE"/>
            </a:solidFill>
            <a:prstDash val="solid"/>
          </a:ln>
          <a:effectLst>
            <a:outerShdw algn="bl" rotWithShape="0">
              <a:srgbClr val="000000">
                <a:alpha val="0"/>
              </a:srgbClr>
            </a:outerShdw>
          </a:effectLst>
        </p:spPr>
      </p:sp>
      <p:sp>
        <p:nvSpPr>
          <p:cNvPr id="10" name="Shape 8"/>
          <p:cNvSpPr/>
          <p:nvPr/>
        </p:nvSpPr>
        <p:spPr>
          <a:xfrm>
            <a:off x="6858000" y="1856232"/>
            <a:ext cx="1572768" cy="310896"/>
          </a:xfrm>
          <a:prstGeom prst="roundRect">
            <a:avLst/>
          </a:prstGeom>
          <a:solidFill>
            <a:srgbClr val="EAF8F7"/>
          </a:solidFill>
          <a:ln w="12700">
            <a:solidFill>
              <a:srgbClr val="EAF8F7"/>
            </a:solidFill>
            <a:prstDash val="solid"/>
          </a:ln>
        </p:spPr>
      </p:sp>
      <p:sp>
        <p:nvSpPr>
          <p:cNvPr id="11" name="Text 9"/>
          <p:cNvSpPr/>
          <p:nvPr/>
        </p:nvSpPr>
        <p:spPr>
          <a:xfrm>
            <a:off x="6858000" y="1883664"/>
            <a:ext cx="1572768" cy="246888"/>
          </a:xfrm>
          <a:prstGeom prst="rect">
            <a:avLst/>
          </a:prstGeom>
          <a:noFill/>
          <a:ln/>
        </p:spPr>
        <p:txBody>
          <a:bodyPr wrap="square" lIns="0" tIns="0" rIns="0" bIns="0" rtlCol="0" anchor="ctr">
            <a:normAutofit/>
          </a:bodyPr>
          <a:lstStyle/>
          <a:p>
            <a:pPr marL="0" indent="0" algn="ctr">
              <a:buNone/>
            </a:pPr>
            <a:r>
              <a:rPr lang="en-US" sz="900" b="1" dirty="0">
                <a:solidFill>
                  <a:srgbClr val="0E9F9A"/>
                </a:solidFill>
                <a:latin typeface="Aptos" pitchFamily="34" charset="0"/>
                <a:ea typeface="Aptos" pitchFamily="34" charset="-122"/>
                <a:cs typeface="Aptos" pitchFamily="34" charset="-120"/>
              </a:rPr>
              <a:t>HƯỚNG VẬN HÀNH</a:t>
            </a:r>
            <a:endParaRPr lang="en-US" sz="900" dirty="0"/>
          </a:p>
        </p:txBody>
      </p:sp>
      <p:sp>
        <p:nvSpPr>
          <p:cNvPr id="12" name="Text 10"/>
          <p:cNvSpPr/>
          <p:nvPr/>
        </p:nvSpPr>
        <p:spPr>
          <a:xfrm>
            <a:off x="6858000" y="2377440"/>
            <a:ext cx="1828800" cy="219456"/>
          </a:xfrm>
          <a:prstGeom prst="rect">
            <a:avLst/>
          </a:prstGeom>
          <a:noFill/>
          <a:ln/>
        </p:spPr>
        <p:txBody>
          <a:bodyPr wrap="square" lIns="0" tIns="0" rIns="0" bIns="0" rtlCol="0" anchor="t">
            <a:normAutofit/>
          </a:bodyPr>
          <a:lstStyle/>
          <a:p>
            <a:pPr marL="0" indent="0" algn="l">
              <a:buNone/>
            </a:pPr>
            <a:r>
              <a:rPr lang="en-US" sz="1100" b="1" dirty="0">
                <a:solidFill>
                  <a:srgbClr val="102A43"/>
                </a:solidFill>
                <a:latin typeface="Aptos" pitchFamily="34" charset="0"/>
                <a:ea typeface="Aptos" pitchFamily="34" charset="-122"/>
                <a:cs typeface="Aptos" pitchFamily="34" charset="-120"/>
              </a:rPr>
              <a:t>1  Chuẩn bị môi trường</a:t>
            </a:r>
            <a:endParaRPr lang="en-US" sz="1100" dirty="0"/>
          </a:p>
        </p:txBody>
      </p:sp>
      <p:sp>
        <p:nvSpPr>
          <p:cNvPr id="13" name="Text 11"/>
          <p:cNvSpPr/>
          <p:nvPr/>
        </p:nvSpPr>
        <p:spPr>
          <a:xfrm>
            <a:off x="6858000" y="2670048"/>
            <a:ext cx="3977640" cy="292608"/>
          </a:xfrm>
          <a:prstGeom prst="rect">
            <a:avLst/>
          </a:prstGeom>
          <a:noFill/>
          <a:ln/>
        </p:spPr>
        <p:txBody>
          <a:bodyPr wrap="square" lIns="0" tIns="0" rIns="0" bIns="0" rtlCol="0" anchor="t">
            <a:normAutofit/>
          </a:bodyPr>
          <a:lstStyle/>
          <a:p>
            <a:pPr marL="0" indent="0" algn="l">
              <a:buNone/>
            </a:pPr>
            <a:r>
              <a:rPr lang="en-US" sz="1030" dirty="0">
                <a:solidFill>
                  <a:srgbClr val="63758A"/>
                </a:solidFill>
                <a:latin typeface="Aptos" pitchFamily="34" charset="0"/>
                <a:ea typeface="Aptos" pitchFamily="34" charset="-122"/>
                <a:cs typeface="Aptos" pitchFamily="34" charset="-120"/>
              </a:rPr>
              <a:t>Docker Desktop / Docker Engine + Docker Compose.</a:t>
            </a:r>
            <a:endParaRPr lang="en-US" sz="1030" dirty="0"/>
          </a:p>
        </p:txBody>
      </p:sp>
      <p:sp>
        <p:nvSpPr>
          <p:cNvPr id="14" name="Text 12"/>
          <p:cNvSpPr/>
          <p:nvPr/>
        </p:nvSpPr>
        <p:spPr>
          <a:xfrm>
            <a:off x="6858000" y="3182112"/>
            <a:ext cx="2286000" cy="219456"/>
          </a:xfrm>
          <a:prstGeom prst="rect">
            <a:avLst/>
          </a:prstGeom>
          <a:noFill/>
          <a:ln/>
        </p:spPr>
        <p:txBody>
          <a:bodyPr wrap="square" lIns="0" tIns="0" rIns="0" bIns="0" rtlCol="0" anchor="t">
            <a:normAutofit/>
          </a:bodyPr>
          <a:lstStyle/>
          <a:p>
            <a:pPr marL="0" indent="0" algn="l">
              <a:buNone/>
            </a:pPr>
            <a:r>
              <a:rPr lang="en-US" sz="1100" b="1" dirty="0">
                <a:solidFill>
                  <a:srgbClr val="102A43"/>
                </a:solidFill>
                <a:latin typeface="Aptos" pitchFamily="34" charset="0"/>
                <a:ea typeface="Aptos" pitchFamily="34" charset="-122"/>
                <a:cs typeface="Aptos" pitchFamily="34" charset="-120"/>
              </a:rPr>
              <a:t>2  Khởi động toàn bộ hệ thống</a:t>
            </a:r>
            <a:endParaRPr lang="en-US" sz="1100" dirty="0"/>
          </a:p>
        </p:txBody>
      </p:sp>
      <p:sp>
        <p:nvSpPr>
          <p:cNvPr id="15" name="Shape 13"/>
          <p:cNvSpPr/>
          <p:nvPr/>
        </p:nvSpPr>
        <p:spPr>
          <a:xfrm>
            <a:off x="6858000" y="3493008"/>
            <a:ext cx="4069080" cy="457200"/>
          </a:xfrm>
          <a:prstGeom prst="roundRect">
            <a:avLst>
              <a:gd name="adj" fmla="val 10000"/>
            </a:avLst>
          </a:prstGeom>
          <a:solidFill>
            <a:srgbClr val="102A43"/>
          </a:solidFill>
          <a:ln w="10160">
            <a:solidFill>
              <a:srgbClr val="102A43"/>
            </a:solidFill>
            <a:prstDash val="solid"/>
          </a:ln>
        </p:spPr>
      </p:sp>
      <p:sp>
        <p:nvSpPr>
          <p:cNvPr id="16" name="Text 14"/>
          <p:cNvSpPr/>
          <p:nvPr/>
        </p:nvSpPr>
        <p:spPr>
          <a:xfrm>
            <a:off x="7068312" y="3611880"/>
            <a:ext cx="3657600" cy="182880"/>
          </a:xfrm>
          <a:prstGeom prst="rect">
            <a:avLst/>
          </a:prstGeom>
          <a:noFill/>
          <a:ln/>
        </p:spPr>
        <p:txBody>
          <a:bodyPr wrap="square" lIns="0" tIns="0" rIns="0" bIns="0" rtlCol="0" anchor="t">
            <a:normAutofit/>
          </a:bodyPr>
          <a:lstStyle/>
          <a:p>
            <a:pPr marL="0" indent="0" algn="l">
              <a:buNone/>
            </a:pPr>
            <a:r>
              <a:rPr lang="en-US" sz="1050" b="1" dirty="0">
                <a:solidFill>
                  <a:srgbClr val="FFFFFF"/>
                </a:solidFill>
                <a:latin typeface="Aptos Mono" pitchFamily="34" charset="0"/>
                <a:ea typeface="Aptos Mono" pitchFamily="34" charset="-122"/>
                <a:cs typeface="Aptos Mono" pitchFamily="34" charset="-120"/>
              </a:rPr>
              <a:t>docker compose up --build</a:t>
            </a:r>
            <a:endParaRPr lang="en-US" sz="1050" dirty="0"/>
          </a:p>
        </p:txBody>
      </p:sp>
      <p:sp>
        <p:nvSpPr>
          <p:cNvPr id="17" name="Text 15"/>
          <p:cNvSpPr/>
          <p:nvPr/>
        </p:nvSpPr>
        <p:spPr>
          <a:xfrm>
            <a:off x="6858000" y="4160520"/>
            <a:ext cx="1828800" cy="219456"/>
          </a:xfrm>
          <a:prstGeom prst="rect">
            <a:avLst/>
          </a:prstGeom>
          <a:noFill/>
          <a:ln/>
        </p:spPr>
        <p:txBody>
          <a:bodyPr wrap="square" lIns="0" tIns="0" rIns="0" bIns="0" rtlCol="0" anchor="t">
            <a:normAutofit/>
          </a:bodyPr>
          <a:lstStyle/>
          <a:p>
            <a:pPr marL="0" indent="0" algn="l">
              <a:buNone/>
            </a:pPr>
            <a:r>
              <a:rPr lang="en-US" sz="1100" b="1" dirty="0">
                <a:solidFill>
                  <a:srgbClr val="102A43"/>
                </a:solidFill>
                <a:latin typeface="Aptos" pitchFamily="34" charset="0"/>
                <a:ea typeface="Aptos" pitchFamily="34" charset="-122"/>
                <a:cs typeface="Aptos" pitchFamily="34" charset="-120"/>
              </a:rPr>
              <a:t>3  Truy cập dịch vụ</a:t>
            </a:r>
            <a:endParaRPr lang="en-US" sz="1100" dirty="0"/>
          </a:p>
        </p:txBody>
      </p:sp>
      <p:sp>
        <p:nvSpPr>
          <p:cNvPr id="18" name="Text 16"/>
          <p:cNvSpPr/>
          <p:nvPr/>
        </p:nvSpPr>
        <p:spPr>
          <a:xfrm>
            <a:off x="6858000" y="4462272"/>
            <a:ext cx="3657600" cy="841248"/>
          </a:xfrm>
          <a:prstGeom prst="rect">
            <a:avLst/>
          </a:prstGeom>
          <a:noFill/>
          <a:ln/>
        </p:spPr>
        <p:txBody>
          <a:bodyPr wrap="square" lIns="0" tIns="0" rIns="0" bIns="0" rtlCol="0" anchor="t">
            <a:normAutofit fontScale="92500" lnSpcReduction="20000"/>
          </a:bodyPr>
          <a:lstStyle/>
          <a:p>
            <a:pPr marL="0" indent="0" algn="l">
              <a:lnSpc>
                <a:spcPct val="150000"/>
              </a:lnSpc>
              <a:buNone/>
            </a:pPr>
            <a:r>
              <a:rPr lang="en-US" sz="1100" dirty="0">
                <a:solidFill>
                  <a:srgbClr val="243B53"/>
                </a:solidFill>
                <a:latin typeface="Times New Roman" panose="02020603050405020304" pitchFamily="18" charset="0"/>
                <a:ea typeface="Aptos Mono" pitchFamily="34" charset="-122"/>
                <a:cs typeface="Times New Roman" panose="02020603050405020304" pitchFamily="18" charset="0"/>
              </a:rPr>
              <a:t>Frontend: http://localhost:3000</a:t>
            </a:r>
            <a:endParaRPr lang="en-US" sz="1100" dirty="0">
              <a:latin typeface="Times New Roman" panose="02020603050405020304" pitchFamily="18" charset="0"/>
              <a:cs typeface="Times New Roman" panose="02020603050405020304" pitchFamily="18" charset="0"/>
            </a:endParaRPr>
          </a:p>
          <a:p>
            <a:pPr marL="0" indent="0" algn="l">
              <a:lnSpc>
                <a:spcPct val="150000"/>
              </a:lnSpc>
              <a:buNone/>
            </a:pPr>
            <a:r>
              <a:rPr lang="en-US" sz="1100" dirty="0">
                <a:solidFill>
                  <a:srgbClr val="243B53"/>
                </a:solidFill>
                <a:latin typeface="Times New Roman" panose="02020603050405020304" pitchFamily="18" charset="0"/>
                <a:ea typeface="Aptos Mono" pitchFamily="34" charset="-122"/>
                <a:cs typeface="Times New Roman" panose="02020603050405020304" pitchFamily="18" charset="0"/>
              </a:rPr>
              <a:t>Backend: port 8000</a:t>
            </a:r>
            <a:endParaRPr lang="en-US" sz="1100" dirty="0">
              <a:latin typeface="Times New Roman" panose="02020603050405020304" pitchFamily="18" charset="0"/>
              <a:cs typeface="Times New Roman" panose="02020603050405020304" pitchFamily="18" charset="0"/>
            </a:endParaRPr>
          </a:p>
          <a:p>
            <a:pPr marL="0" indent="0" algn="l">
              <a:lnSpc>
                <a:spcPct val="150000"/>
              </a:lnSpc>
              <a:buNone/>
            </a:pPr>
            <a:r>
              <a:rPr lang="en-US" sz="1100" dirty="0">
                <a:solidFill>
                  <a:srgbClr val="243B53"/>
                </a:solidFill>
                <a:latin typeface="Times New Roman" panose="02020603050405020304" pitchFamily="18" charset="0"/>
                <a:ea typeface="Aptos Mono" pitchFamily="34" charset="-122"/>
                <a:cs typeface="Times New Roman" panose="02020603050405020304" pitchFamily="18" charset="0"/>
              </a:rPr>
              <a:t>AI Service: port 8001</a:t>
            </a:r>
            <a:endParaRPr lang="en-US" sz="1100" dirty="0">
              <a:latin typeface="Times New Roman" panose="02020603050405020304" pitchFamily="18" charset="0"/>
              <a:cs typeface="Times New Roman" panose="02020603050405020304" pitchFamily="18" charset="0"/>
            </a:endParaRPr>
          </a:p>
          <a:p>
            <a:pPr marL="0" indent="0" algn="l">
              <a:lnSpc>
                <a:spcPct val="150000"/>
              </a:lnSpc>
              <a:buNone/>
            </a:pPr>
            <a:r>
              <a:rPr lang="en-US" sz="1100" dirty="0">
                <a:solidFill>
                  <a:srgbClr val="243B53"/>
                </a:solidFill>
                <a:latin typeface="Times New Roman" panose="02020603050405020304" pitchFamily="18" charset="0"/>
                <a:ea typeface="Aptos Mono" pitchFamily="34" charset="-122"/>
                <a:cs typeface="Times New Roman" panose="02020603050405020304" pitchFamily="18" charset="0"/>
              </a:rPr>
              <a:t>MongoDB: 27017 nội bộ</a:t>
            </a:r>
            <a:endParaRPr lang="en-US" sz="1100" dirty="0">
              <a:latin typeface="Times New Roman" panose="02020603050405020304" pitchFamily="18" charset="0"/>
              <a:cs typeface="Times New Roman" panose="02020603050405020304" pitchFamily="18" charset="0"/>
            </a:endParaRPr>
          </a:p>
        </p:txBody>
      </p:sp>
      <p:sp>
        <p:nvSpPr>
          <p:cNvPr id="19" name="Shape 17"/>
          <p:cNvSpPr/>
          <p:nvPr/>
        </p:nvSpPr>
        <p:spPr>
          <a:xfrm>
            <a:off x="6858000" y="5449824"/>
            <a:ext cx="4069080" cy="310896"/>
          </a:xfrm>
          <a:prstGeom prst="roundRect">
            <a:avLst/>
          </a:prstGeom>
          <a:solidFill>
            <a:srgbClr val="EAF8F0"/>
          </a:solidFill>
          <a:ln w="12700">
            <a:solidFill>
              <a:srgbClr val="EAF8F0"/>
            </a:solidFill>
            <a:prstDash val="solid"/>
          </a:ln>
        </p:spPr>
      </p:sp>
      <p:sp>
        <p:nvSpPr>
          <p:cNvPr id="20" name="Text 18"/>
          <p:cNvSpPr/>
          <p:nvPr/>
        </p:nvSpPr>
        <p:spPr>
          <a:xfrm>
            <a:off x="6858000" y="5477256"/>
            <a:ext cx="4069080" cy="246888"/>
          </a:xfrm>
          <a:prstGeom prst="rect">
            <a:avLst/>
          </a:prstGeom>
          <a:noFill/>
          <a:ln/>
        </p:spPr>
        <p:txBody>
          <a:bodyPr wrap="square" lIns="0" tIns="0" rIns="0" bIns="0" rtlCol="0" anchor="ctr">
            <a:normAutofit/>
          </a:bodyPr>
          <a:lstStyle/>
          <a:p>
            <a:pPr marL="0" indent="0" algn="ctr">
              <a:buNone/>
            </a:pPr>
            <a:r>
              <a:rPr lang="en-US" sz="900" b="1" dirty="0">
                <a:solidFill>
                  <a:srgbClr val="1FA971"/>
                </a:solidFill>
                <a:latin typeface="Aptos" pitchFamily="34" charset="0"/>
                <a:ea typeface="Aptos" pitchFamily="34" charset="-122"/>
                <a:cs typeface="Aptos" pitchFamily="34" charset="-120"/>
              </a:rPr>
              <a:t>Health check → HTTP 200 • model_loaded = true</a:t>
            </a:r>
            <a:endParaRPr lang="en-US" sz="900" dirty="0"/>
          </a:p>
        </p:txBody>
      </p:sp>
      <p:sp>
        <p:nvSpPr>
          <p:cNvPr id="21" name="Text 19"/>
          <p:cNvSpPr/>
          <p:nvPr/>
        </p:nvSpPr>
        <p:spPr>
          <a:xfrm>
            <a:off x="676656" y="6208776"/>
            <a:ext cx="10844784" cy="256032"/>
          </a:xfrm>
          <a:prstGeom prst="rect">
            <a:avLst/>
          </a:prstGeom>
          <a:noFill/>
          <a:ln/>
        </p:spPr>
        <p:txBody>
          <a:bodyPr wrap="square" lIns="0" tIns="0" rIns="0" bIns="0" rtlCol="0" anchor="t">
            <a:normAutofit/>
          </a:bodyPr>
          <a:lstStyle/>
          <a:p>
            <a:pPr marL="0" indent="0" algn="ctr">
              <a:buNone/>
            </a:pPr>
            <a:r>
              <a:rPr lang="en-US" sz="1300" b="1" dirty="0">
                <a:solidFill>
                  <a:srgbClr val="102A43"/>
                </a:solidFill>
                <a:latin typeface="Aptos" pitchFamily="34" charset="0"/>
                <a:ea typeface="Aptos" pitchFamily="34" charset="-122"/>
                <a:cs typeface="Aptos" pitchFamily="34" charset="-120"/>
              </a:rPr>
              <a:t>XIN CHÂN THÀNH CẢM ƠN THẦY CÔ VÀ CÁC BẠN  •  Q &amp; A</a:t>
            </a:r>
            <a:endParaRPr lang="en-US" sz="1300" dirty="0"/>
          </a:p>
        </p:txBody>
      </p:sp>
      <p:sp>
        <p:nvSpPr>
          <p:cNvPr id="25" name="Slide Number Placeholder 0"/>
          <p:cNvSpPr>
            <a:spLocks noGrp="1"/>
          </p:cNvSpPr>
          <p:nvPr>
            <p:ph type="sldNum" sz="quarter" idx="4294967295"/>
          </p:nvPr>
        </p:nvSpPr>
        <p:spPr>
          <a:xfrm>
            <a:off x="11448288" y="6556248"/>
            <a:ext cx="164592" cy="137160"/>
          </a:xfrm>
          <a:prstGeom prst="rect">
            <a:avLst/>
          </a:prstGeom>
          <a:extLst>
            <a:ext uri="{C572A759-6A51-4108-AA02-DFA0A04FC94B}">
              <ma14:wrappingTextBoxFlag xmlns="" xmlns:ma14="http://schemas.microsoft.com/office/mac/drawingml/2011/main" val="0"/>
            </a:ext>
          </a:extLst>
        </p:spPr>
        <p:txBody>
          <a:bodyPr/>
          <a:lstStyle>
            <a:lvl1pPr>
              <a:defRPr sz="800">
                <a:solidFill>
                  <a:srgbClr val="7C8DA6"/>
                </a:solidFill>
                <a:latin typeface="Aptos"/>
                <a:ea typeface="Aptos"/>
                <a:cs typeface="Aptos"/>
              </a:defRPr>
            </a:lvl1pPr>
          </a:lstStyle>
          <a:p>
            <a:pPr algn="r"/>
            <a:fld id="{F7021451-1387-4CA6-816F-3879F97B5CBC}" type="slidenum">
              <a:rPr lang="en-US" b="0"/>
              <a:t>19</a:t>
            </a:fld>
            <a:endParaRPr lang="en-US"/>
          </a:p>
        </p:txBody>
      </p:sp>
      <p:sp>
        <p:nvSpPr>
          <p:cNvPr id="23" name="Shape 4"/>
          <p:cNvSpPr/>
          <p:nvPr/>
        </p:nvSpPr>
        <p:spPr>
          <a:xfrm>
            <a:off x="0" y="180340"/>
            <a:ext cx="12192000" cy="310896"/>
          </a:xfrm>
          <a:prstGeom prst="roundRect">
            <a:avLst/>
          </a:prstGeom>
          <a:solidFill>
            <a:srgbClr val="EDF4FF"/>
          </a:solidFill>
          <a:ln w="12700">
            <a:solidFill>
              <a:srgbClr val="EDF4FF"/>
            </a:solidFill>
            <a:prstDash val="solid"/>
          </a:ln>
        </p:spPr>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509818" y="2717337"/>
            <a:ext cx="5024583" cy="853440"/>
          </a:xfrm>
          <a:prstGeom prst="rect">
            <a:avLst/>
          </a:prstGeom>
          <a:noFill/>
          <a:ln/>
        </p:spPr>
        <p:txBody>
          <a:bodyPr wrap="square" lIns="0" tIns="0" rIns="0" bIns="0" rtlCol="0" anchor="ctr"/>
          <a:lstStyle/>
          <a:p>
            <a:r>
              <a:rPr lang="en-US" sz="4000" b="1" dirty="0">
                <a:latin typeface="Cambria" pitchFamily="34" charset="0"/>
                <a:ea typeface="Cambria" pitchFamily="34" charset="-122"/>
              </a:rPr>
              <a:t>Thanks for listening!</a:t>
            </a:r>
            <a:endParaRPr lang="en-US" sz="4000" dirty="0"/>
          </a:p>
        </p:txBody>
      </p:sp>
    </p:spTree>
    <p:extLst>
      <p:ext uri="{BB962C8B-B14F-4D97-AF65-F5344CB8AC3E}">
        <p14:creationId xmlns:p14="http://schemas.microsoft.com/office/powerpoint/2010/main" val="8407323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2532</Words>
  <Application>Microsoft Office PowerPoint</Application>
  <PresentationFormat>Widescreen</PresentationFormat>
  <Paragraphs>546</Paragraphs>
  <Slides>20</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Display</vt:lpstr>
      <vt:lpstr>Aptos Mono</vt: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Trường Đại học Công nghệ Kỹ thuật Hưng Yên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Dự đoán bệnh thận mạn tính (CKD)</dc:title>
  <dc:subject>Bài tập lớn Học máy cơ bản - Dự đoán bệnh thận mạn tính</dc:subject>
  <dc:creator>OpenAI</dc:creator>
  <cp:lastModifiedBy>Administrator</cp:lastModifiedBy>
  <cp:revision>21</cp:revision>
  <dcterms:created xsi:type="dcterms:W3CDTF">2026-09-27T15:32:51Z</dcterms:created>
  <dcterms:modified xsi:type="dcterms:W3CDTF">2026-10-01T14:55:18Z</dcterms:modified>
</cp:coreProperties>
</file>